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この資料では、電話でアポイントを取るAIが「何をしているのか」「ボタンを押すと何が起こるのか」を、図を中心にご説明します。専門用語はできるだけ使いません。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一番大事なポイントです。AIは「最初の電話」を担当します。受付の方に取り次いでもらい、代表者の方にご案内し、商談の日時を決めるところまでです。商談そのものは、これまでどおり人が行います。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実際の通話記録を分析すると、担当者や日によって品質にばらつきがありました。断り文句で会話が終わってしまう、聞くべき項目が抜ける、言い切ってはいけない表現が混ざる、の3つです。AIはここを「毎回同じ品質」で埋めることを狙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使い方は2種類あります。タイプAは、AIが予約と聞き取りまで全部行い、人は商談本番だけを担当します。タイプBは、AIが受付の突破だけを行い、担当者につながったらすぐ人に代わります。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AIの中でやっていることは、人間と同じ4つです。聞く、考える、話す、記録する。相手が一言話すたびに、この4つを1回ずつ繰り返しています。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考える」の部分をもう少し詳しく説明します。相手の言葉の中から「バタバタ」のような手がかりを見つけて、忙しいサインだと判断します。そして、そのとき用に用意しておいた返事を選んで話します。AIがその場で勝手に文章を作ることはあ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タイプAの電話1本の流れです。受付に取り次いでもらったら、保留の間は黙って待ち、担当者が出たら改めて名乗ってから用件を伝えます。そのあと人数や決算月などを聞きながら商談の日時を決め、最後にカレンダーへの登録をお願いして終わります。途中で断られたときの動きは次のページ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よくある断り文句ごとに、AIの返し方を決めてあります。特に「退職金制度はない」は、断りではなく、むしろ一番見込みがあるサインとして扱います。一方で、はっきり断られた場合はしつこくせず、ていねいに電話を終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商談の提案に必要な7つの質問です。人の電話では、特に役員の人数や社会保険の加入人数が抜けがちでした。AIは、7つが全部そろうまで電話の締めに進めない仕組みになっているので、聞き漏れが起きません。右のグラフのAIの数字は、デモで最後まで通したときの結果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法律や提携の条件で「言ってはいけない表現」があります。AIは話す前に必ずチェックを通し、問題があれば安全な言い方に直してから話します。そのため、禁止表現が相手に届くことはありません。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タイプBでは、AIは受付の突破だけを担当します。「少々お待ちください」や「私です」のように担当者につながった合図を聞き取ったら、AIはすぐに黙り、画面に大きく合図を出します。そこからは人が話します。不在や営業お断りの場合は、しつこくせずに電話を終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実際のデモ画面です。左側に会話がそのまま記録され、AIの発言の下には、なぜそう返したかという判断の理由が出ます。右側では、いま電話のどの段階にいるか、7つの質問のどれが聞けたかがリアルタイムで埋まっていきます。右上のタブで、終わった通話の一覧（架電履歴）に切り替えら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操作はボタン3つだけです。タイプを選び、「通話開始」を押すとAIが話し始めます。そのあとは「話す」を押して、受付の方や代表者の役になって話しかけてください。AIが聞き取って返事をします。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電話が終わると、左のチェックがすべて○になった状態で「アポ成立」と判定されます。右は聞き取った内容のメモの例です。この内容は次のページの「架電履歴」に自動で保存され、商談を担当する方はそれを見てから商談に入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終わった通話は、画面右上の「架電履歴」タブで一覧できます。行を押すと、アポ成立チェックの結果、聞き取った内容、時刻付きの会話の全文が見られます。記録はこのパソコンのブラウザの中に保存され、外部のサーバーには送ってい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現在はパソコンの画面上で動くデモの段階です。マイクに話しかけて、AIとの会話を体験できます。次の段階では実際の電話回線とつなぎ、本物の電話で試していきます。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まとめです。AIが最初の電話から予約までを担当し、断られても切り返し、聞くべきことを必ず聞き、言ってはいけない表現は止めます。その分、人は商談という一番大切な場面に集中できます。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slideLayout" Target="../slideLayouts/slideLayout1.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F36"/>
        </a:solidFill>
      </p:bgPr>
    </p:bg>
    <p:spTree>
      <p:nvGrpSpPr>
        <p:cNvPr id="1" name=""/>
        <p:cNvGrpSpPr/>
        <p:nvPr/>
      </p:nvGrpSpPr>
      <p:grpSpPr>
        <a:xfrm>
          <a:off x="0" y="0"/>
          <a:ext cx="0" cy="0"/>
          <a:chOff x="0" y="0"/>
          <a:chExt cx="0" cy="0"/>
        </a:xfrm>
      </p:grpSpPr>
      <p:sp>
        <p:nvSpPr>
          <p:cNvPr id="2" name="Shape 0"/>
          <p:cNvSpPr/>
          <p:nvPr/>
        </p:nvSpPr>
        <p:spPr>
          <a:xfrm>
            <a:off x="548640" y="868680"/>
            <a:ext cx="1234440" cy="292608"/>
          </a:xfrm>
          <a:prstGeom prst="roundRect">
            <a:avLst>
              <a:gd name="adj" fmla="val 50000"/>
            </a:avLst>
          </a:prstGeom>
          <a:solidFill>
            <a:srgbClr val="0B6E6E"/>
          </a:solidFill>
          <a:ln w="9525">
            <a:solidFill>
              <a:srgbClr val="0B6E6E"/>
            </a:solidFill>
            <a:prstDash val="solid"/>
          </a:ln>
        </p:spPr>
      </p:sp>
      <p:sp>
        <p:nvSpPr>
          <p:cNvPr id="3" name="Text 1"/>
          <p:cNvSpPr txBox="1"/>
          <p:nvPr/>
        </p:nvSpPr>
        <p:spPr>
          <a:xfrm>
            <a:off x="548640" y="868680"/>
            <a:ext cx="12344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ご説明資料</a:t>
            </a:r>
            <a:endParaRPr lang="en-US" sz="1100" dirty="0"/>
          </a:p>
        </p:txBody>
      </p:sp>
      <p:sp>
        <p:nvSpPr>
          <p:cNvPr id="4" name="Text 2"/>
          <p:cNvSpPr txBox="1"/>
          <p:nvPr/>
        </p:nvSpPr>
        <p:spPr>
          <a:xfrm>
            <a:off x="548640" y="1325880"/>
            <a:ext cx="4754880" cy="1325880"/>
          </a:xfrm>
          <a:prstGeom prst="rect">
            <a:avLst/>
          </a:prstGeom>
          <a:noFill/>
          <a:ln/>
        </p:spPr>
        <p:txBody>
          <a:bodyPr wrap="square" lIns="0" tIns="0" rIns="0" bIns="0" rtlCol="0" anchor="t"/>
          <a:lstStyle/>
          <a:p>
            <a:pPr indent="0" marL="0">
              <a:lnSpc>
                <a:spcPct val="110000"/>
              </a:lnSpc>
              <a:buNone/>
            </a:pPr>
            <a:r>
              <a:rPr lang="en-US" sz="3200" b="1" dirty="0">
                <a:solidFill>
                  <a:srgbClr val="FFFFFF"/>
                </a:solidFill>
                <a:latin typeface="Meiryo" pitchFamily="34" charset="0"/>
                <a:ea typeface="Meiryo" pitchFamily="34" charset="-122"/>
                <a:cs typeface="Meiryo" pitchFamily="34" charset="-120"/>
              </a:rPr>
              <a:t>電話でアポを取る</a:t>
            </a:r>
            <a:endParaRPr lang="en-US" sz="3200" dirty="0"/>
          </a:p>
          <a:p>
            <a:pPr indent="0" marL="0">
              <a:lnSpc>
                <a:spcPct val="110000"/>
              </a:lnSpc>
              <a:buNone/>
            </a:pPr>
            <a:r>
              <a:rPr lang="en-US" sz="3200" b="1" dirty="0">
                <a:solidFill>
                  <a:srgbClr val="FFFFFF"/>
                </a:solidFill>
                <a:latin typeface="Meiryo" pitchFamily="34" charset="0"/>
                <a:ea typeface="Meiryo" pitchFamily="34" charset="-122"/>
                <a:cs typeface="Meiryo" pitchFamily="34" charset="-120"/>
              </a:rPr>
              <a:t>AI のしくみ</a:t>
            </a:r>
            <a:endParaRPr lang="en-US" sz="3200" dirty="0"/>
          </a:p>
        </p:txBody>
      </p:sp>
      <p:sp>
        <p:nvSpPr>
          <p:cNvPr id="5" name="Text 3"/>
          <p:cNvSpPr txBox="1"/>
          <p:nvPr/>
        </p:nvSpPr>
        <p:spPr>
          <a:xfrm>
            <a:off x="548640" y="2788920"/>
            <a:ext cx="4754880" cy="320040"/>
          </a:xfrm>
          <a:prstGeom prst="rect">
            <a:avLst/>
          </a:prstGeom>
          <a:noFill/>
          <a:ln/>
        </p:spPr>
        <p:txBody>
          <a:bodyPr wrap="square" lIns="0" tIns="0" rIns="0" bIns="0" rtlCol="0" anchor="t"/>
          <a:lstStyle/>
          <a:p>
            <a:pPr indent="0" marL="0">
              <a:buNone/>
            </a:pPr>
            <a:r>
              <a:rPr lang="en-US" sz="1300" dirty="0">
                <a:solidFill>
                  <a:srgbClr val="8CC9C4"/>
                </a:solidFill>
                <a:latin typeface="Meiryo" pitchFamily="34" charset="0"/>
                <a:ea typeface="Meiryo" pitchFamily="34" charset="-122"/>
                <a:cs typeface="Meiryo" pitchFamily="34" charset="-120"/>
              </a:rPr>
              <a:t>BPSR 企業型DC アポイント獲得 AI架電エージェント</a:t>
            </a:r>
            <a:endParaRPr lang="en-US" sz="1300" dirty="0"/>
          </a:p>
        </p:txBody>
      </p:sp>
      <p:sp>
        <p:nvSpPr>
          <p:cNvPr id="6" name="Text 4"/>
          <p:cNvSpPr txBox="1"/>
          <p:nvPr/>
        </p:nvSpPr>
        <p:spPr>
          <a:xfrm>
            <a:off x="548640" y="3154680"/>
            <a:ext cx="4754880" cy="320040"/>
          </a:xfrm>
          <a:prstGeom prst="rect">
            <a:avLst/>
          </a:prstGeom>
          <a:noFill/>
          <a:ln/>
        </p:spPr>
        <p:txBody>
          <a:bodyPr wrap="square" lIns="0" tIns="0" rIns="0" bIns="0" rtlCol="0" anchor="t"/>
          <a:lstStyle/>
          <a:p>
            <a:pPr indent="0" marL="0">
              <a:buNone/>
            </a:pPr>
            <a:r>
              <a:rPr lang="en-US" sz="1100" dirty="0">
                <a:solidFill>
                  <a:srgbClr val="B8C7CB"/>
                </a:solidFill>
                <a:latin typeface="Meiryo" pitchFamily="34" charset="0"/>
                <a:ea typeface="Meiryo" pitchFamily="34" charset="-122"/>
                <a:cs typeface="Meiryo" pitchFamily="34" charset="-120"/>
              </a:rPr>
              <a:t>開発やAIの知識がなくても分かるように、図を中心にご説明します</a:t>
            </a:r>
            <a:endParaRPr lang="en-US" sz="1100" dirty="0"/>
          </a:p>
        </p:txBody>
      </p:sp>
      <p:sp>
        <p:nvSpPr>
          <p:cNvPr id="7" name="Text 5"/>
          <p:cNvSpPr txBox="1"/>
          <p:nvPr/>
        </p:nvSpPr>
        <p:spPr>
          <a:xfrm>
            <a:off x="548640" y="4434840"/>
            <a:ext cx="1828800" cy="274320"/>
          </a:xfrm>
          <a:prstGeom prst="rect">
            <a:avLst/>
          </a:prstGeom>
          <a:noFill/>
          <a:ln/>
        </p:spPr>
        <p:txBody>
          <a:bodyPr wrap="square" lIns="0" tIns="0" rIns="0" bIns="0" rtlCol="0" anchor="t"/>
          <a:lstStyle/>
          <a:p>
            <a:pPr indent="0" marL="0">
              <a:buNone/>
            </a:pPr>
            <a:r>
              <a:rPr lang="en-US" sz="1100" dirty="0">
                <a:solidFill>
                  <a:srgbClr val="B8C7CB"/>
                </a:solidFill>
                <a:latin typeface="Meiryo" pitchFamily="34" charset="0"/>
                <a:ea typeface="Meiryo" pitchFamily="34" charset="-122"/>
                <a:cs typeface="Meiryo" pitchFamily="34" charset="-120"/>
              </a:rPr>
              <a:t>2026年9月</a:t>
            </a:r>
            <a:endParaRPr lang="en-US" sz="1100" dirty="0"/>
          </a:p>
        </p:txBody>
      </p:sp>
      <p:sp>
        <p:nvSpPr>
          <p:cNvPr id="8" name="Shape 6"/>
          <p:cNvSpPr/>
          <p:nvPr/>
        </p:nvSpPr>
        <p:spPr>
          <a:xfrm>
            <a:off x="6263640" y="2788920"/>
            <a:ext cx="1371600" cy="0"/>
          </a:xfrm>
          <a:prstGeom prst="line">
            <a:avLst/>
          </a:prstGeom>
          <a:noFill/>
          <a:ln w="25400">
            <a:solidFill>
              <a:srgbClr val="8CC9C4"/>
            </a:solidFill>
            <a:prstDash val="dash"/>
          </a:ln>
        </p:spPr>
      </p:sp>
      <p:sp>
        <p:nvSpPr>
          <p:cNvPr id="9" name="Shape 7"/>
          <p:cNvSpPr/>
          <p:nvPr/>
        </p:nvSpPr>
        <p:spPr>
          <a:xfrm>
            <a:off x="5372100" y="2263140"/>
            <a:ext cx="1051560" cy="1051560"/>
          </a:xfrm>
          <a:prstGeom prst="ellipse">
            <a:avLst/>
          </a:prstGeom>
          <a:solidFill>
            <a:srgbClr val="0B6E6E"/>
          </a:solidFill>
          <a:ln w="9525">
            <a:solidFill>
              <a:srgbClr val="0B6E6E"/>
            </a:solidFill>
            <a:prstDash val="solid"/>
          </a:ln>
        </p:spPr>
      </p:sp>
      <p:pic>
        <p:nvPicPr>
          <p:cNvPr id="10" name="Image 0" descr="preencoded.png">    </p:cNvPr>
          <p:cNvPicPr>
            <a:picLocks noChangeAspect="1"/>
          </p:cNvPicPr>
          <p:nvPr/>
        </p:nvPicPr>
        <p:blipFill>
          <a:blip r:embed="rId1"/>
          <a:stretch>
            <a:fillRect/>
          </a:stretch>
        </p:blipFill>
        <p:spPr>
          <a:xfrm>
            <a:off x="5634990" y="2526030"/>
            <a:ext cx="525780" cy="525780"/>
          </a:xfrm>
          <a:prstGeom prst="rect">
            <a:avLst/>
          </a:prstGeom>
        </p:spPr>
      </p:pic>
      <p:sp>
        <p:nvSpPr>
          <p:cNvPr id="11" name="Shape 8"/>
          <p:cNvSpPr/>
          <p:nvPr/>
        </p:nvSpPr>
        <p:spPr>
          <a:xfrm>
            <a:off x="7475220" y="2263140"/>
            <a:ext cx="1051560" cy="1051560"/>
          </a:xfrm>
          <a:prstGeom prst="ellipse">
            <a:avLst/>
          </a:prstGeom>
          <a:solidFill>
            <a:srgbClr val="D98A1E"/>
          </a:solidFill>
          <a:ln w="9525">
            <a:solidFill>
              <a:srgbClr val="D98A1E"/>
            </a:solidFill>
            <a:prstDash val="solid"/>
          </a:ln>
        </p:spPr>
      </p:sp>
      <p:pic>
        <p:nvPicPr>
          <p:cNvPr id="12" name="Image 1" descr="preencoded.png">    </p:cNvPr>
          <p:cNvPicPr>
            <a:picLocks noChangeAspect="1"/>
          </p:cNvPicPr>
          <p:nvPr/>
        </p:nvPicPr>
        <p:blipFill>
          <a:blip r:embed="rId2"/>
          <a:stretch>
            <a:fillRect/>
          </a:stretch>
        </p:blipFill>
        <p:spPr>
          <a:xfrm>
            <a:off x="7738110" y="2526030"/>
            <a:ext cx="525780" cy="525780"/>
          </a:xfrm>
          <a:prstGeom prst="rect">
            <a:avLst/>
          </a:prstGeom>
        </p:spPr>
      </p:pic>
      <p:sp>
        <p:nvSpPr>
          <p:cNvPr id="13" name="Shape 9"/>
          <p:cNvSpPr/>
          <p:nvPr/>
        </p:nvSpPr>
        <p:spPr>
          <a:xfrm>
            <a:off x="6697980" y="2537460"/>
            <a:ext cx="502920" cy="502920"/>
          </a:xfrm>
          <a:prstGeom prst="ellipse">
            <a:avLst/>
          </a:prstGeom>
          <a:solidFill>
            <a:srgbClr val="FFFFFF"/>
          </a:solidFill>
          <a:ln w="9525">
            <a:solidFill>
              <a:srgbClr val="FFFFFF"/>
            </a:solidFill>
            <a:prstDash val="solid"/>
          </a:ln>
        </p:spPr>
      </p:sp>
      <p:pic>
        <p:nvPicPr>
          <p:cNvPr id="14" name="Image 2" descr="preencoded.png">    </p:cNvPr>
          <p:cNvPicPr>
            <a:picLocks noChangeAspect="1"/>
          </p:cNvPicPr>
          <p:nvPr/>
        </p:nvPicPr>
        <p:blipFill>
          <a:blip r:embed="rId3"/>
          <a:stretch>
            <a:fillRect/>
          </a:stretch>
        </p:blipFill>
        <p:spPr>
          <a:xfrm>
            <a:off x="6823710" y="2663190"/>
            <a:ext cx="251460" cy="251460"/>
          </a:xfrm>
          <a:prstGeom prst="rect">
            <a:avLst/>
          </a:prstGeom>
        </p:spPr>
      </p:pic>
      <p:sp>
        <p:nvSpPr>
          <p:cNvPr id="15" name="Text 10"/>
          <p:cNvSpPr txBox="1"/>
          <p:nvPr/>
        </p:nvSpPr>
        <p:spPr>
          <a:xfrm>
            <a:off x="5440680" y="3383280"/>
            <a:ext cx="914400" cy="274320"/>
          </a:xfrm>
          <a:prstGeom prst="rect">
            <a:avLst/>
          </a:prstGeom>
          <a:noFill/>
          <a:ln/>
        </p:spPr>
        <p:txBody>
          <a:bodyPr wrap="square" lIns="0" tIns="0" rIns="0" bIns="0" rtlCol="0" anchor="t"/>
          <a:lstStyle/>
          <a:p>
            <a:pPr algn="ctr" indent="0" marL="0">
              <a:buNone/>
            </a:pPr>
            <a:r>
              <a:rPr lang="en-US" sz="1200" b="1" dirty="0">
                <a:solidFill>
                  <a:srgbClr val="8CC9C4"/>
                </a:solidFill>
                <a:latin typeface="Meiryo" pitchFamily="34" charset="0"/>
                <a:ea typeface="Meiryo" pitchFamily="34" charset="-122"/>
                <a:cs typeface="Meiryo" pitchFamily="34" charset="-120"/>
              </a:rPr>
              <a:t>AI</a:t>
            </a:r>
            <a:endParaRPr lang="en-US" sz="1200" dirty="0"/>
          </a:p>
        </p:txBody>
      </p:sp>
      <p:sp>
        <p:nvSpPr>
          <p:cNvPr id="16" name="Text 11"/>
          <p:cNvSpPr txBox="1"/>
          <p:nvPr/>
        </p:nvSpPr>
        <p:spPr>
          <a:xfrm>
            <a:off x="7452360" y="3383280"/>
            <a:ext cx="1097280" cy="274320"/>
          </a:xfrm>
          <a:prstGeom prst="rect">
            <a:avLst/>
          </a:prstGeom>
          <a:noFill/>
          <a:ln/>
        </p:spPr>
        <p:txBody>
          <a:bodyPr wrap="square" lIns="0" tIns="0" rIns="0" bIns="0" rtlCol="0" anchor="t"/>
          <a:lstStyle/>
          <a:p>
            <a:pPr algn="ctr" indent="0" marL="0">
              <a:buNone/>
            </a:pPr>
            <a:r>
              <a:rPr lang="en-US" sz="1200" b="1" dirty="0">
                <a:solidFill>
                  <a:srgbClr val="F2C27B"/>
                </a:solidFill>
                <a:latin typeface="Meiryo" pitchFamily="34" charset="0"/>
                <a:ea typeface="Meiryo" pitchFamily="34" charset="-122"/>
                <a:cs typeface="Meiryo" pitchFamily="34" charset="-120"/>
              </a:rPr>
              <a:t>お電話先</a:t>
            </a:r>
            <a:endParaRPr lang="en-US" sz="1200" dirty="0"/>
          </a:p>
        </p:txBody>
      </p:sp>
      <p:sp>
        <p:nvSpPr>
          <p:cNvPr id="17" name="Shape 12"/>
          <p:cNvSpPr/>
          <p:nvPr/>
        </p:nvSpPr>
        <p:spPr>
          <a:xfrm>
            <a:off x="5120640" y="1188720"/>
            <a:ext cx="2514600" cy="731520"/>
          </a:xfrm>
          <a:prstGeom prst="roundRect">
            <a:avLst>
              <a:gd name="adj" fmla="val 15000"/>
            </a:avLst>
          </a:prstGeom>
          <a:solidFill>
            <a:srgbClr val="E3F3F2"/>
          </a:solidFill>
          <a:ln w="9525">
            <a:solidFill>
              <a:srgbClr val="E3F3F2"/>
            </a:solidFill>
            <a:prstDash val="solid"/>
          </a:ln>
        </p:spPr>
      </p:sp>
      <p:sp>
        <p:nvSpPr>
          <p:cNvPr id="18" name="Text 13"/>
          <p:cNvSpPr txBox="1"/>
          <p:nvPr/>
        </p:nvSpPr>
        <p:spPr>
          <a:xfrm>
            <a:off x="5257800" y="1188720"/>
            <a:ext cx="2286000" cy="731520"/>
          </a:xfrm>
          <a:prstGeom prst="rect">
            <a:avLst/>
          </a:prstGeom>
          <a:noFill/>
          <a:ln/>
        </p:spPr>
        <p:txBody>
          <a:bodyPr wrap="square" lIns="0" tIns="0" rIns="0" bIns="0" rtlCol="0" anchor="ctr"/>
          <a:lstStyle/>
          <a:p>
            <a:pPr indent="0" marL="0">
              <a:buNone/>
            </a:pPr>
            <a:r>
              <a:rPr lang="en-US" sz="1100" b="1" dirty="0">
                <a:solidFill>
                  <a:srgbClr val="0B5563"/>
                </a:solidFill>
                <a:latin typeface="Meiryo" pitchFamily="34" charset="0"/>
                <a:ea typeface="Meiryo" pitchFamily="34" charset="-122"/>
                <a:cs typeface="Meiryo" pitchFamily="34" charset="-120"/>
              </a:rPr>
              <a:t>ご担当者様に</a:t>
            </a:r>
            <a:endParaRPr lang="en-US" sz="1100" dirty="0"/>
          </a:p>
          <a:p>
            <a:pPr indent="0" marL="0">
              <a:buNone/>
            </a:pPr>
            <a:r>
              <a:rPr lang="en-US" sz="1100" b="1" dirty="0">
                <a:solidFill>
                  <a:srgbClr val="0B5563"/>
                </a:solidFill>
                <a:latin typeface="Meiryo" pitchFamily="34" charset="0"/>
                <a:ea typeface="Meiryo" pitchFamily="34" charset="-122"/>
                <a:cs typeface="Meiryo" pitchFamily="34" charset="-120"/>
              </a:rPr>
              <a:t>お繋ぎいただけますか？</a:t>
            </a:r>
            <a:endParaRPr lang="en-US" sz="1100" dirty="0"/>
          </a:p>
        </p:txBody>
      </p:sp>
      <p:sp>
        <p:nvSpPr>
          <p:cNvPr id="19" name="Shape 14"/>
          <p:cNvSpPr/>
          <p:nvPr/>
        </p:nvSpPr>
        <p:spPr>
          <a:xfrm>
            <a:off x="6446520" y="3840480"/>
            <a:ext cx="2194560" cy="502920"/>
          </a:xfrm>
          <a:prstGeom prst="roundRect">
            <a:avLst>
              <a:gd name="adj" fmla="val 21818"/>
            </a:avLst>
          </a:prstGeom>
          <a:solidFill>
            <a:srgbClr val="FDF1DC"/>
          </a:solidFill>
          <a:ln w="9525">
            <a:solidFill>
              <a:srgbClr val="FDF1DC"/>
            </a:solidFill>
            <a:prstDash val="solid"/>
          </a:ln>
        </p:spPr>
      </p:sp>
      <p:sp>
        <p:nvSpPr>
          <p:cNvPr id="20" name="Text 15"/>
          <p:cNvSpPr txBox="1"/>
          <p:nvPr/>
        </p:nvSpPr>
        <p:spPr>
          <a:xfrm>
            <a:off x="6537960" y="3840480"/>
            <a:ext cx="2011680" cy="502920"/>
          </a:xfrm>
          <a:prstGeom prst="rect">
            <a:avLst/>
          </a:prstGeom>
          <a:noFill/>
          <a:ln/>
        </p:spPr>
        <p:txBody>
          <a:bodyPr wrap="square" lIns="0" tIns="0" rIns="0" bIns="0" rtlCol="0" anchor="ctr"/>
          <a:lstStyle/>
          <a:p>
            <a:pPr algn="ctr" indent="0" marL="0">
              <a:buNone/>
            </a:pPr>
            <a:r>
              <a:rPr lang="en-US" sz="1100" b="1" dirty="0">
                <a:solidFill>
                  <a:srgbClr val="8A5A00"/>
                </a:solidFill>
                <a:latin typeface="Meiryo" pitchFamily="34" charset="0"/>
                <a:ea typeface="Meiryo" pitchFamily="34" charset="-122"/>
                <a:cs typeface="Meiryo" pitchFamily="34" charset="-120"/>
              </a:rPr>
              <a:t>少々お待ちください</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822960" cy="256032"/>
          </a:xfrm>
          <a:prstGeom prst="roundRect">
            <a:avLst>
              <a:gd name="adj" fmla="val 50000"/>
            </a:avLst>
          </a:prstGeom>
          <a:solidFill>
            <a:srgbClr val="E3F3F2"/>
          </a:solidFill>
          <a:ln w="9525">
            <a:solidFill>
              <a:srgbClr val="E3F3F2"/>
            </a:solidFill>
            <a:prstDash val="solid"/>
          </a:ln>
        </p:spPr>
      </p:sp>
      <p:sp>
        <p:nvSpPr>
          <p:cNvPr id="3" name="Text 1"/>
          <p:cNvSpPr txBox="1"/>
          <p:nvPr/>
        </p:nvSpPr>
        <p:spPr>
          <a:xfrm>
            <a:off x="457200" y="310896"/>
            <a:ext cx="822960" cy="256032"/>
          </a:xfrm>
          <a:prstGeom prst="rect">
            <a:avLst/>
          </a:prstGeom>
          <a:noFill/>
          <a:ln/>
        </p:spPr>
        <p:txBody>
          <a:bodyPr wrap="square" lIns="0" tIns="0" rIns="0" bIns="0" rtlCol="0" anchor="ctr"/>
          <a:lstStyle/>
          <a:p>
            <a:pPr algn="ctr" indent="0" marL="0">
              <a:buNone/>
            </a:pPr>
            <a:r>
              <a:rPr lang="en-US" sz="1000" b="1" dirty="0">
                <a:solidFill>
                  <a:srgbClr val="0B6E6E"/>
                </a:solidFill>
                <a:latin typeface="Meiryo" pitchFamily="34" charset="0"/>
                <a:ea typeface="Meiryo" pitchFamily="34" charset="-122"/>
                <a:cs typeface="Meiryo" pitchFamily="34" charset="-120"/>
              </a:rPr>
              <a:t>はじめに</a:t>
            </a:r>
            <a:endParaRPr lang="en-US" sz="1000" dirty="0"/>
          </a:p>
        </p:txBody>
      </p:sp>
      <p:sp>
        <p:nvSpPr>
          <p:cNvPr id="4" name="Text 2"/>
          <p:cNvSpPr txBox="1"/>
          <p:nvPr/>
        </p:nvSpPr>
        <p:spPr>
          <a:xfrm>
            <a:off x="457200" y="603504"/>
            <a:ext cx="8229600" cy="502920"/>
          </a:xfrm>
          <a:prstGeom prst="rect">
            <a:avLst/>
          </a:prstGeom>
          <a:noFill/>
          <a:ln/>
        </p:spPr>
        <p:txBody>
          <a:bodyPr wrap="square" lIns="0" tIns="0" rIns="0" bIns="0" rtlCol="0" anchor="ctr"/>
          <a:lstStyle/>
          <a:p>
            <a:pPr indent="0" marL="0">
              <a:buNone/>
            </a:pPr>
            <a:r>
              <a:rPr lang="en-US" sz="2400" b="1" dirty="0">
                <a:solidFill>
                  <a:srgbClr val="1E2A30"/>
                </a:solidFill>
                <a:latin typeface="Meiryo" pitchFamily="34" charset="0"/>
                <a:ea typeface="Meiryo" pitchFamily="34" charset="-122"/>
                <a:cs typeface="Meiryo" pitchFamily="34" charset="-120"/>
              </a:rPr>
              <a:t>ひとことで言うと</a:t>
            </a:r>
            <a:endParaRPr lang="en-US" sz="2400" dirty="0"/>
          </a:p>
        </p:txBody>
      </p:sp>
      <p:sp>
        <p:nvSpPr>
          <p:cNvPr id="5" name="Text 3"/>
          <p:cNvSpPr txBox="1"/>
          <p:nvPr/>
        </p:nvSpPr>
        <p:spPr>
          <a:xfrm>
            <a:off x="7955280" y="4773168"/>
            <a:ext cx="731520" cy="228600"/>
          </a:xfrm>
          <a:prstGeom prst="rect">
            <a:avLst/>
          </a:prstGeom>
          <a:noFill/>
          <a:ln/>
        </p:spPr>
        <p:txBody>
          <a:bodyPr wrap="square" lIns="0" tIns="0" rIns="0" bIns="0" rtlCol="0" anchor="t"/>
          <a:lstStyle/>
          <a:p>
            <a:pPr algn="r" indent="0" marL="0">
              <a:buNone/>
            </a:pPr>
            <a:r>
              <a:rPr lang="en-US" sz="900" dirty="0">
                <a:solidFill>
                  <a:srgbClr val="5B6870"/>
                </a:solidFill>
                <a:latin typeface="Meiryo" pitchFamily="34" charset="0"/>
                <a:ea typeface="Meiryo" pitchFamily="34" charset="-122"/>
                <a:cs typeface="Meiryo" pitchFamily="34" charset="-120"/>
              </a:rPr>
              <a:t>2 / 17</a:t>
            </a:r>
            <a:endParaRPr lang="en-US" sz="900" dirty="0"/>
          </a:p>
        </p:txBody>
      </p:sp>
      <p:sp>
        <p:nvSpPr>
          <p:cNvPr id="6" name="Shape 4"/>
          <p:cNvSpPr/>
          <p:nvPr/>
        </p:nvSpPr>
        <p:spPr>
          <a:xfrm>
            <a:off x="457200" y="1234440"/>
            <a:ext cx="8229600" cy="685800"/>
          </a:xfrm>
          <a:prstGeom prst="roundRect">
            <a:avLst>
              <a:gd name="adj" fmla="val 10667"/>
            </a:avLst>
          </a:prstGeom>
          <a:solidFill>
            <a:srgbClr val="E3F3F2"/>
          </a:solidFill>
          <a:ln w="9525">
            <a:solidFill>
              <a:srgbClr val="E3F3F2"/>
            </a:solidFill>
            <a:prstDash val="solid"/>
          </a:ln>
        </p:spPr>
      </p:sp>
      <p:sp>
        <p:nvSpPr>
          <p:cNvPr id="7" name="Text 5"/>
          <p:cNvSpPr txBox="1"/>
          <p:nvPr/>
        </p:nvSpPr>
        <p:spPr>
          <a:xfrm>
            <a:off x="640080" y="1234440"/>
            <a:ext cx="7863840" cy="685800"/>
          </a:xfrm>
          <a:prstGeom prst="rect">
            <a:avLst/>
          </a:prstGeom>
          <a:noFill/>
          <a:ln/>
        </p:spPr>
        <p:txBody>
          <a:bodyPr wrap="square" lIns="0" tIns="0" rIns="0" bIns="0" rtlCol="0" anchor="ctr"/>
          <a:lstStyle/>
          <a:p>
            <a:pPr algn="ctr" indent="0" marL="0">
              <a:buNone/>
            </a:pPr>
            <a:r>
              <a:rPr lang="en-US" sz="1600" b="1" dirty="0">
                <a:solidFill>
                  <a:srgbClr val="0B5563"/>
                </a:solidFill>
                <a:latin typeface="Meiryo" pitchFamily="34" charset="0"/>
                <a:ea typeface="Meiryo" pitchFamily="34" charset="-122"/>
                <a:cs typeface="Meiryo" pitchFamily="34" charset="-120"/>
              </a:rPr>
              <a:t>AI が最初の電話をかけ、商談の予約を取るところまでを代わりに行います</a:t>
            </a:r>
            <a:endParaRPr lang="en-US" sz="1600" dirty="0"/>
          </a:p>
        </p:txBody>
      </p:sp>
      <p:sp>
        <p:nvSpPr>
          <p:cNvPr id="8" name="Shape 6"/>
          <p:cNvSpPr/>
          <p:nvPr/>
        </p:nvSpPr>
        <p:spPr>
          <a:xfrm>
            <a:off x="960120" y="2148840"/>
            <a:ext cx="914400" cy="914400"/>
          </a:xfrm>
          <a:prstGeom prst="ellipse">
            <a:avLst/>
          </a:prstGeom>
          <a:solidFill>
            <a:srgbClr val="0B6E6E"/>
          </a:solidFill>
          <a:ln w="9525">
            <a:solidFill>
              <a:srgbClr val="0B6E6E"/>
            </a:solidFill>
            <a:prstDash val="solid"/>
          </a:ln>
        </p:spPr>
      </p:sp>
      <p:pic>
        <p:nvPicPr>
          <p:cNvPr id="9" name="Image 0" descr="preencoded.png">    </p:cNvPr>
          <p:cNvPicPr>
            <a:picLocks noChangeAspect="1"/>
          </p:cNvPicPr>
          <p:nvPr/>
        </p:nvPicPr>
        <p:blipFill>
          <a:blip r:embed="rId1"/>
          <a:stretch>
            <a:fillRect/>
          </a:stretch>
        </p:blipFill>
        <p:spPr>
          <a:xfrm>
            <a:off x="1188720" y="2377440"/>
            <a:ext cx="457200" cy="457200"/>
          </a:xfrm>
          <a:prstGeom prst="rect">
            <a:avLst/>
          </a:prstGeom>
        </p:spPr>
      </p:pic>
      <p:sp>
        <p:nvSpPr>
          <p:cNvPr id="10" name="Text 7"/>
          <p:cNvSpPr txBox="1"/>
          <p:nvPr/>
        </p:nvSpPr>
        <p:spPr>
          <a:xfrm>
            <a:off x="411480" y="3172968"/>
            <a:ext cx="2011680" cy="320040"/>
          </a:xfrm>
          <a:prstGeom prst="rect">
            <a:avLst/>
          </a:prstGeom>
          <a:noFill/>
          <a:ln/>
        </p:spPr>
        <p:txBody>
          <a:bodyPr wrap="square" lIns="0" tIns="0" rIns="0" bIns="0" rtlCol="0" anchor="t"/>
          <a:lstStyle/>
          <a:p>
            <a:pPr algn="ctr" indent="0" marL="0">
              <a:buNone/>
            </a:pPr>
            <a:r>
              <a:rPr lang="en-US" sz="1300" b="1" dirty="0">
                <a:solidFill>
                  <a:srgbClr val="1E2A30"/>
                </a:solidFill>
                <a:latin typeface="Meiryo" pitchFamily="34" charset="0"/>
                <a:ea typeface="Meiryo" pitchFamily="34" charset="-122"/>
                <a:cs typeface="Meiryo" pitchFamily="34" charset="-120"/>
              </a:rPr>
              <a:t>AI が電話をかける</a:t>
            </a:r>
            <a:endParaRPr lang="en-US" sz="1300" dirty="0"/>
          </a:p>
        </p:txBody>
      </p:sp>
      <p:sp>
        <p:nvSpPr>
          <p:cNvPr id="11" name="Text 8"/>
          <p:cNvSpPr txBox="1"/>
          <p:nvPr/>
        </p:nvSpPr>
        <p:spPr>
          <a:xfrm>
            <a:off x="411480" y="3520440"/>
            <a:ext cx="2011680" cy="502920"/>
          </a:xfrm>
          <a:prstGeom prst="rect">
            <a:avLst/>
          </a:prstGeom>
          <a:noFill/>
          <a:ln/>
        </p:spPr>
        <p:txBody>
          <a:bodyPr wrap="square" lIns="0" tIns="0" rIns="0" bIns="0" rtlCol="0" anchor="t"/>
          <a:lstStyle/>
          <a:p>
            <a:pPr algn="ctr" indent="0" marL="0">
              <a:buNone/>
            </a:pPr>
            <a:r>
              <a:rPr lang="en-US" sz="1050" dirty="0">
                <a:solidFill>
                  <a:srgbClr val="5B6870"/>
                </a:solidFill>
                <a:latin typeface="Meiryo" pitchFamily="34" charset="0"/>
                <a:ea typeface="Meiryo" pitchFamily="34" charset="-122"/>
                <a:cs typeface="Meiryo" pitchFamily="34" charset="-120"/>
              </a:rPr>
              <a:t>リストの会社へ</a:t>
            </a:r>
            <a:endParaRPr lang="en-US" sz="1050" dirty="0"/>
          </a:p>
          <a:p>
            <a:pPr algn="ctr" indent="0" marL="0">
              <a:buNone/>
            </a:pPr>
            <a:r>
              <a:rPr lang="en-US" sz="1050" dirty="0">
                <a:solidFill>
                  <a:srgbClr val="5B6870"/>
                </a:solidFill>
                <a:latin typeface="Meiryo" pitchFamily="34" charset="0"/>
                <a:ea typeface="Meiryo" pitchFamily="34" charset="-122"/>
                <a:cs typeface="Meiryo" pitchFamily="34" charset="-120"/>
              </a:rPr>
              <a:t>1社ずつ</a:t>
            </a:r>
            <a:endParaRPr lang="en-US" sz="1050" dirty="0"/>
          </a:p>
        </p:txBody>
      </p:sp>
      <p:sp>
        <p:nvSpPr>
          <p:cNvPr id="12" name="Shape 9"/>
          <p:cNvSpPr/>
          <p:nvPr/>
        </p:nvSpPr>
        <p:spPr>
          <a:xfrm>
            <a:off x="2039112" y="2487168"/>
            <a:ext cx="859536" cy="237744"/>
          </a:xfrm>
          <a:prstGeom prst="rightArrow">
            <a:avLst/>
          </a:prstGeom>
          <a:solidFill>
            <a:srgbClr val="D5DDE0"/>
          </a:solidFill>
          <a:ln w="12700">
            <a:solidFill>
              <a:srgbClr val="D5DDE0"/>
            </a:solidFill>
            <a:prstDash val="solid"/>
          </a:ln>
        </p:spPr>
      </p:sp>
      <p:sp>
        <p:nvSpPr>
          <p:cNvPr id="13" name="Shape 10"/>
          <p:cNvSpPr/>
          <p:nvPr/>
        </p:nvSpPr>
        <p:spPr>
          <a:xfrm>
            <a:off x="3063240" y="2148840"/>
            <a:ext cx="914400" cy="914400"/>
          </a:xfrm>
          <a:prstGeom prst="ellipse">
            <a:avLst/>
          </a:prstGeom>
          <a:solidFill>
            <a:srgbClr val="D98A1E"/>
          </a:solidFill>
          <a:ln w="9525">
            <a:solidFill>
              <a:srgbClr val="D98A1E"/>
            </a:solidFill>
            <a:prstDash val="solid"/>
          </a:ln>
        </p:spPr>
      </p:sp>
      <p:pic>
        <p:nvPicPr>
          <p:cNvPr id="14" name="Image 1" descr="preencoded.png">    </p:cNvPr>
          <p:cNvPicPr>
            <a:picLocks noChangeAspect="1"/>
          </p:cNvPicPr>
          <p:nvPr/>
        </p:nvPicPr>
        <p:blipFill>
          <a:blip r:embed="rId2"/>
          <a:stretch>
            <a:fillRect/>
          </a:stretch>
        </p:blipFill>
        <p:spPr>
          <a:xfrm>
            <a:off x="3291840" y="2377440"/>
            <a:ext cx="457200" cy="457200"/>
          </a:xfrm>
          <a:prstGeom prst="rect">
            <a:avLst/>
          </a:prstGeom>
        </p:spPr>
      </p:pic>
      <p:sp>
        <p:nvSpPr>
          <p:cNvPr id="15" name="Text 11"/>
          <p:cNvSpPr txBox="1"/>
          <p:nvPr/>
        </p:nvSpPr>
        <p:spPr>
          <a:xfrm>
            <a:off x="2514600" y="3172968"/>
            <a:ext cx="2011680" cy="320040"/>
          </a:xfrm>
          <a:prstGeom prst="rect">
            <a:avLst/>
          </a:prstGeom>
          <a:noFill/>
          <a:ln/>
        </p:spPr>
        <p:txBody>
          <a:bodyPr wrap="square" lIns="0" tIns="0" rIns="0" bIns="0" rtlCol="0" anchor="t"/>
          <a:lstStyle/>
          <a:p>
            <a:pPr algn="ctr" indent="0" marL="0">
              <a:buNone/>
            </a:pPr>
            <a:r>
              <a:rPr lang="en-US" sz="1300" b="1" dirty="0">
                <a:solidFill>
                  <a:srgbClr val="1E2A30"/>
                </a:solidFill>
                <a:latin typeface="Meiryo" pitchFamily="34" charset="0"/>
                <a:ea typeface="Meiryo" pitchFamily="34" charset="-122"/>
                <a:cs typeface="Meiryo" pitchFamily="34" charset="-120"/>
              </a:rPr>
              <a:t>受付に取次ぎを頼む</a:t>
            </a:r>
            <a:endParaRPr lang="en-US" sz="1300" dirty="0"/>
          </a:p>
        </p:txBody>
      </p:sp>
      <p:sp>
        <p:nvSpPr>
          <p:cNvPr id="16" name="Text 12"/>
          <p:cNvSpPr txBox="1"/>
          <p:nvPr/>
        </p:nvSpPr>
        <p:spPr>
          <a:xfrm>
            <a:off x="2514600" y="3520440"/>
            <a:ext cx="2011680" cy="502920"/>
          </a:xfrm>
          <a:prstGeom prst="rect">
            <a:avLst/>
          </a:prstGeom>
          <a:noFill/>
          <a:ln/>
        </p:spPr>
        <p:txBody>
          <a:bodyPr wrap="square" lIns="0" tIns="0" rIns="0" bIns="0" rtlCol="0" anchor="t"/>
          <a:lstStyle/>
          <a:p>
            <a:pPr algn="ctr" indent="0" marL="0">
              <a:buNone/>
            </a:pPr>
            <a:r>
              <a:rPr lang="en-US" sz="1050" dirty="0">
                <a:solidFill>
                  <a:srgbClr val="5B6870"/>
                </a:solidFill>
                <a:latin typeface="Meiryo" pitchFamily="34" charset="0"/>
                <a:ea typeface="Meiryo" pitchFamily="34" charset="-122"/>
                <a:cs typeface="Meiryo" pitchFamily="34" charset="-120"/>
              </a:rPr>
              <a:t>「ご担当者様に</a:t>
            </a:r>
            <a:endParaRPr lang="en-US" sz="1050" dirty="0"/>
          </a:p>
          <a:p>
            <a:pPr algn="ctr" indent="0" marL="0">
              <a:buNone/>
            </a:pPr>
            <a:r>
              <a:rPr lang="en-US" sz="1050" dirty="0">
                <a:solidFill>
                  <a:srgbClr val="5B6870"/>
                </a:solidFill>
                <a:latin typeface="Meiryo" pitchFamily="34" charset="0"/>
                <a:ea typeface="Meiryo" pitchFamily="34" charset="-122"/>
                <a:cs typeface="Meiryo" pitchFamily="34" charset="-120"/>
              </a:rPr>
              <a:t>お繋ぎいただけますか？」</a:t>
            </a:r>
            <a:endParaRPr lang="en-US" sz="1050" dirty="0"/>
          </a:p>
        </p:txBody>
      </p:sp>
      <p:sp>
        <p:nvSpPr>
          <p:cNvPr id="17" name="Shape 13"/>
          <p:cNvSpPr/>
          <p:nvPr/>
        </p:nvSpPr>
        <p:spPr>
          <a:xfrm>
            <a:off x="4142232" y="2487168"/>
            <a:ext cx="859536" cy="237744"/>
          </a:xfrm>
          <a:prstGeom prst="rightArrow">
            <a:avLst/>
          </a:prstGeom>
          <a:solidFill>
            <a:srgbClr val="D5DDE0"/>
          </a:solidFill>
          <a:ln w="12700">
            <a:solidFill>
              <a:srgbClr val="D5DDE0"/>
            </a:solidFill>
            <a:prstDash val="solid"/>
          </a:ln>
        </p:spPr>
      </p:sp>
      <p:sp>
        <p:nvSpPr>
          <p:cNvPr id="18" name="Shape 14"/>
          <p:cNvSpPr/>
          <p:nvPr/>
        </p:nvSpPr>
        <p:spPr>
          <a:xfrm>
            <a:off x="5166360" y="2148840"/>
            <a:ext cx="914400" cy="914400"/>
          </a:xfrm>
          <a:prstGeom prst="ellipse">
            <a:avLst/>
          </a:prstGeom>
          <a:solidFill>
            <a:srgbClr val="D98A1E"/>
          </a:solidFill>
          <a:ln w="9525">
            <a:solidFill>
              <a:srgbClr val="D98A1E"/>
            </a:solidFill>
            <a:prstDash val="solid"/>
          </a:ln>
        </p:spPr>
      </p:sp>
      <p:pic>
        <p:nvPicPr>
          <p:cNvPr id="19" name="Image 2" descr="preencoded.png">    </p:cNvPr>
          <p:cNvPicPr>
            <a:picLocks noChangeAspect="1"/>
          </p:cNvPicPr>
          <p:nvPr/>
        </p:nvPicPr>
        <p:blipFill>
          <a:blip r:embed="rId3"/>
          <a:stretch>
            <a:fillRect/>
          </a:stretch>
        </p:blipFill>
        <p:spPr>
          <a:xfrm>
            <a:off x="5394960" y="2377440"/>
            <a:ext cx="457200" cy="457200"/>
          </a:xfrm>
          <a:prstGeom prst="rect">
            <a:avLst/>
          </a:prstGeom>
        </p:spPr>
      </p:pic>
      <p:sp>
        <p:nvSpPr>
          <p:cNvPr id="20" name="Text 15"/>
          <p:cNvSpPr txBox="1"/>
          <p:nvPr/>
        </p:nvSpPr>
        <p:spPr>
          <a:xfrm>
            <a:off x="4617720" y="3172968"/>
            <a:ext cx="2011680" cy="320040"/>
          </a:xfrm>
          <a:prstGeom prst="rect">
            <a:avLst/>
          </a:prstGeom>
          <a:noFill/>
          <a:ln/>
        </p:spPr>
        <p:txBody>
          <a:bodyPr wrap="square" lIns="0" tIns="0" rIns="0" bIns="0" rtlCol="0" anchor="t"/>
          <a:lstStyle/>
          <a:p>
            <a:pPr algn="ctr" indent="0" marL="0">
              <a:buNone/>
            </a:pPr>
            <a:r>
              <a:rPr lang="en-US" sz="1300" b="1" dirty="0">
                <a:solidFill>
                  <a:srgbClr val="1E2A30"/>
                </a:solidFill>
                <a:latin typeface="Meiryo" pitchFamily="34" charset="0"/>
                <a:ea typeface="Meiryo" pitchFamily="34" charset="-122"/>
                <a:cs typeface="Meiryo" pitchFamily="34" charset="-120"/>
              </a:rPr>
              <a:t>代表者にご案内</a:t>
            </a:r>
            <a:endParaRPr lang="en-US" sz="1300" dirty="0"/>
          </a:p>
        </p:txBody>
      </p:sp>
      <p:sp>
        <p:nvSpPr>
          <p:cNvPr id="21" name="Text 16"/>
          <p:cNvSpPr txBox="1"/>
          <p:nvPr/>
        </p:nvSpPr>
        <p:spPr>
          <a:xfrm>
            <a:off x="4617720" y="3520440"/>
            <a:ext cx="2011680" cy="502920"/>
          </a:xfrm>
          <a:prstGeom prst="rect">
            <a:avLst/>
          </a:prstGeom>
          <a:noFill/>
          <a:ln/>
        </p:spPr>
        <p:txBody>
          <a:bodyPr wrap="square" lIns="0" tIns="0" rIns="0" bIns="0" rtlCol="0" anchor="t"/>
          <a:lstStyle/>
          <a:p>
            <a:pPr algn="ctr" indent="0" marL="0">
              <a:buNone/>
            </a:pPr>
            <a:r>
              <a:rPr lang="en-US" sz="1050" dirty="0">
                <a:solidFill>
                  <a:srgbClr val="5B6870"/>
                </a:solidFill>
                <a:latin typeface="Meiryo" pitchFamily="34" charset="0"/>
                <a:ea typeface="Meiryo" pitchFamily="34" charset="-122"/>
                <a:cs typeface="Meiryo" pitchFamily="34" charset="-120"/>
              </a:rPr>
              <a:t>制度の話と</a:t>
            </a:r>
            <a:endParaRPr lang="en-US" sz="1050" dirty="0"/>
          </a:p>
          <a:p>
            <a:pPr algn="ctr" indent="0" marL="0">
              <a:buNone/>
            </a:pPr>
            <a:r>
              <a:rPr lang="en-US" sz="1050" dirty="0">
                <a:solidFill>
                  <a:srgbClr val="5B6870"/>
                </a:solidFill>
                <a:latin typeface="Meiryo" pitchFamily="34" charset="0"/>
                <a:ea typeface="Meiryo" pitchFamily="34" charset="-122"/>
                <a:cs typeface="Meiryo" pitchFamily="34" charset="-120"/>
              </a:rPr>
              <a:t>かんたんな質問</a:t>
            </a:r>
            <a:endParaRPr lang="en-US" sz="1050" dirty="0"/>
          </a:p>
        </p:txBody>
      </p:sp>
      <p:sp>
        <p:nvSpPr>
          <p:cNvPr id="22" name="Shape 17"/>
          <p:cNvSpPr/>
          <p:nvPr/>
        </p:nvSpPr>
        <p:spPr>
          <a:xfrm>
            <a:off x="6245352" y="2487168"/>
            <a:ext cx="859536" cy="237744"/>
          </a:xfrm>
          <a:prstGeom prst="rightArrow">
            <a:avLst/>
          </a:prstGeom>
          <a:solidFill>
            <a:srgbClr val="D5DDE0"/>
          </a:solidFill>
          <a:ln w="12700">
            <a:solidFill>
              <a:srgbClr val="D5DDE0"/>
            </a:solidFill>
            <a:prstDash val="solid"/>
          </a:ln>
        </p:spPr>
      </p:sp>
      <p:sp>
        <p:nvSpPr>
          <p:cNvPr id="23" name="Shape 18"/>
          <p:cNvSpPr/>
          <p:nvPr/>
        </p:nvSpPr>
        <p:spPr>
          <a:xfrm>
            <a:off x="7269480" y="2148840"/>
            <a:ext cx="914400" cy="914400"/>
          </a:xfrm>
          <a:prstGeom prst="ellipse">
            <a:avLst/>
          </a:prstGeom>
          <a:solidFill>
            <a:srgbClr val="1B7F3B"/>
          </a:solidFill>
          <a:ln w="9525">
            <a:solidFill>
              <a:srgbClr val="1B7F3B"/>
            </a:solidFill>
            <a:prstDash val="solid"/>
          </a:ln>
        </p:spPr>
      </p:sp>
      <p:pic>
        <p:nvPicPr>
          <p:cNvPr id="24" name="Image 3" descr="preencoded.png">    </p:cNvPr>
          <p:cNvPicPr>
            <a:picLocks noChangeAspect="1"/>
          </p:cNvPicPr>
          <p:nvPr/>
        </p:nvPicPr>
        <p:blipFill>
          <a:blip r:embed="rId4"/>
          <a:stretch>
            <a:fillRect/>
          </a:stretch>
        </p:blipFill>
        <p:spPr>
          <a:xfrm>
            <a:off x="7498080" y="2377440"/>
            <a:ext cx="457200" cy="457200"/>
          </a:xfrm>
          <a:prstGeom prst="rect">
            <a:avLst/>
          </a:prstGeom>
        </p:spPr>
      </p:pic>
      <p:sp>
        <p:nvSpPr>
          <p:cNvPr id="25" name="Text 19"/>
          <p:cNvSpPr txBox="1"/>
          <p:nvPr/>
        </p:nvSpPr>
        <p:spPr>
          <a:xfrm>
            <a:off x="6720840" y="3172968"/>
            <a:ext cx="2011680" cy="320040"/>
          </a:xfrm>
          <a:prstGeom prst="rect">
            <a:avLst/>
          </a:prstGeom>
          <a:noFill/>
          <a:ln/>
        </p:spPr>
        <p:txBody>
          <a:bodyPr wrap="square" lIns="0" tIns="0" rIns="0" bIns="0" rtlCol="0" anchor="t"/>
          <a:lstStyle/>
          <a:p>
            <a:pPr algn="ctr" indent="0" marL="0">
              <a:buNone/>
            </a:pPr>
            <a:r>
              <a:rPr lang="en-US" sz="1300" b="1" dirty="0">
                <a:solidFill>
                  <a:srgbClr val="1E2A30"/>
                </a:solidFill>
                <a:latin typeface="Meiryo" pitchFamily="34" charset="0"/>
                <a:ea typeface="Meiryo" pitchFamily="34" charset="-122"/>
                <a:cs typeface="Meiryo" pitchFamily="34" charset="-120"/>
              </a:rPr>
              <a:t>商談の予約が完了</a:t>
            </a:r>
            <a:endParaRPr lang="en-US" sz="1300" dirty="0"/>
          </a:p>
        </p:txBody>
      </p:sp>
      <p:sp>
        <p:nvSpPr>
          <p:cNvPr id="26" name="Text 20"/>
          <p:cNvSpPr txBox="1"/>
          <p:nvPr/>
        </p:nvSpPr>
        <p:spPr>
          <a:xfrm>
            <a:off x="6720840" y="3520440"/>
            <a:ext cx="2011680" cy="502920"/>
          </a:xfrm>
          <a:prstGeom prst="rect">
            <a:avLst/>
          </a:prstGeom>
          <a:noFill/>
          <a:ln/>
        </p:spPr>
        <p:txBody>
          <a:bodyPr wrap="square" lIns="0" tIns="0" rIns="0" bIns="0" rtlCol="0" anchor="t"/>
          <a:lstStyle/>
          <a:p>
            <a:pPr algn="ctr" indent="0" marL="0">
              <a:buNone/>
            </a:pPr>
            <a:r>
              <a:rPr lang="en-US" sz="1050" dirty="0">
                <a:solidFill>
                  <a:srgbClr val="5B6870"/>
                </a:solidFill>
                <a:latin typeface="Meiryo" pitchFamily="34" charset="0"/>
                <a:ea typeface="Meiryo" pitchFamily="34" charset="-122"/>
                <a:cs typeface="Meiryo" pitchFamily="34" charset="-120"/>
              </a:rPr>
              <a:t>聞き取った内容も</a:t>
            </a:r>
            <a:endParaRPr lang="en-US" sz="1050" dirty="0"/>
          </a:p>
          <a:p>
            <a:pPr algn="ctr" indent="0" marL="0">
              <a:buNone/>
            </a:pPr>
            <a:r>
              <a:rPr lang="en-US" sz="1050" dirty="0">
                <a:solidFill>
                  <a:srgbClr val="5B6870"/>
                </a:solidFill>
                <a:latin typeface="Meiryo" pitchFamily="34" charset="0"/>
                <a:ea typeface="Meiryo" pitchFamily="34" charset="-122"/>
                <a:cs typeface="Meiryo" pitchFamily="34" charset="-120"/>
              </a:rPr>
              <a:t>メモに残る</a:t>
            </a:r>
            <a:endParaRPr lang="en-US" sz="1050" dirty="0"/>
          </a:p>
        </p:txBody>
      </p:sp>
      <p:sp>
        <p:nvSpPr>
          <p:cNvPr id="27" name="Shape 21"/>
          <p:cNvSpPr/>
          <p:nvPr/>
        </p:nvSpPr>
        <p:spPr>
          <a:xfrm>
            <a:off x="457200" y="4187952"/>
            <a:ext cx="8229600" cy="475488"/>
          </a:xfrm>
          <a:prstGeom prst="roundRect">
            <a:avLst>
              <a:gd name="adj" fmla="val 15385"/>
            </a:avLst>
          </a:prstGeom>
          <a:solidFill>
            <a:srgbClr val="F3F6F7"/>
          </a:solidFill>
          <a:ln w="9525">
            <a:solidFill>
              <a:srgbClr val="F3F6F7"/>
            </a:solidFill>
            <a:prstDash val="solid"/>
          </a:ln>
        </p:spPr>
      </p:sp>
      <p:pic>
        <p:nvPicPr>
          <p:cNvPr id="28" name="Image 4" descr="preencoded.png">    </p:cNvPr>
          <p:cNvPicPr>
            <a:picLocks noChangeAspect="1"/>
          </p:cNvPicPr>
          <p:nvPr/>
        </p:nvPicPr>
        <p:blipFill>
          <a:blip r:embed="rId5"/>
          <a:stretch>
            <a:fillRect/>
          </a:stretch>
        </p:blipFill>
        <p:spPr>
          <a:xfrm>
            <a:off x="658368" y="4261104"/>
            <a:ext cx="329184" cy="329184"/>
          </a:xfrm>
          <a:prstGeom prst="rect">
            <a:avLst/>
          </a:prstGeom>
        </p:spPr>
      </p:pic>
      <p:sp>
        <p:nvSpPr>
          <p:cNvPr id="29" name="Text 22"/>
          <p:cNvSpPr txBox="1"/>
          <p:nvPr/>
        </p:nvSpPr>
        <p:spPr>
          <a:xfrm>
            <a:off x="1143000" y="4187952"/>
            <a:ext cx="7406640" cy="475488"/>
          </a:xfrm>
          <a:prstGeom prst="rect">
            <a:avLst/>
          </a:prstGeom>
          <a:noFill/>
          <a:ln/>
        </p:spPr>
        <p:txBody>
          <a:bodyPr wrap="square" lIns="0" tIns="0" rIns="0" bIns="0" rtlCol="0" anchor="ctr"/>
          <a:lstStyle/>
          <a:p>
            <a:pPr indent="0" marL="0">
              <a:buNone/>
            </a:pPr>
            <a:r>
              <a:rPr lang="en-US" sz="1200" dirty="0">
                <a:solidFill>
                  <a:srgbClr val="1E2A30"/>
                </a:solidFill>
                <a:latin typeface="Meiryo" pitchFamily="34" charset="0"/>
                <a:ea typeface="Meiryo" pitchFamily="34" charset="-122"/>
                <a:cs typeface="Meiryo" pitchFamily="34" charset="-120"/>
              </a:rPr>
              <a:t>商談そのものは、これまでどおり有資格のプランナー（人）が行います</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822960" cy="256032"/>
          </a:xfrm>
          <a:prstGeom prst="roundRect">
            <a:avLst>
              <a:gd name="adj" fmla="val 50000"/>
            </a:avLst>
          </a:prstGeom>
          <a:solidFill>
            <a:srgbClr val="E3F3F2"/>
          </a:solidFill>
          <a:ln w="9525">
            <a:solidFill>
              <a:srgbClr val="E3F3F2"/>
            </a:solidFill>
            <a:prstDash val="solid"/>
          </a:ln>
        </p:spPr>
      </p:sp>
      <p:sp>
        <p:nvSpPr>
          <p:cNvPr id="3" name="Text 1"/>
          <p:cNvSpPr txBox="1"/>
          <p:nvPr/>
        </p:nvSpPr>
        <p:spPr>
          <a:xfrm>
            <a:off x="457200" y="310896"/>
            <a:ext cx="822960" cy="256032"/>
          </a:xfrm>
          <a:prstGeom prst="rect">
            <a:avLst/>
          </a:prstGeom>
          <a:noFill/>
          <a:ln/>
        </p:spPr>
        <p:txBody>
          <a:bodyPr wrap="square" lIns="0" tIns="0" rIns="0" bIns="0" rtlCol="0" anchor="ctr"/>
          <a:lstStyle/>
          <a:p>
            <a:pPr algn="ctr" indent="0" marL="0">
              <a:buNone/>
            </a:pPr>
            <a:r>
              <a:rPr lang="en-US" sz="1000" b="1" dirty="0">
                <a:solidFill>
                  <a:srgbClr val="0B6E6E"/>
                </a:solidFill>
                <a:latin typeface="Meiryo" pitchFamily="34" charset="0"/>
                <a:ea typeface="Meiryo" pitchFamily="34" charset="-122"/>
                <a:cs typeface="Meiryo" pitchFamily="34" charset="-120"/>
              </a:rPr>
              <a:t>はじめに</a:t>
            </a:r>
            <a:endParaRPr lang="en-US" sz="1000" dirty="0"/>
          </a:p>
        </p:txBody>
      </p:sp>
      <p:sp>
        <p:nvSpPr>
          <p:cNvPr id="4" name="Text 2"/>
          <p:cNvSpPr txBox="1"/>
          <p:nvPr/>
        </p:nvSpPr>
        <p:spPr>
          <a:xfrm>
            <a:off x="457200" y="603504"/>
            <a:ext cx="8229600" cy="502920"/>
          </a:xfrm>
          <a:prstGeom prst="rect">
            <a:avLst/>
          </a:prstGeom>
          <a:noFill/>
          <a:ln/>
        </p:spPr>
        <p:txBody>
          <a:bodyPr wrap="square" lIns="0" tIns="0" rIns="0" bIns="0" rtlCol="0" anchor="ctr"/>
          <a:lstStyle/>
          <a:p>
            <a:pPr indent="0" marL="0">
              <a:buNone/>
            </a:pPr>
            <a:r>
              <a:rPr lang="en-US" sz="2400" b="1" dirty="0">
                <a:solidFill>
                  <a:srgbClr val="1E2A30"/>
                </a:solidFill>
                <a:latin typeface="Meiryo" pitchFamily="34" charset="0"/>
                <a:ea typeface="Meiryo" pitchFamily="34" charset="-122"/>
                <a:cs typeface="Meiryo" pitchFamily="34" charset="-120"/>
              </a:rPr>
              <a:t>人の電話営業で起きていること</a:t>
            </a:r>
            <a:endParaRPr lang="en-US" sz="2400" dirty="0"/>
          </a:p>
        </p:txBody>
      </p:sp>
      <p:sp>
        <p:nvSpPr>
          <p:cNvPr id="5" name="Text 3"/>
          <p:cNvSpPr txBox="1"/>
          <p:nvPr/>
        </p:nvSpPr>
        <p:spPr>
          <a:xfrm>
            <a:off x="7955280" y="4773168"/>
            <a:ext cx="731520" cy="228600"/>
          </a:xfrm>
          <a:prstGeom prst="rect">
            <a:avLst/>
          </a:prstGeom>
          <a:noFill/>
          <a:ln/>
        </p:spPr>
        <p:txBody>
          <a:bodyPr wrap="square" lIns="0" tIns="0" rIns="0" bIns="0" rtlCol="0" anchor="t"/>
          <a:lstStyle/>
          <a:p>
            <a:pPr algn="r" indent="0" marL="0">
              <a:buNone/>
            </a:pPr>
            <a:r>
              <a:rPr lang="en-US" sz="900" dirty="0">
                <a:solidFill>
                  <a:srgbClr val="5B6870"/>
                </a:solidFill>
                <a:latin typeface="Meiryo" pitchFamily="34" charset="0"/>
                <a:ea typeface="Meiryo" pitchFamily="34" charset="-122"/>
                <a:cs typeface="Meiryo" pitchFamily="34" charset="-120"/>
              </a:rPr>
              <a:t>3 / 17</a:t>
            </a:r>
            <a:endParaRPr lang="en-US" sz="900" dirty="0"/>
          </a:p>
        </p:txBody>
      </p:sp>
      <p:sp>
        <p:nvSpPr>
          <p:cNvPr id="6" name="Text 4"/>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200" dirty="0">
                <a:solidFill>
                  <a:srgbClr val="5B6870"/>
                </a:solidFill>
                <a:latin typeface="Meiryo" pitchFamily="34" charset="0"/>
                <a:ea typeface="Meiryo" pitchFamily="34" charset="-122"/>
                <a:cs typeface="Meiryo" pitchFamily="34" charset="-120"/>
              </a:rPr>
              <a:t>実際の通話記録を分析して分かった「もったいない」ポイント</a:t>
            </a:r>
            <a:endParaRPr lang="en-US" sz="1200" dirty="0"/>
          </a:p>
        </p:txBody>
      </p:sp>
      <p:sp>
        <p:nvSpPr>
          <p:cNvPr id="7" name="Shape 5"/>
          <p:cNvSpPr/>
          <p:nvPr/>
        </p:nvSpPr>
        <p:spPr>
          <a:xfrm>
            <a:off x="457200" y="1536192"/>
            <a:ext cx="1920240" cy="2697480"/>
          </a:xfrm>
          <a:prstGeom prst="roundRect">
            <a:avLst>
              <a:gd name="adj" fmla="val 3810"/>
            </a:avLst>
          </a:prstGeom>
          <a:solidFill>
            <a:srgbClr val="F3F6F7"/>
          </a:solidFill>
          <a:ln w="9525">
            <a:solidFill>
              <a:srgbClr val="F3F6F7"/>
            </a:solidFill>
            <a:prstDash val="solid"/>
          </a:ln>
        </p:spPr>
      </p:sp>
      <p:sp>
        <p:nvSpPr>
          <p:cNvPr id="8" name="Text 6"/>
          <p:cNvSpPr txBox="1"/>
          <p:nvPr/>
        </p:nvSpPr>
        <p:spPr>
          <a:xfrm>
            <a:off x="640080" y="1719072"/>
            <a:ext cx="1554480" cy="685800"/>
          </a:xfrm>
          <a:prstGeom prst="rect">
            <a:avLst/>
          </a:prstGeom>
          <a:noFill/>
          <a:ln/>
        </p:spPr>
        <p:txBody>
          <a:bodyPr wrap="square" lIns="0" tIns="0" rIns="0" bIns="0" rtlCol="0" anchor="t"/>
          <a:lstStyle/>
          <a:p>
            <a:pPr indent="0" marL="0">
              <a:buNone/>
            </a:pPr>
            <a:r>
              <a:rPr lang="en-US" sz="3400" b="1" dirty="0">
                <a:solidFill>
                  <a:srgbClr val="C77700"/>
                </a:solidFill>
                <a:latin typeface="Meiryo" pitchFamily="34" charset="0"/>
                <a:ea typeface="Meiryo" pitchFamily="34" charset="-122"/>
                <a:cs typeface="Meiryo" pitchFamily="34" charset="-120"/>
              </a:rPr>
              <a:t>約40件</a:t>
            </a:r>
            <a:endParaRPr lang="en-US" sz="3400" dirty="0"/>
          </a:p>
        </p:txBody>
      </p:sp>
      <p:sp>
        <p:nvSpPr>
          <p:cNvPr id="9" name="Text 7"/>
          <p:cNvSpPr txBox="1"/>
          <p:nvPr/>
        </p:nvSpPr>
        <p:spPr>
          <a:xfrm>
            <a:off x="640080" y="2487168"/>
            <a:ext cx="1554480" cy="658368"/>
          </a:xfrm>
          <a:prstGeom prst="rect">
            <a:avLst/>
          </a:prstGeom>
          <a:noFill/>
          <a:ln/>
        </p:spPr>
        <p:txBody>
          <a:bodyPr wrap="square" lIns="0" tIns="0" rIns="0" bIns="0" rtlCol="0" anchor="t"/>
          <a:lstStyle/>
          <a:p>
            <a:pPr indent="0" marL="0">
              <a:buNone/>
            </a:pPr>
            <a:r>
              <a:rPr lang="en-US" sz="1250" b="1" dirty="0">
                <a:solidFill>
                  <a:srgbClr val="1E2A30"/>
                </a:solidFill>
                <a:latin typeface="Meiryo" pitchFamily="34" charset="0"/>
                <a:ea typeface="Meiryo" pitchFamily="34" charset="-122"/>
                <a:cs typeface="Meiryo" pitchFamily="34" charset="-120"/>
              </a:rPr>
              <a:t>「制度はもうある」で会話が終わる</a:t>
            </a:r>
            <a:endParaRPr lang="en-US" sz="1250" dirty="0"/>
          </a:p>
        </p:txBody>
      </p:sp>
      <p:sp>
        <p:nvSpPr>
          <p:cNvPr id="10" name="Text 8"/>
          <p:cNvSpPr txBox="1"/>
          <p:nvPr/>
        </p:nvSpPr>
        <p:spPr>
          <a:xfrm>
            <a:off x="640080" y="3200400"/>
            <a:ext cx="1554480" cy="914400"/>
          </a:xfrm>
          <a:prstGeom prst="rect">
            <a:avLst/>
          </a:prstGeom>
          <a:noFill/>
          <a:ln/>
        </p:spPr>
        <p:txBody>
          <a:bodyPr wrap="square" lIns="0" tIns="0" rIns="0" bIns="0" rtlCol="0" anchor="t"/>
          <a:lstStyle/>
          <a:p>
            <a:pPr indent="0" marL="0">
              <a:buNone/>
            </a:pPr>
            <a:r>
              <a:rPr lang="en-US" sz="1050" dirty="0">
                <a:solidFill>
                  <a:srgbClr val="5B6870"/>
                </a:solidFill>
                <a:latin typeface="Meiryo" pitchFamily="34" charset="0"/>
                <a:ea typeface="Meiryo" pitchFamily="34" charset="-122"/>
                <a:cs typeface="Meiryo" pitchFamily="34" charset="-120"/>
              </a:rPr>
              <a:t>いちばん多い断り文句。多くがそのまま電話終了に</a:t>
            </a:r>
            <a:endParaRPr lang="en-US" sz="1050" dirty="0"/>
          </a:p>
        </p:txBody>
      </p:sp>
      <p:sp>
        <p:nvSpPr>
          <p:cNvPr id="11" name="Shape 9"/>
          <p:cNvSpPr/>
          <p:nvPr/>
        </p:nvSpPr>
        <p:spPr>
          <a:xfrm>
            <a:off x="2560320" y="1536192"/>
            <a:ext cx="1920240" cy="2697480"/>
          </a:xfrm>
          <a:prstGeom prst="roundRect">
            <a:avLst>
              <a:gd name="adj" fmla="val 3810"/>
            </a:avLst>
          </a:prstGeom>
          <a:solidFill>
            <a:srgbClr val="F3F6F7"/>
          </a:solidFill>
          <a:ln w="9525">
            <a:solidFill>
              <a:srgbClr val="F3F6F7"/>
            </a:solidFill>
            <a:prstDash val="solid"/>
          </a:ln>
        </p:spPr>
      </p:sp>
      <p:sp>
        <p:nvSpPr>
          <p:cNvPr id="12" name="Text 10"/>
          <p:cNvSpPr txBox="1"/>
          <p:nvPr/>
        </p:nvSpPr>
        <p:spPr>
          <a:xfrm>
            <a:off x="2743200" y="1719072"/>
            <a:ext cx="1554480" cy="685800"/>
          </a:xfrm>
          <a:prstGeom prst="rect">
            <a:avLst/>
          </a:prstGeom>
          <a:noFill/>
          <a:ln/>
        </p:spPr>
        <p:txBody>
          <a:bodyPr wrap="square" lIns="0" tIns="0" rIns="0" bIns="0" rtlCol="0" anchor="t"/>
          <a:lstStyle/>
          <a:p>
            <a:pPr indent="0" marL="0">
              <a:buNone/>
            </a:pPr>
            <a:r>
              <a:rPr lang="en-US" sz="3400" b="1" dirty="0">
                <a:solidFill>
                  <a:srgbClr val="C77700"/>
                </a:solidFill>
                <a:latin typeface="Meiryo" pitchFamily="34" charset="0"/>
                <a:ea typeface="Meiryo" pitchFamily="34" charset="-122"/>
                <a:cs typeface="Meiryo" pitchFamily="34" charset="-120"/>
              </a:rPr>
              <a:t>67%</a:t>
            </a:r>
            <a:endParaRPr lang="en-US" sz="3400" dirty="0"/>
          </a:p>
        </p:txBody>
      </p:sp>
      <p:sp>
        <p:nvSpPr>
          <p:cNvPr id="13" name="Text 11"/>
          <p:cNvSpPr txBox="1"/>
          <p:nvPr/>
        </p:nvSpPr>
        <p:spPr>
          <a:xfrm>
            <a:off x="2743200" y="2487168"/>
            <a:ext cx="1554480" cy="658368"/>
          </a:xfrm>
          <a:prstGeom prst="rect">
            <a:avLst/>
          </a:prstGeom>
          <a:noFill/>
          <a:ln/>
        </p:spPr>
        <p:txBody>
          <a:bodyPr wrap="square" lIns="0" tIns="0" rIns="0" bIns="0" rtlCol="0" anchor="t"/>
          <a:lstStyle/>
          <a:p>
            <a:pPr indent="0" marL="0">
              <a:buNone/>
            </a:pPr>
            <a:r>
              <a:rPr lang="en-US" sz="1250" b="1" dirty="0">
                <a:solidFill>
                  <a:srgbClr val="1E2A30"/>
                </a:solidFill>
                <a:latin typeface="Meiryo" pitchFamily="34" charset="0"/>
                <a:ea typeface="Meiryo" pitchFamily="34" charset="-122"/>
                <a:cs typeface="Meiryo" pitchFamily="34" charset="-120"/>
              </a:rPr>
              <a:t>社会保険の加入人数を聞けた割合</a:t>
            </a:r>
            <a:endParaRPr lang="en-US" sz="1250" dirty="0"/>
          </a:p>
        </p:txBody>
      </p:sp>
      <p:sp>
        <p:nvSpPr>
          <p:cNvPr id="14" name="Text 12"/>
          <p:cNvSpPr txBox="1"/>
          <p:nvPr/>
        </p:nvSpPr>
        <p:spPr>
          <a:xfrm>
            <a:off x="2743200" y="3200400"/>
            <a:ext cx="1554480" cy="914400"/>
          </a:xfrm>
          <a:prstGeom prst="rect">
            <a:avLst/>
          </a:prstGeom>
          <a:noFill/>
          <a:ln/>
        </p:spPr>
        <p:txBody>
          <a:bodyPr wrap="square" lIns="0" tIns="0" rIns="0" bIns="0" rtlCol="0" anchor="t"/>
          <a:lstStyle/>
          <a:p>
            <a:pPr indent="0" marL="0">
              <a:buNone/>
            </a:pPr>
            <a:r>
              <a:rPr lang="en-US" sz="1050" dirty="0">
                <a:solidFill>
                  <a:srgbClr val="5B6870"/>
                </a:solidFill>
                <a:latin typeface="Meiryo" pitchFamily="34" charset="0"/>
                <a:ea typeface="Meiryo" pitchFamily="34" charset="-122"/>
                <a:cs typeface="Meiryo" pitchFamily="34" charset="-120"/>
              </a:rPr>
              <a:t>3件に1件は聞き漏れ。提案の試算に欠かせない情報</a:t>
            </a:r>
            <a:endParaRPr lang="en-US" sz="1050" dirty="0"/>
          </a:p>
        </p:txBody>
      </p:sp>
      <p:sp>
        <p:nvSpPr>
          <p:cNvPr id="15" name="Shape 13"/>
          <p:cNvSpPr/>
          <p:nvPr/>
        </p:nvSpPr>
        <p:spPr>
          <a:xfrm>
            <a:off x="4663440" y="1536192"/>
            <a:ext cx="1920240" cy="2697480"/>
          </a:xfrm>
          <a:prstGeom prst="roundRect">
            <a:avLst>
              <a:gd name="adj" fmla="val 3810"/>
            </a:avLst>
          </a:prstGeom>
          <a:solidFill>
            <a:srgbClr val="F3F6F7"/>
          </a:solidFill>
          <a:ln w="9525">
            <a:solidFill>
              <a:srgbClr val="F3F6F7"/>
            </a:solidFill>
            <a:prstDash val="solid"/>
          </a:ln>
        </p:spPr>
      </p:sp>
      <p:sp>
        <p:nvSpPr>
          <p:cNvPr id="16" name="Text 14"/>
          <p:cNvSpPr txBox="1"/>
          <p:nvPr/>
        </p:nvSpPr>
        <p:spPr>
          <a:xfrm>
            <a:off x="4846320" y="1719072"/>
            <a:ext cx="1554480" cy="685800"/>
          </a:xfrm>
          <a:prstGeom prst="rect">
            <a:avLst/>
          </a:prstGeom>
          <a:noFill/>
          <a:ln/>
        </p:spPr>
        <p:txBody>
          <a:bodyPr wrap="square" lIns="0" tIns="0" rIns="0" bIns="0" rtlCol="0" anchor="t"/>
          <a:lstStyle/>
          <a:p>
            <a:pPr indent="0" marL="0">
              <a:buNone/>
            </a:pPr>
            <a:r>
              <a:rPr lang="en-US" sz="3400" b="1" dirty="0">
                <a:solidFill>
                  <a:srgbClr val="C77700"/>
                </a:solidFill>
                <a:latin typeface="Meiryo" pitchFamily="34" charset="0"/>
                <a:ea typeface="Meiryo" pitchFamily="34" charset="-122"/>
                <a:cs typeface="Meiryo" pitchFamily="34" charset="-120"/>
              </a:rPr>
              <a:t>53%</a:t>
            </a:r>
            <a:endParaRPr lang="en-US" sz="3400" dirty="0"/>
          </a:p>
        </p:txBody>
      </p:sp>
      <p:sp>
        <p:nvSpPr>
          <p:cNvPr id="17" name="Text 15"/>
          <p:cNvSpPr txBox="1"/>
          <p:nvPr/>
        </p:nvSpPr>
        <p:spPr>
          <a:xfrm>
            <a:off x="4846320" y="2487168"/>
            <a:ext cx="1554480" cy="658368"/>
          </a:xfrm>
          <a:prstGeom prst="rect">
            <a:avLst/>
          </a:prstGeom>
          <a:noFill/>
          <a:ln/>
        </p:spPr>
        <p:txBody>
          <a:bodyPr wrap="square" lIns="0" tIns="0" rIns="0" bIns="0" rtlCol="0" anchor="t"/>
          <a:lstStyle/>
          <a:p>
            <a:pPr indent="0" marL="0">
              <a:buNone/>
            </a:pPr>
            <a:r>
              <a:rPr lang="en-US" sz="1250" b="1" dirty="0">
                <a:solidFill>
                  <a:srgbClr val="1E2A30"/>
                </a:solidFill>
                <a:latin typeface="Meiryo" pitchFamily="34" charset="0"/>
                <a:ea typeface="Meiryo" pitchFamily="34" charset="-122"/>
                <a:cs typeface="Meiryo" pitchFamily="34" charset="-120"/>
              </a:rPr>
              <a:t>カレンダー登録をお願いできた割合</a:t>
            </a:r>
            <a:endParaRPr lang="en-US" sz="1250" dirty="0"/>
          </a:p>
        </p:txBody>
      </p:sp>
      <p:sp>
        <p:nvSpPr>
          <p:cNvPr id="18" name="Text 16"/>
          <p:cNvSpPr txBox="1"/>
          <p:nvPr/>
        </p:nvSpPr>
        <p:spPr>
          <a:xfrm>
            <a:off x="4846320" y="3200400"/>
            <a:ext cx="1554480" cy="914400"/>
          </a:xfrm>
          <a:prstGeom prst="rect">
            <a:avLst/>
          </a:prstGeom>
          <a:noFill/>
          <a:ln/>
        </p:spPr>
        <p:txBody>
          <a:bodyPr wrap="square" lIns="0" tIns="0" rIns="0" bIns="0" rtlCol="0" anchor="t"/>
          <a:lstStyle/>
          <a:p>
            <a:pPr indent="0" marL="0">
              <a:buNone/>
            </a:pPr>
            <a:r>
              <a:rPr lang="en-US" sz="1050" dirty="0">
                <a:solidFill>
                  <a:srgbClr val="5B6870"/>
                </a:solidFill>
                <a:latin typeface="Meiryo" pitchFamily="34" charset="0"/>
                <a:ea typeface="Meiryo" pitchFamily="34" charset="-122"/>
                <a:cs typeface="Meiryo" pitchFamily="34" charset="-120"/>
              </a:rPr>
              <a:t>約半数で抜けていた。当日のすっぽかし防止に大切</a:t>
            </a:r>
            <a:endParaRPr lang="en-US" sz="1050" dirty="0"/>
          </a:p>
        </p:txBody>
      </p:sp>
      <p:sp>
        <p:nvSpPr>
          <p:cNvPr id="19" name="Shape 17"/>
          <p:cNvSpPr/>
          <p:nvPr/>
        </p:nvSpPr>
        <p:spPr>
          <a:xfrm>
            <a:off x="6766560" y="1536192"/>
            <a:ext cx="1920240" cy="2697480"/>
          </a:xfrm>
          <a:prstGeom prst="roundRect">
            <a:avLst>
              <a:gd name="adj" fmla="val 3810"/>
            </a:avLst>
          </a:prstGeom>
          <a:solidFill>
            <a:srgbClr val="F3F6F7"/>
          </a:solidFill>
          <a:ln w="9525">
            <a:solidFill>
              <a:srgbClr val="F3F6F7"/>
            </a:solidFill>
            <a:prstDash val="solid"/>
          </a:ln>
        </p:spPr>
      </p:sp>
      <p:sp>
        <p:nvSpPr>
          <p:cNvPr id="20" name="Text 18"/>
          <p:cNvSpPr txBox="1"/>
          <p:nvPr/>
        </p:nvSpPr>
        <p:spPr>
          <a:xfrm>
            <a:off x="6949440" y="1719072"/>
            <a:ext cx="1554480" cy="685800"/>
          </a:xfrm>
          <a:prstGeom prst="rect">
            <a:avLst/>
          </a:prstGeom>
          <a:noFill/>
          <a:ln/>
        </p:spPr>
        <p:txBody>
          <a:bodyPr wrap="square" lIns="0" tIns="0" rIns="0" bIns="0" rtlCol="0" anchor="t"/>
          <a:lstStyle/>
          <a:p>
            <a:pPr indent="0" marL="0">
              <a:buNone/>
            </a:pPr>
            <a:r>
              <a:rPr lang="en-US" sz="3400" b="1" dirty="0">
                <a:solidFill>
                  <a:srgbClr val="B3261E"/>
                </a:solidFill>
                <a:latin typeface="Meiryo" pitchFamily="34" charset="0"/>
                <a:ea typeface="Meiryo" pitchFamily="34" charset="-122"/>
                <a:cs typeface="Meiryo" pitchFamily="34" charset="-120"/>
              </a:rPr>
              <a:t>4件</a:t>
            </a:r>
            <a:endParaRPr lang="en-US" sz="3400" dirty="0"/>
          </a:p>
        </p:txBody>
      </p:sp>
      <p:sp>
        <p:nvSpPr>
          <p:cNvPr id="21" name="Text 19"/>
          <p:cNvSpPr txBox="1"/>
          <p:nvPr/>
        </p:nvSpPr>
        <p:spPr>
          <a:xfrm>
            <a:off x="6949440" y="2487168"/>
            <a:ext cx="1554480" cy="658368"/>
          </a:xfrm>
          <a:prstGeom prst="rect">
            <a:avLst/>
          </a:prstGeom>
          <a:noFill/>
          <a:ln/>
        </p:spPr>
        <p:txBody>
          <a:bodyPr wrap="square" lIns="0" tIns="0" rIns="0" bIns="0" rtlCol="0" anchor="t"/>
          <a:lstStyle/>
          <a:p>
            <a:pPr indent="0" marL="0">
              <a:buNone/>
            </a:pPr>
            <a:r>
              <a:rPr lang="en-US" sz="1250" b="1" dirty="0">
                <a:solidFill>
                  <a:srgbClr val="1E2A30"/>
                </a:solidFill>
                <a:latin typeface="Meiryo" pitchFamily="34" charset="0"/>
                <a:ea typeface="Meiryo" pitchFamily="34" charset="-122"/>
                <a:cs typeface="Meiryo" pitchFamily="34" charset="-120"/>
              </a:rPr>
              <a:t>言い切ってはいけない表現が混ざった</a:t>
            </a:r>
            <a:endParaRPr lang="en-US" sz="1250" dirty="0"/>
          </a:p>
        </p:txBody>
      </p:sp>
      <p:sp>
        <p:nvSpPr>
          <p:cNvPr id="22" name="Text 20"/>
          <p:cNvSpPr txBox="1"/>
          <p:nvPr/>
        </p:nvSpPr>
        <p:spPr>
          <a:xfrm>
            <a:off x="6949440" y="3200400"/>
            <a:ext cx="1554480" cy="914400"/>
          </a:xfrm>
          <a:prstGeom prst="rect">
            <a:avLst/>
          </a:prstGeom>
          <a:noFill/>
          <a:ln/>
        </p:spPr>
        <p:txBody>
          <a:bodyPr wrap="square" lIns="0" tIns="0" rIns="0" bIns="0" rtlCol="0" anchor="t"/>
          <a:lstStyle/>
          <a:p>
            <a:pPr indent="0" marL="0">
              <a:buNone/>
            </a:pPr>
            <a:r>
              <a:rPr lang="en-US" sz="1050" dirty="0">
                <a:solidFill>
                  <a:srgbClr val="5B6870"/>
                </a:solidFill>
                <a:latin typeface="Meiryo" pitchFamily="34" charset="0"/>
                <a:ea typeface="Meiryo" pitchFamily="34" charset="-122"/>
                <a:cs typeface="Meiryo" pitchFamily="34" charset="-120"/>
              </a:rPr>
              <a:t>予約が取れた電話の中にも。例：「社会保険料が下がります」</a:t>
            </a:r>
            <a:endParaRPr lang="en-US" sz="1050" dirty="0"/>
          </a:p>
        </p:txBody>
      </p:sp>
      <p:sp>
        <p:nvSpPr>
          <p:cNvPr id="23" name="Text 21"/>
          <p:cNvSpPr txBox="1"/>
          <p:nvPr/>
        </p:nvSpPr>
        <p:spPr>
          <a:xfrm>
            <a:off x="457200" y="4370832"/>
            <a:ext cx="7406640" cy="274320"/>
          </a:xfrm>
          <a:prstGeom prst="rect">
            <a:avLst/>
          </a:prstGeom>
          <a:noFill/>
          <a:ln/>
        </p:spPr>
        <p:txBody>
          <a:bodyPr wrap="square" lIns="0" tIns="0" rIns="0" bIns="0" rtlCol="0" anchor="t"/>
          <a:lstStyle/>
          <a:p>
            <a:pPr indent="0" marL="0">
              <a:buNone/>
            </a:pPr>
            <a:r>
              <a:rPr lang="en-US" sz="950" dirty="0">
                <a:solidFill>
                  <a:srgbClr val="5B6870"/>
                </a:solidFill>
                <a:latin typeface="Meiryo" pitchFamily="34" charset="0"/>
                <a:ea typeface="Meiryo" pitchFamily="34" charset="-122"/>
                <a:cs typeface="Meiryo" pitchFamily="34" charset="-120"/>
              </a:rPr>
              <a:t>出典：アポが取れた15件・お断り20件の通話の文字起こしと、録音15本（計2時間14分）の分析</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685800" cy="256032"/>
          </a:xfrm>
          <a:prstGeom prst="roundRect">
            <a:avLst>
              <a:gd name="adj" fmla="val 50000"/>
            </a:avLst>
          </a:prstGeom>
          <a:solidFill>
            <a:srgbClr val="E3F3F2"/>
          </a:solidFill>
          <a:ln w="9525">
            <a:solidFill>
              <a:srgbClr val="E3F3F2"/>
            </a:solidFill>
            <a:prstDash val="solid"/>
          </a:ln>
        </p:spPr>
      </p:sp>
      <p:sp>
        <p:nvSpPr>
          <p:cNvPr id="3" name="Text 1"/>
          <p:cNvSpPr txBox="1"/>
          <p:nvPr/>
        </p:nvSpPr>
        <p:spPr>
          <a:xfrm>
            <a:off x="457200" y="310896"/>
            <a:ext cx="685800" cy="256032"/>
          </a:xfrm>
          <a:prstGeom prst="rect">
            <a:avLst/>
          </a:prstGeom>
          <a:noFill/>
          <a:ln/>
        </p:spPr>
        <p:txBody>
          <a:bodyPr wrap="square" lIns="0" tIns="0" rIns="0" bIns="0" rtlCol="0" anchor="ctr"/>
          <a:lstStyle/>
          <a:p>
            <a:pPr algn="ctr" indent="0" marL="0">
              <a:buNone/>
            </a:pPr>
            <a:r>
              <a:rPr lang="en-US" sz="1000" b="1" dirty="0">
                <a:solidFill>
                  <a:srgbClr val="0B6E6E"/>
                </a:solidFill>
                <a:latin typeface="Meiryo" pitchFamily="34" charset="0"/>
                <a:ea typeface="Meiryo" pitchFamily="34" charset="-122"/>
                <a:cs typeface="Meiryo" pitchFamily="34" charset="-120"/>
              </a:rPr>
              <a:t>しくみ</a:t>
            </a:r>
            <a:endParaRPr lang="en-US" sz="1000" dirty="0"/>
          </a:p>
        </p:txBody>
      </p:sp>
      <p:sp>
        <p:nvSpPr>
          <p:cNvPr id="4" name="Text 2"/>
          <p:cNvSpPr txBox="1"/>
          <p:nvPr/>
        </p:nvSpPr>
        <p:spPr>
          <a:xfrm>
            <a:off x="457200" y="603504"/>
            <a:ext cx="8229600" cy="502920"/>
          </a:xfrm>
          <a:prstGeom prst="rect">
            <a:avLst/>
          </a:prstGeom>
          <a:noFill/>
          <a:ln/>
        </p:spPr>
        <p:txBody>
          <a:bodyPr wrap="square" lIns="0" tIns="0" rIns="0" bIns="0" rtlCol="0" anchor="ctr"/>
          <a:lstStyle/>
          <a:p>
            <a:pPr indent="0" marL="0">
              <a:buNone/>
            </a:pPr>
            <a:r>
              <a:rPr lang="en-US" sz="2400" b="1" dirty="0">
                <a:solidFill>
                  <a:srgbClr val="1E2A30"/>
                </a:solidFill>
                <a:latin typeface="Meiryo" pitchFamily="34" charset="0"/>
                <a:ea typeface="Meiryo" pitchFamily="34" charset="-122"/>
                <a:cs typeface="Meiryo" pitchFamily="34" charset="-120"/>
              </a:rPr>
              <a:t>AI と人の分担：2つの使い方</a:t>
            </a:r>
            <a:endParaRPr lang="en-US" sz="2400" dirty="0"/>
          </a:p>
        </p:txBody>
      </p:sp>
      <p:sp>
        <p:nvSpPr>
          <p:cNvPr id="5" name="Text 3"/>
          <p:cNvSpPr txBox="1"/>
          <p:nvPr/>
        </p:nvSpPr>
        <p:spPr>
          <a:xfrm>
            <a:off x="7955280" y="4773168"/>
            <a:ext cx="731520" cy="228600"/>
          </a:xfrm>
          <a:prstGeom prst="rect">
            <a:avLst/>
          </a:prstGeom>
          <a:noFill/>
          <a:ln/>
        </p:spPr>
        <p:txBody>
          <a:bodyPr wrap="square" lIns="0" tIns="0" rIns="0" bIns="0" rtlCol="0" anchor="t"/>
          <a:lstStyle/>
          <a:p>
            <a:pPr algn="r" indent="0" marL="0">
              <a:buNone/>
            </a:pPr>
            <a:r>
              <a:rPr lang="en-US" sz="900" dirty="0">
                <a:solidFill>
                  <a:srgbClr val="5B6870"/>
                </a:solidFill>
                <a:latin typeface="Meiryo" pitchFamily="34" charset="0"/>
                <a:ea typeface="Meiryo" pitchFamily="34" charset="-122"/>
                <a:cs typeface="Meiryo" pitchFamily="34" charset="-120"/>
              </a:rPr>
              <a:t>4 / 17</a:t>
            </a:r>
            <a:endParaRPr lang="en-US" sz="900" dirty="0"/>
          </a:p>
        </p:txBody>
      </p:sp>
      <p:sp>
        <p:nvSpPr>
          <p:cNvPr id="6" name="Shape 4"/>
          <p:cNvSpPr/>
          <p:nvPr/>
        </p:nvSpPr>
        <p:spPr>
          <a:xfrm>
            <a:off x="2103120" y="1234440"/>
            <a:ext cx="1271016" cy="310896"/>
          </a:xfrm>
          <a:prstGeom prst="roundRect">
            <a:avLst>
              <a:gd name="adj" fmla="val 50000"/>
            </a:avLst>
          </a:prstGeom>
          <a:solidFill>
            <a:srgbClr val="F3F6F7"/>
          </a:solidFill>
          <a:ln w="9525">
            <a:solidFill>
              <a:srgbClr val="F3F6F7"/>
            </a:solidFill>
            <a:prstDash val="solid"/>
          </a:ln>
        </p:spPr>
      </p:sp>
      <p:sp>
        <p:nvSpPr>
          <p:cNvPr id="7" name="Text 5"/>
          <p:cNvSpPr txBox="1"/>
          <p:nvPr/>
        </p:nvSpPr>
        <p:spPr>
          <a:xfrm>
            <a:off x="2103120" y="1234440"/>
            <a:ext cx="1271016" cy="310896"/>
          </a:xfrm>
          <a:prstGeom prst="rect">
            <a:avLst/>
          </a:prstGeom>
          <a:noFill/>
          <a:ln/>
        </p:spPr>
        <p:txBody>
          <a:bodyPr wrap="square" lIns="0" tIns="0" rIns="0" bIns="0" rtlCol="0" anchor="ctr"/>
          <a:lstStyle/>
          <a:p>
            <a:pPr algn="ctr" indent="0" marL="0">
              <a:buNone/>
            </a:pPr>
            <a:r>
              <a:rPr lang="en-US" sz="1100" b="1" dirty="0">
                <a:solidFill>
                  <a:srgbClr val="5B6870"/>
                </a:solidFill>
                <a:latin typeface="Meiryo" pitchFamily="34" charset="0"/>
                <a:ea typeface="Meiryo" pitchFamily="34" charset="-122"/>
                <a:cs typeface="Meiryo" pitchFamily="34" charset="-120"/>
              </a:rPr>
              <a:t>受付</a:t>
            </a:r>
            <a:endParaRPr lang="en-US" sz="1100" dirty="0"/>
          </a:p>
        </p:txBody>
      </p:sp>
      <p:sp>
        <p:nvSpPr>
          <p:cNvPr id="8" name="Shape 6"/>
          <p:cNvSpPr/>
          <p:nvPr/>
        </p:nvSpPr>
        <p:spPr>
          <a:xfrm>
            <a:off x="3419856" y="1234440"/>
            <a:ext cx="1271016" cy="310896"/>
          </a:xfrm>
          <a:prstGeom prst="roundRect">
            <a:avLst>
              <a:gd name="adj" fmla="val 50000"/>
            </a:avLst>
          </a:prstGeom>
          <a:solidFill>
            <a:srgbClr val="F3F6F7"/>
          </a:solidFill>
          <a:ln w="9525">
            <a:solidFill>
              <a:srgbClr val="F3F6F7"/>
            </a:solidFill>
            <a:prstDash val="solid"/>
          </a:ln>
        </p:spPr>
      </p:sp>
      <p:sp>
        <p:nvSpPr>
          <p:cNvPr id="9" name="Text 7"/>
          <p:cNvSpPr txBox="1"/>
          <p:nvPr/>
        </p:nvSpPr>
        <p:spPr>
          <a:xfrm>
            <a:off x="3419856" y="1234440"/>
            <a:ext cx="1271016" cy="310896"/>
          </a:xfrm>
          <a:prstGeom prst="rect">
            <a:avLst/>
          </a:prstGeom>
          <a:noFill/>
          <a:ln/>
        </p:spPr>
        <p:txBody>
          <a:bodyPr wrap="square" lIns="0" tIns="0" rIns="0" bIns="0" rtlCol="0" anchor="ctr"/>
          <a:lstStyle/>
          <a:p>
            <a:pPr algn="ctr" indent="0" marL="0">
              <a:buNone/>
            </a:pPr>
            <a:r>
              <a:rPr lang="en-US" sz="1100" b="1" dirty="0">
                <a:solidFill>
                  <a:srgbClr val="5B6870"/>
                </a:solidFill>
                <a:latin typeface="Meiryo" pitchFamily="34" charset="0"/>
                <a:ea typeface="Meiryo" pitchFamily="34" charset="-122"/>
                <a:cs typeface="Meiryo" pitchFamily="34" charset="-120"/>
              </a:rPr>
              <a:t>用件の説明</a:t>
            </a:r>
            <a:endParaRPr lang="en-US" sz="1100" dirty="0"/>
          </a:p>
        </p:txBody>
      </p:sp>
      <p:sp>
        <p:nvSpPr>
          <p:cNvPr id="10" name="Shape 8"/>
          <p:cNvSpPr/>
          <p:nvPr/>
        </p:nvSpPr>
        <p:spPr>
          <a:xfrm>
            <a:off x="4736592" y="1234440"/>
            <a:ext cx="1271016" cy="310896"/>
          </a:xfrm>
          <a:prstGeom prst="roundRect">
            <a:avLst>
              <a:gd name="adj" fmla="val 50000"/>
            </a:avLst>
          </a:prstGeom>
          <a:solidFill>
            <a:srgbClr val="F3F6F7"/>
          </a:solidFill>
          <a:ln w="9525">
            <a:solidFill>
              <a:srgbClr val="F3F6F7"/>
            </a:solidFill>
            <a:prstDash val="solid"/>
          </a:ln>
        </p:spPr>
      </p:sp>
      <p:sp>
        <p:nvSpPr>
          <p:cNvPr id="11" name="Text 9"/>
          <p:cNvSpPr txBox="1"/>
          <p:nvPr/>
        </p:nvSpPr>
        <p:spPr>
          <a:xfrm>
            <a:off x="4736592" y="1234440"/>
            <a:ext cx="1271016" cy="310896"/>
          </a:xfrm>
          <a:prstGeom prst="rect">
            <a:avLst/>
          </a:prstGeom>
          <a:noFill/>
          <a:ln/>
        </p:spPr>
        <p:txBody>
          <a:bodyPr wrap="square" lIns="0" tIns="0" rIns="0" bIns="0" rtlCol="0" anchor="ctr"/>
          <a:lstStyle/>
          <a:p>
            <a:pPr algn="ctr" indent="0" marL="0">
              <a:buNone/>
            </a:pPr>
            <a:r>
              <a:rPr lang="en-US" sz="1100" b="1" dirty="0">
                <a:solidFill>
                  <a:srgbClr val="5B6870"/>
                </a:solidFill>
                <a:latin typeface="Meiryo" pitchFamily="34" charset="0"/>
                <a:ea typeface="Meiryo" pitchFamily="34" charset="-122"/>
                <a:cs typeface="Meiryo" pitchFamily="34" charset="-120"/>
              </a:rPr>
              <a:t>日程を決める</a:t>
            </a:r>
            <a:endParaRPr lang="en-US" sz="1100" dirty="0"/>
          </a:p>
        </p:txBody>
      </p:sp>
      <p:sp>
        <p:nvSpPr>
          <p:cNvPr id="12" name="Shape 10"/>
          <p:cNvSpPr/>
          <p:nvPr/>
        </p:nvSpPr>
        <p:spPr>
          <a:xfrm>
            <a:off x="6053328" y="1234440"/>
            <a:ext cx="1271016" cy="310896"/>
          </a:xfrm>
          <a:prstGeom prst="roundRect">
            <a:avLst>
              <a:gd name="adj" fmla="val 50000"/>
            </a:avLst>
          </a:prstGeom>
          <a:solidFill>
            <a:srgbClr val="F3F6F7"/>
          </a:solidFill>
          <a:ln w="9525">
            <a:solidFill>
              <a:srgbClr val="F3F6F7"/>
            </a:solidFill>
            <a:prstDash val="solid"/>
          </a:ln>
        </p:spPr>
      </p:sp>
      <p:sp>
        <p:nvSpPr>
          <p:cNvPr id="13" name="Text 11"/>
          <p:cNvSpPr txBox="1"/>
          <p:nvPr/>
        </p:nvSpPr>
        <p:spPr>
          <a:xfrm>
            <a:off x="6053328" y="1234440"/>
            <a:ext cx="1271016" cy="310896"/>
          </a:xfrm>
          <a:prstGeom prst="rect">
            <a:avLst/>
          </a:prstGeom>
          <a:noFill/>
          <a:ln/>
        </p:spPr>
        <p:txBody>
          <a:bodyPr wrap="square" lIns="0" tIns="0" rIns="0" bIns="0" rtlCol="0" anchor="ctr"/>
          <a:lstStyle/>
          <a:p>
            <a:pPr algn="ctr" indent="0" marL="0">
              <a:buNone/>
            </a:pPr>
            <a:r>
              <a:rPr lang="en-US" sz="1100" b="1" dirty="0">
                <a:solidFill>
                  <a:srgbClr val="5B6870"/>
                </a:solidFill>
                <a:latin typeface="Meiryo" pitchFamily="34" charset="0"/>
                <a:ea typeface="Meiryo" pitchFamily="34" charset="-122"/>
                <a:cs typeface="Meiryo" pitchFamily="34" charset="-120"/>
              </a:rPr>
              <a:t>聞き取り</a:t>
            </a:r>
            <a:endParaRPr lang="en-US" sz="1100" dirty="0"/>
          </a:p>
        </p:txBody>
      </p:sp>
      <p:sp>
        <p:nvSpPr>
          <p:cNvPr id="14" name="Shape 12"/>
          <p:cNvSpPr/>
          <p:nvPr/>
        </p:nvSpPr>
        <p:spPr>
          <a:xfrm>
            <a:off x="7370064" y="1234440"/>
            <a:ext cx="1271016" cy="310896"/>
          </a:xfrm>
          <a:prstGeom prst="roundRect">
            <a:avLst>
              <a:gd name="adj" fmla="val 50000"/>
            </a:avLst>
          </a:prstGeom>
          <a:solidFill>
            <a:srgbClr val="F3F6F7"/>
          </a:solidFill>
          <a:ln w="9525">
            <a:solidFill>
              <a:srgbClr val="F3F6F7"/>
            </a:solidFill>
            <a:prstDash val="solid"/>
          </a:ln>
        </p:spPr>
      </p:sp>
      <p:sp>
        <p:nvSpPr>
          <p:cNvPr id="15" name="Text 13"/>
          <p:cNvSpPr txBox="1"/>
          <p:nvPr/>
        </p:nvSpPr>
        <p:spPr>
          <a:xfrm>
            <a:off x="7370064" y="1234440"/>
            <a:ext cx="1271016" cy="310896"/>
          </a:xfrm>
          <a:prstGeom prst="rect">
            <a:avLst/>
          </a:prstGeom>
          <a:noFill/>
          <a:ln/>
        </p:spPr>
        <p:txBody>
          <a:bodyPr wrap="square" lIns="0" tIns="0" rIns="0" bIns="0" rtlCol="0" anchor="ctr"/>
          <a:lstStyle/>
          <a:p>
            <a:pPr algn="ctr" indent="0" marL="0">
              <a:buNone/>
            </a:pPr>
            <a:r>
              <a:rPr lang="en-US" sz="1100" b="1" dirty="0">
                <a:solidFill>
                  <a:srgbClr val="5B6870"/>
                </a:solidFill>
                <a:latin typeface="Meiryo" pitchFamily="34" charset="0"/>
                <a:ea typeface="Meiryo" pitchFamily="34" charset="-122"/>
                <a:cs typeface="Meiryo" pitchFamily="34" charset="-120"/>
              </a:rPr>
              <a:t>商談本番</a:t>
            </a:r>
            <a:endParaRPr lang="en-US" sz="1100" dirty="0"/>
          </a:p>
        </p:txBody>
      </p:sp>
      <p:sp>
        <p:nvSpPr>
          <p:cNvPr id="16" name="Shape 14"/>
          <p:cNvSpPr/>
          <p:nvPr/>
        </p:nvSpPr>
        <p:spPr>
          <a:xfrm>
            <a:off x="457200" y="1691640"/>
            <a:ext cx="1508760" cy="777240"/>
          </a:xfrm>
          <a:prstGeom prst="roundRect">
            <a:avLst>
              <a:gd name="adj" fmla="val 9412"/>
            </a:avLst>
          </a:prstGeom>
          <a:solidFill>
            <a:srgbClr val="FFFFFF"/>
          </a:solidFill>
          <a:ln w="9525">
            <a:solidFill>
              <a:srgbClr val="D5DDE0"/>
            </a:solidFill>
            <a:prstDash val="solid"/>
          </a:ln>
        </p:spPr>
      </p:sp>
      <p:sp>
        <p:nvSpPr>
          <p:cNvPr id="17" name="Text 15"/>
          <p:cNvSpPr txBox="1"/>
          <p:nvPr/>
        </p:nvSpPr>
        <p:spPr>
          <a:xfrm>
            <a:off x="457200" y="1691640"/>
            <a:ext cx="1508760" cy="777240"/>
          </a:xfrm>
          <a:prstGeom prst="rect">
            <a:avLst/>
          </a:prstGeom>
          <a:noFill/>
          <a:ln/>
        </p:spPr>
        <p:txBody>
          <a:bodyPr wrap="square" lIns="0" tIns="0" rIns="0" bIns="0" rtlCol="0" anchor="ctr"/>
          <a:lstStyle/>
          <a:p>
            <a:pPr algn="ctr" indent="0" marL="0">
              <a:buNone/>
            </a:pPr>
            <a:r>
              <a:rPr lang="en-US" sz="1300" b="1" dirty="0">
                <a:solidFill>
                  <a:srgbClr val="1E2A30"/>
                </a:solidFill>
                <a:latin typeface="Meiryo" pitchFamily="34" charset="0"/>
                <a:ea typeface="Meiryo" pitchFamily="34" charset="-122"/>
                <a:cs typeface="Meiryo" pitchFamily="34" charset="-120"/>
              </a:rPr>
              <a:t>タイプA</a:t>
            </a:r>
            <a:endParaRPr lang="en-US" sz="1300" dirty="0"/>
          </a:p>
          <a:p>
            <a:pPr algn="ctr" indent="0" marL="0">
              <a:buNone/>
            </a:pPr>
            <a:r>
              <a:rPr lang="en-US" sz="1300" b="1" dirty="0">
                <a:solidFill>
                  <a:srgbClr val="1E2A30"/>
                </a:solidFill>
                <a:latin typeface="Meiryo" pitchFamily="34" charset="0"/>
                <a:ea typeface="Meiryo" pitchFamily="34" charset="-122"/>
                <a:cs typeface="Meiryo" pitchFamily="34" charset="-120"/>
              </a:rPr>
              <a:t>アポ獲得</a:t>
            </a:r>
            <a:endParaRPr lang="en-US" sz="1300" dirty="0"/>
          </a:p>
        </p:txBody>
      </p:sp>
      <p:sp>
        <p:nvSpPr>
          <p:cNvPr id="18" name="Shape 16"/>
          <p:cNvSpPr/>
          <p:nvPr/>
        </p:nvSpPr>
        <p:spPr>
          <a:xfrm>
            <a:off x="2103120" y="1691640"/>
            <a:ext cx="5221224" cy="777240"/>
          </a:xfrm>
          <a:prstGeom prst="roundRect">
            <a:avLst>
              <a:gd name="adj" fmla="val 9412"/>
            </a:avLst>
          </a:prstGeom>
          <a:solidFill>
            <a:srgbClr val="0B6E6E"/>
          </a:solidFill>
          <a:ln w="9525">
            <a:solidFill>
              <a:srgbClr val="0B6E6E"/>
            </a:solidFill>
            <a:prstDash val="solid"/>
          </a:ln>
        </p:spPr>
      </p:sp>
      <p:pic>
        <p:nvPicPr>
          <p:cNvPr id="19" name="Image 0" descr="preencoded.png">    </p:cNvPr>
          <p:cNvPicPr>
            <a:picLocks noChangeAspect="1"/>
          </p:cNvPicPr>
          <p:nvPr/>
        </p:nvPicPr>
        <p:blipFill>
          <a:blip r:embed="rId1"/>
          <a:stretch>
            <a:fillRect/>
          </a:stretch>
        </p:blipFill>
        <p:spPr>
          <a:xfrm>
            <a:off x="2286000" y="1874520"/>
            <a:ext cx="411480" cy="411480"/>
          </a:xfrm>
          <a:prstGeom prst="rect">
            <a:avLst/>
          </a:prstGeom>
        </p:spPr>
      </p:pic>
      <p:sp>
        <p:nvSpPr>
          <p:cNvPr id="20" name="Text 17"/>
          <p:cNvSpPr txBox="1"/>
          <p:nvPr/>
        </p:nvSpPr>
        <p:spPr>
          <a:xfrm>
            <a:off x="2834640" y="1691640"/>
            <a:ext cx="2743200" cy="777240"/>
          </a:xfrm>
          <a:prstGeom prst="rect">
            <a:avLst/>
          </a:prstGeom>
          <a:noFill/>
          <a:ln/>
        </p:spPr>
        <p:txBody>
          <a:bodyPr wrap="square" lIns="0" tIns="0" rIns="0" bIns="0" rtlCol="0" anchor="ctr"/>
          <a:lstStyle/>
          <a:p>
            <a:pPr indent="0" marL="0">
              <a:buNone/>
            </a:pPr>
            <a:r>
              <a:rPr lang="en-US" sz="1500" b="1" dirty="0">
                <a:solidFill>
                  <a:srgbClr val="FFFFFF"/>
                </a:solidFill>
                <a:latin typeface="Meiryo" pitchFamily="34" charset="0"/>
                <a:ea typeface="Meiryo" pitchFamily="34" charset="-122"/>
                <a:cs typeface="Meiryo" pitchFamily="34" charset="-120"/>
              </a:rPr>
              <a:t>AI が担当</a:t>
            </a:r>
            <a:endParaRPr lang="en-US" sz="1500" dirty="0"/>
          </a:p>
        </p:txBody>
      </p:sp>
      <p:sp>
        <p:nvSpPr>
          <p:cNvPr id="21" name="Shape 18"/>
          <p:cNvSpPr/>
          <p:nvPr/>
        </p:nvSpPr>
        <p:spPr>
          <a:xfrm>
            <a:off x="7370064" y="1691640"/>
            <a:ext cx="1271016" cy="777240"/>
          </a:xfrm>
          <a:prstGeom prst="roundRect">
            <a:avLst>
              <a:gd name="adj" fmla="val 9412"/>
            </a:avLst>
          </a:prstGeom>
          <a:solidFill>
            <a:srgbClr val="D98A1E"/>
          </a:solidFill>
          <a:ln w="9525">
            <a:solidFill>
              <a:srgbClr val="D98A1E"/>
            </a:solidFill>
            <a:prstDash val="solid"/>
          </a:ln>
        </p:spPr>
      </p:sp>
      <p:sp>
        <p:nvSpPr>
          <p:cNvPr id="22" name="Text 19"/>
          <p:cNvSpPr txBox="1"/>
          <p:nvPr/>
        </p:nvSpPr>
        <p:spPr>
          <a:xfrm>
            <a:off x="7370064" y="1691640"/>
            <a:ext cx="1271016" cy="777240"/>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人が担当</a:t>
            </a:r>
            <a:endParaRPr lang="en-US" sz="1250" dirty="0"/>
          </a:p>
        </p:txBody>
      </p:sp>
      <p:sp>
        <p:nvSpPr>
          <p:cNvPr id="23" name="Text 20"/>
          <p:cNvSpPr txBox="1"/>
          <p:nvPr/>
        </p:nvSpPr>
        <p:spPr>
          <a:xfrm>
            <a:off x="2103120" y="2523744"/>
            <a:ext cx="6583680" cy="274320"/>
          </a:xfrm>
          <a:prstGeom prst="rect">
            <a:avLst/>
          </a:prstGeom>
          <a:noFill/>
          <a:ln/>
        </p:spPr>
        <p:txBody>
          <a:bodyPr wrap="square" lIns="0" tIns="0" rIns="0" bIns="0" rtlCol="0" anchor="t"/>
          <a:lstStyle/>
          <a:p>
            <a:pPr indent="0" marL="0">
              <a:buNone/>
            </a:pPr>
            <a:r>
              <a:rPr lang="en-US" sz="1100" dirty="0">
                <a:solidFill>
                  <a:srgbClr val="5B6870"/>
                </a:solidFill>
                <a:latin typeface="Meiryo" pitchFamily="34" charset="0"/>
                <a:ea typeface="Meiryo" pitchFamily="34" charset="-122"/>
                <a:cs typeface="Meiryo" pitchFamily="34" charset="-120"/>
              </a:rPr>
              <a:t>AI が予約と聞き取りまで終わらせ、人は商談本番に集中できる</a:t>
            </a:r>
            <a:endParaRPr lang="en-US" sz="1100" dirty="0"/>
          </a:p>
        </p:txBody>
      </p:sp>
      <p:sp>
        <p:nvSpPr>
          <p:cNvPr id="24" name="Shape 21"/>
          <p:cNvSpPr/>
          <p:nvPr/>
        </p:nvSpPr>
        <p:spPr>
          <a:xfrm>
            <a:off x="457200" y="3017520"/>
            <a:ext cx="1508760" cy="777240"/>
          </a:xfrm>
          <a:prstGeom prst="roundRect">
            <a:avLst>
              <a:gd name="adj" fmla="val 9412"/>
            </a:avLst>
          </a:prstGeom>
          <a:solidFill>
            <a:srgbClr val="FFFFFF"/>
          </a:solidFill>
          <a:ln w="9525">
            <a:solidFill>
              <a:srgbClr val="D5DDE0"/>
            </a:solidFill>
            <a:prstDash val="solid"/>
          </a:ln>
        </p:spPr>
      </p:sp>
      <p:sp>
        <p:nvSpPr>
          <p:cNvPr id="25" name="Text 22"/>
          <p:cNvSpPr txBox="1"/>
          <p:nvPr/>
        </p:nvSpPr>
        <p:spPr>
          <a:xfrm>
            <a:off x="457200" y="3017520"/>
            <a:ext cx="1508760" cy="777240"/>
          </a:xfrm>
          <a:prstGeom prst="rect">
            <a:avLst/>
          </a:prstGeom>
          <a:noFill/>
          <a:ln/>
        </p:spPr>
        <p:txBody>
          <a:bodyPr wrap="square" lIns="0" tIns="0" rIns="0" bIns="0" rtlCol="0" anchor="ctr"/>
          <a:lstStyle/>
          <a:p>
            <a:pPr algn="ctr" indent="0" marL="0">
              <a:buNone/>
            </a:pPr>
            <a:r>
              <a:rPr lang="en-US" sz="1300" b="1" dirty="0">
                <a:solidFill>
                  <a:srgbClr val="1E2A30"/>
                </a:solidFill>
                <a:latin typeface="Meiryo" pitchFamily="34" charset="0"/>
                <a:ea typeface="Meiryo" pitchFamily="34" charset="-122"/>
                <a:cs typeface="Meiryo" pitchFamily="34" charset="-120"/>
              </a:rPr>
              <a:t>タイプB</a:t>
            </a:r>
            <a:endParaRPr lang="en-US" sz="1300" dirty="0"/>
          </a:p>
          <a:p>
            <a:pPr algn="ctr" indent="0" marL="0">
              <a:buNone/>
            </a:pPr>
            <a:r>
              <a:rPr lang="en-US" sz="1300" b="1" dirty="0">
                <a:solidFill>
                  <a:srgbClr val="1E2A30"/>
                </a:solidFill>
                <a:latin typeface="Meiryo" pitchFamily="34" charset="0"/>
                <a:ea typeface="Meiryo" pitchFamily="34" charset="-122"/>
                <a:cs typeface="Meiryo" pitchFamily="34" charset="-120"/>
              </a:rPr>
              <a:t>受付突破</a:t>
            </a:r>
            <a:endParaRPr lang="en-US" sz="1300" dirty="0"/>
          </a:p>
        </p:txBody>
      </p:sp>
      <p:sp>
        <p:nvSpPr>
          <p:cNvPr id="26" name="Shape 23"/>
          <p:cNvSpPr/>
          <p:nvPr/>
        </p:nvSpPr>
        <p:spPr>
          <a:xfrm>
            <a:off x="2103120" y="3017520"/>
            <a:ext cx="1271016" cy="777240"/>
          </a:xfrm>
          <a:prstGeom prst="roundRect">
            <a:avLst>
              <a:gd name="adj" fmla="val 9412"/>
            </a:avLst>
          </a:prstGeom>
          <a:solidFill>
            <a:srgbClr val="0B6E6E"/>
          </a:solidFill>
          <a:ln w="9525">
            <a:solidFill>
              <a:srgbClr val="0B6E6E"/>
            </a:solidFill>
            <a:prstDash val="solid"/>
          </a:ln>
        </p:spPr>
      </p:sp>
      <p:sp>
        <p:nvSpPr>
          <p:cNvPr id="27" name="Text 24"/>
          <p:cNvSpPr txBox="1"/>
          <p:nvPr/>
        </p:nvSpPr>
        <p:spPr>
          <a:xfrm>
            <a:off x="2103120" y="3017520"/>
            <a:ext cx="1271016" cy="77724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AI</a:t>
            </a:r>
            <a:endParaRPr lang="en-US" sz="1500" dirty="0"/>
          </a:p>
        </p:txBody>
      </p:sp>
      <p:sp>
        <p:nvSpPr>
          <p:cNvPr id="28" name="Shape 25"/>
          <p:cNvSpPr/>
          <p:nvPr/>
        </p:nvSpPr>
        <p:spPr>
          <a:xfrm>
            <a:off x="3419856" y="3017520"/>
            <a:ext cx="5221224" cy="777240"/>
          </a:xfrm>
          <a:prstGeom prst="roundRect">
            <a:avLst>
              <a:gd name="adj" fmla="val 9412"/>
            </a:avLst>
          </a:prstGeom>
          <a:solidFill>
            <a:srgbClr val="D98A1E"/>
          </a:solidFill>
          <a:ln w="9525">
            <a:solidFill>
              <a:srgbClr val="D98A1E"/>
            </a:solidFill>
            <a:prstDash val="solid"/>
          </a:ln>
        </p:spPr>
      </p:sp>
      <p:pic>
        <p:nvPicPr>
          <p:cNvPr id="29" name="Image 1" descr="preencoded.png">    </p:cNvPr>
          <p:cNvPicPr>
            <a:picLocks noChangeAspect="1"/>
          </p:cNvPicPr>
          <p:nvPr/>
        </p:nvPicPr>
        <p:blipFill>
          <a:blip r:embed="rId2"/>
          <a:stretch>
            <a:fillRect/>
          </a:stretch>
        </p:blipFill>
        <p:spPr>
          <a:xfrm>
            <a:off x="3602736" y="3200400"/>
            <a:ext cx="411480" cy="411480"/>
          </a:xfrm>
          <a:prstGeom prst="rect">
            <a:avLst/>
          </a:prstGeom>
        </p:spPr>
      </p:pic>
      <p:sp>
        <p:nvSpPr>
          <p:cNvPr id="30" name="Text 26"/>
          <p:cNvSpPr txBox="1"/>
          <p:nvPr/>
        </p:nvSpPr>
        <p:spPr>
          <a:xfrm>
            <a:off x="4151376" y="3017520"/>
            <a:ext cx="4114800" cy="777240"/>
          </a:xfrm>
          <a:prstGeom prst="rect">
            <a:avLst/>
          </a:prstGeom>
          <a:noFill/>
          <a:ln/>
        </p:spPr>
        <p:txBody>
          <a:bodyPr wrap="square" lIns="0" tIns="0" rIns="0" bIns="0" rtlCol="0" anchor="ctr"/>
          <a:lstStyle/>
          <a:p>
            <a:pPr indent="0" marL="0">
              <a:buNone/>
            </a:pPr>
            <a:r>
              <a:rPr lang="en-US" sz="1500" b="1" dirty="0">
                <a:solidFill>
                  <a:srgbClr val="FFFFFF"/>
                </a:solidFill>
                <a:latin typeface="Meiryo" pitchFamily="34" charset="0"/>
                <a:ea typeface="Meiryo" pitchFamily="34" charset="-122"/>
                <a:cs typeface="Meiryo" pitchFamily="34" charset="-120"/>
              </a:rPr>
              <a:t>人（オペレーター）が担当</a:t>
            </a:r>
            <a:endParaRPr lang="en-US" sz="1500" dirty="0"/>
          </a:p>
        </p:txBody>
      </p:sp>
      <p:sp>
        <p:nvSpPr>
          <p:cNvPr id="31" name="Text 27"/>
          <p:cNvSpPr txBox="1"/>
          <p:nvPr/>
        </p:nvSpPr>
        <p:spPr>
          <a:xfrm>
            <a:off x="2103120" y="3849624"/>
            <a:ext cx="6583680" cy="274320"/>
          </a:xfrm>
          <a:prstGeom prst="rect">
            <a:avLst/>
          </a:prstGeom>
          <a:noFill/>
          <a:ln/>
        </p:spPr>
        <p:txBody>
          <a:bodyPr wrap="square" lIns="0" tIns="0" rIns="0" bIns="0" rtlCol="0" anchor="t"/>
          <a:lstStyle/>
          <a:p>
            <a:pPr indent="0" marL="0">
              <a:buNone/>
            </a:pPr>
            <a:r>
              <a:rPr lang="en-US" sz="1100" dirty="0">
                <a:solidFill>
                  <a:srgbClr val="5B6870"/>
                </a:solidFill>
                <a:latin typeface="Meiryo" pitchFamily="34" charset="0"/>
                <a:ea typeface="Meiryo" pitchFamily="34" charset="-122"/>
                <a:cs typeface="Meiryo" pitchFamily="34" charset="-120"/>
              </a:rPr>
              <a:t>AI は受付の突破だけ。担当者につながった瞬間に人へバトンタッチ</a:t>
            </a:r>
            <a:endParaRPr lang="en-US" sz="1100" dirty="0"/>
          </a:p>
        </p:txBody>
      </p:sp>
      <p:sp>
        <p:nvSpPr>
          <p:cNvPr id="32" name="Shape 28"/>
          <p:cNvSpPr/>
          <p:nvPr/>
        </p:nvSpPr>
        <p:spPr>
          <a:xfrm>
            <a:off x="457200" y="4251960"/>
            <a:ext cx="8229600" cy="411480"/>
          </a:xfrm>
          <a:prstGeom prst="roundRect">
            <a:avLst>
              <a:gd name="adj" fmla="val 17778"/>
            </a:avLst>
          </a:prstGeom>
          <a:solidFill>
            <a:srgbClr val="F3F6F7"/>
          </a:solidFill>
          <a:ln w="9525">
            <a:solidFill>
              <a:srgbClr val="F3F6F7"/>
            </a:solidFill>
            <a:prstDash val="solid"/>
          </a:ln>
        </p:spPr>
      </p:sp>
      <p:pic>
        <p:nvPicPr>
          <p:cNvPr id="33" name="Image 2" descr="preencoded.png">    </p:cNvPr>
          <p:cNvPicPr>
            <a:picLocks noChangeAspect="1"/>
          </p:cNvPicPr>
          <p:nvPr/>
        </p:nvPicPr>
        <p:blipFill>
          <a:blip r:embed="rId3"/>
          <a:stretch>
            <a:fillRect/>
          </a:stretch>
        </p:blipFill>
        <p:spPr>
          <a:xfrm>
            <a:off x="640080" y="4315968"/>
            <a:ext cx="274320" cy="274320"/>
          </a:xfrm>
          <a:prstGeom prst="rect">
            <a:avLst/>
          </a:prstGeom>
        </p:spPr>
      </p:pic>
      <p:sp>
        <p:nvSpPr>
          <p:cNvPr id="34" name="Text 29"/>
          <p:cNvSpPr txBox="1"/>
          <p:nvPr/>
        </p:nvSpPr>
        <p:spPr>
          <a:xfrm>
            <a:off x="1051560" y="4251960"/>
            <a:ext cx="7315200" cy="411480"/>
          </a:xfrm>
          <a:prstGeom prst="rect">
            <a:avLst/>
          </a:prstGeom>
          <a:noFill/>
          <a:ln/>
        </p:spPr>
        <p:txBody>
          <a:bodyPr wrap="square" lIns="0" tIns="0" rIns="0" bIns="0" rtlCol="0" anchor="ctr"/>
          <a:lstStyle/>
          <a:p>
            <a:pPr indent="0" marL="0">
              <a:buNone/>
            </a:pPr>
            <a:r>
              <a:rPr lang="en-US" sz="1150" dirty="0">
                <a:solidFill>
                  <a:srgbClr val="1E2A30"/>
                </a:solidFill>
                <a:latin typeface="Meiryo" pitchFamily="34" charset="0"/>
                <a:ea typeface="Meiryo" pitchFamily="34" charset="-122"/>
                <a:cs typeface="Meiryo" pitchFamily="34" charset="-120"/>
              </a:rPr>
              <a:t>タイプA・B は、画面のボタン1つで切り替えられます</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685800" cy="256032"/>
          </a:xfrm>
          <a:prstGeom prst="roundRect">
            <a:avLst>
              <a:gd name="adj" fmla="val 50000"/>
            </a:avLst>
          </a:prstGeom>
          <a:solidFill>
            <a:srgbClr val="E3F3F2"/>
          </a:solidFill>
          <a:ln w="9525">
            <a:solidFill>
              <a:srgbClr val="E3F3F2"/>
            </a:solidFill>
            <a:prstDash val="solid"/>
          </a:ln>
        </p:spPr>
      </p:sp>
      <p:sp>
        <p:nvSpPr>
          <p:cNvPr id="3" name="Text 1"/>
          <p:cNvSpPr txBox="1"/>
          <p:nvPr/>
        </p:nvSpPr>
        <p:spPr>
          <a:xfrm>
            <a:off x="457200" y="310896"/>
            <a:ext cx="685800" cy="256032"/>
          </a:xfrm>
          <a:prstGeom prst="rect">
            <a:avLst/>
          </a:prstGeom>
          <a:noFill/>
          <a:ln/>
        </p:spPr>
        <p:txBody>
          <a:bodyPr wrap="square" lIns="0" tIns="0" rIns="0" bIns="0" rtlCol="0" anchor="ctr"/>
          <a:lstStyle/>
          <a:p>
            <a:pPr algn="ctr" indent="0" marL="0">
              <a:buNone/>
            </a:pPr>
            <a:r>
              <a:rPr lang="en-US" sz="1000" b="1" dirty="0">
                <a:solidFill>
                  <a:srgbClr val="0B6E6E"/>
                </a:solidFill>
                <a:latin typeface="Meiryo" pitchFamily="34" charset="0"/>
                <a:ea typeface="Meiryo" pitchFamily="34" charset="-122"/>
                <a:cs typeface="Meiryo" pitchFamily="34" charset="-120"/>
              </a:rPr>
              <a:t>しくみ</a:t>
            </a:r>
            <a:endParaRPr lang="en-US" sz="1000" dirty="0"/>
          </a:p>
        </p:txBody>
      </p:sp>
      <p:sp>
        <p:nvSpPr>
          <p:cNvPr id="4" name="Text 2"/>
          <p:cNvSpPr txBox="1"/>
          <p:nvPr/>
        </p:nvSpPr>
        <p:spPr>
          <a:xfrm>
            <a:off x="457200" y="603504"/>
            <a:ext cx="8229600" cy="502920"/>
          </a:xfrm>
          <a:prstGeom prst="rect">
            <a:avLst/>
          </a:prstGeom>
          <a:noFill/>
          <a:ln/>
        </p:spPr>
        <p:txBody>
          <a:bodyPr wrap="square" lIns="0" tIns="0" rIns="0" bIns="0" rtlCol="0" anchor="ctr"/>
          <a:lstStyle/>
          <a:p>
            <a:pPr indent="0" marL="0">
              <a:buNone/>
            </a:pPr>
            <a:r>
              <a:rPr lang="en-US" sz="2400" b="1" dirty="0">
                <a:solidFill>
                  <a:srgbClr val="1E2A30"/>
                </a:solidFill>
                <a:latin typeface="Meiryo" pitchFamily="34" charset="0"/>
                <a:ea typeface="Meiryo" pitchFamily="34" charset="-122"/>
                <a:cs typeface="Meiryo" pitchFamily="34" charset="-120"/>
              </a:rPr>
              <a:t>AI の中で起きていること：4つのステップ</a:t>
            </a:r>
            <a:endParaRPr lang="en-US" sz="2400" dirty="0"/>
          </a:p>
        </p:txBody>
      </p:sp>
      <p:sp>
        <p:nvSpPr>
          <p:cNvPr id="5" name="Text 3"/>
          <p:cNvSpPr txBox="1"/>
          <p:nvPr/>
        </p:nvSpPr>
        <p:spPr>
          <a:xfrm>
            <a:off x="7955280" y="4773168"/>
            <a:ext cx="731520" cy="228600"/>
          </a:xfrm>
          <a:prstGeom prst="rect">
            <a:avLst/>
          </a:prstGeom>
          <a:noFill/>
          <a:ln/>
        </p:spPr>
        <p:txBody>
          <a:bodyPr wrap="square" lIns="0" tIns="0" rIns="0" bIns="0" rtlCol="0" anchor="t"/>
          <a:lstStyle/>
          <a:p>
            <a:pPr algn="r" indent="0" marL="0">
              <a:buNone/>
            </a:pPr>
            <a:r>
              <a:rPr lang="en-US" sz="900" dirty="0">
                <a:solidFill>
                  <a:srgbClr val="5B6870"/>
                </a:solidFill>
                <a:latin typeface="Meiryo" pitchFamily="34" charset="0"/>
                <a:ea typeface="Meiryo" pitchFamily="34" charset="-122"/>
                <a:cs typeface="Meiryo" pitchFamily="34" charset="-120"/>
              </a:rPr>
              <a:t>5 / 17</a:t>
            </a:r>
            <a:endParaRPr lang="en-US" sz="900" dirty="0"/>
          </a:p>
        </p:txBody>
      </p:sp>
      <p:sp>
        <p:nvSpPr>
          <p:cNvPr id="6" name="Shape 4"/>
          <p:cNvSpPr/>
          <p:nvPr/>
        </p:nvSpPr>
        <p:spPr>
          <a:xfrm>
            <a:off x="891540" y="1325880"/>
            <a:ext cx="914400" cy="914400"/>
          </a:xfrm>
          <a:prstGeom prst="ellipse">
            <a:avLst/>
          </a:prstGeom>
          <a:solidFill>
            <a:srgbClr val="0B6E6E"/>
          </a:solidFill>
          <a:ln w="9525">
            <a:solidFill>
              <a:srgbClr val="0B6E6E"/>
            </a:solidFill>
            <a:prstDash val="solid"/>
          </a:ln>
        </p:spPr>
      </p:sp>
      <p:pic>
        <p:nvPicPr>
          <p:cNvPr id="7" name="Image 0" descr="preencoded.png">    </p:cNvPr>
          <p:cNvPicPr>
            <a:picLocks noChangeAspect="1"/>
          </p:cNvPicPr>
          <p:nvPr/>
        </p:nvPicPr>
        <p:blipFill>
          <a:blip r:embed="rId1"/>
          <a:stretch>
            <a:fillRect/>
          </a:stretch>
        </p:blipFill>
        <p:spPr>
          <a:xfrm>
            <a:off x="1120140" y="1554480"/>
            <a:ext cx="457200" cy="457200"/>
          </a:xfrm>
          <a:prstGeom prst="rect">
            <a:avLst/>
          </a:prstGeom>
        </p:spPr>
      </p:pic>
      <p:sp>
        <p:nvSpPr>
          <p:cNvPr id="8" name="Shape 5"/>
          <p:cNvSpPr/>
          <p:nvPr/>
        </p:nvSpPr>
        <p:spPr>
          <a:xfrm>
            <a:off x="800100" y="1243584"/>
            <a:ext cx="329184" cy="329184"/>
          </a:xfrm>
          <a:prstGeom prst="ellipse">
            <a:avLst/>
          </a:prstGeom>
          <a:solidFill>
            <a:srgbClr val="D98A1E"/>
          </a:solidFill>
          <a:ln w="19050">
            <a:solidFill>
              <a:srgbClr val="FFFFFF"/>
            </a:solidFill>
            <a:prstDash val="solid"/>
          </a:ln>
        </p:spPr>
      </p:sp>
      <p:sp>
        <p:nvSpPr>
          <p:cNvPr id="9" name="Text 6"/>
          <p:cNvSpPr txBox="1"/>
          <p:nvPr/>
        </p:nvSpPr>
        <p:spPr>
          <a:xfrm>
            <a:off x="800100" y="124358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1</a:t>
            </a:r>
            <a:endParaRPr lang="en-US" sz="1200" dirty="0"/>
          </a:p>
        </p:txBody>
      </p:sp>
      <p:sp>
        <p:nvSpPr>
          <p:cNvPr id="10" name="Text 7"/>
          <p:cNvSpPr txBox="1"/>
          <p:nvPr/>
        </p:nvSpPr>
        <p:spPr>
          <a:xfrm>
            <a:off x="457200" y="2377440"/>
            <a:ext cx="1783080" cy="347472"/>
          </a:xfrm>
          <a:prstGeom prst="rect">
            <a:avLst/>
          </a:prstGeom>
          <a:noFill/>
          <a:ln/>
        </p:spPr>
        <p:txBody>
          <a:bodyPr wrap="square" lIns="0" tIns="0" rIns="0" bIns="0" rtlCol="0" anchor="t"/>
          <a:lstStyle/>
          <a:p>
            <a:pPr algn="ctr" indent="0" marL="0">
              <a:buNone/>
            </a:pPr>
            <a:r>
              <a:rPr lang="en-US" sz="1700" b="1" dirty="0">
                <a:solidFill>
                  <a:srgbClr val="0B6E6E"/>
                </a:solidFill>
                <a:latin typeface="Meiryo" pitchFamily="34" charset="0"/>
                <a:ea typeface="Meiryo" pitchFamily="34" charset="-122"/>
                <a:cs typeface="Meiryo" pitchFamily="34" charset="-120"/>
              </a:rPr>
              <a:t>聞く</a:t>
            </a:r>
            <a:endParaRPr lang="en-US" sz="1700" dirty="0"/>
          </a:p>
        </p:txBody>
      </p:sp>
      <p:sp>
        <p:nvSpPr>
          <p:cNvPr id="11" name="Text 8"/>
          <p:cNvSpPr txBox="1"/>
          <p:nvPr/>
        </p:nvSpPr>
        <p:spPr>
          <a:xfrm>
            <a:off x="457200" y="2743200"/>
            <a:ext cx="1783080" cy="457200"/>
          </a:xfrm>
          <a:prstGeom prst="rect">
            <a:avLst/>
          </a:prstGeom>
          <a:noFill/>
          <a:ln/>
        </p:spPr>
        <p:txBody>
          <a:bodyPr wrap="square" lIns="0" tIns="0" rIns="0" bIns="0" rtlCol="0" anchor="t"/>
          <a:lstStyle/>
          <a:p>
            <a:pPr algn="ctr" indent="0" marL="0">
              <a:buNone/>
            </a:pPr>
            <a:r>
              <a:rPr lang="en-US" sz="1150" b="1" dirty="0">
                <a:solidFill>
                  <a:srgbClr val="1E2A30"/>
                </a:solidFill>
                <a:latin typeface="Meiryo" pitchFamily="34" charset="0"/>
                <a:ea typeface="Meiryo" pitchFamily="34" charset="-122"/>
                <a:cs typeface="Meiryo" pitchFamily="34" charset="-120"/>
              </a:rPr>
              <a:t>相手の声を文字にする</a:t>
            </a:r>
            <a:endParaRPr lang="en-US" sz="1150" dirty="0"/>
          </a:p>
        </p:txBody>
      </p:sp>
      <p:sp>
        <p:nvSpPr>
          <p:cNvPr id="12" name="Text 9"/>
          <p:cNvSpPr txBox="1"/>
          <p:nvPr/>
        </p:nvSpPr>
        <p:spPr>
          <a:xfrm>
            <a:off x="457200" y="3218688"/>
            <a:ext cx="1783080" cy="822960"/>
          </a:xfrm>
          <a:prstGeom prst="rect">
            <a:avLst/>
          </a:prstGeom>
          <a:noFill/>
          <a:ln/>
        </p:spPr>
        <p:txBody>
          <a:bodyPr wrap="square" lIns="0" tIns="0" rIns="0" bIns="0" rtlCol="0" anchor="t"/>
          <a:lstStyle/>
          <a:p>
            <a:pPr algn="ctr" indent="0" marL="0">
              <a:buNone/>
            </a:pPr>
            <a:r>
              <a:rPr lang="en-US" sz="1050" dirty="0">
                <a:solidFill>
                  <a:srgbClr val="5B6870"/>
                </a:solidFill>
                <a:latin typeface="Meiryo" pitchFamily="34" charset="0"/>
                <a:ea typeface="Meiryo" pitchFamily="34" charset="-122"/>
                <a:cs typeface="Meiryo" pitchFamily="34" charset="-120"/>
              </a:rPr>
              <a:t>マイクから入った声を、その場で文字に変えます</a:t>
            </a:r>
            <a:endParaRPr lang="en-US" sz="1050" dirty="0"/>
          </a:p>
        </p:txBody>
      </p:sp>
      <p:sp>
        <p:nvSpPr>
          <p:cNvPr id="13" name="Shape 10"/>
          <p:cNvSpPr/>
          <p:nvPr/>
        </p:nvSpPr>
        <p:spPr>
          <a:xfrm>
            <a:off x="1915668" y="1673352"/>
            <a:ext cx="548640" cy="219456"/>
          </a:xfrm>
          <a:prstGeom prst="rightArrow">
            <a:avLst/>
          </a:prstGeom>
          <a:solidFill>
            <a:srgbClr val="D5DDE0"/>
          </a:solidFill>
          <a:ln w="12700">
            <a:solidFill>
              <a:srgbClr val="D5DDE0"/>
            </a:solidFill>
            <a:prstDash val="solid"/>
          </a:ln>
        </p:spPr>
      </p:sp>
      <p:sp>
        <p:nvSpPr>
          <p:cNvPr id="14" name="Shape 11"/>
          <p:cNvSpPr/>
          <p:nvPr/>
        </p:nvSpPr>
        <p:spPr>
          <a:xfrm>
            <a:off x="3026664" y="1325880"/>
            <a:ext cx="914400" cy="914400"/>
          </a:xfrm>
          <a:prstGeom prst="ellipse">
            <a:avLst/>
          </a:prstGeom>
          <a:solidFill>
            <a:srgbClr val="0B6E6E"/>
          </a:solidFill>
          <a:ln w="9525">
            <a:solidFill>
              <a:srgbClr val="0B6E6E"/>
            </a:solidFill>
            <a:prstDash val="solid"/>
          </a:ln>
        </p:spPr>
      </p:sp>
      <p:pic>
        <p:nvPicPr>
          <p:cNvPr id="15" name="Image 1" descr="preencoded.png">    </p:cNvPr>
          <p:cNvPicPr>
            <a:picLocks noChangeAspect="1"/>
          </p:cNvPicPr>
          <p:nvPr/>
        </p:nvPicPr>
        <p:blipFill>
          <a:blip r:embed="rId2"/>
          <a:stretch>
            <a:fillRect/>
          </a:stretch>
        </p:blipFill>
        <p:spPr>
          <a:xfrm>
            <a:off x="3255264" y="1554480"/>
            <a:ext cx="457200" cy="457200"/>
          </a:xfrm>
          <a:prstGeom prst="rect">
            <a:avLst/>
          </a:prstGeom>
        </p:spPr>
      </p:pic>
      <p:sp>
        <p:nvSpPr>
          <p:cNvPr id="16" name="Shape 12"/>
          <p:cNvSpPr/>
          <p:nvPr/>
        </p:nvSpPr>
        <p:spPr>
          <a:xfrm>
            <a:off x="2935224" y="1243584"/>
            <a:ext cx="329184" cy="329184"/>
          </a:xfrm>
          <a:prstGeom prst="ellipse">
            <a:avLst/>
          </a:prstGeom>
          <a:solidFill>
            <a:srgbClr val="D98A1E"/>
          </a:solidFill>
          <a:ln w="19050">
            <a:solidFill>
              <a:srgbClr val="FFFFFF"/>
            </a:solidFill>
            <a:prstDash val="solid"/>
          </a:ln>
        </p:spPr>
      </p:sp>
      <p:sp>
        <p:nvSpPr>
          <p:cNvPr id="17" name="Text 13"/>
          <p:cNvSpPr txBox="1"/>
          <p:nvPr/>
        </p:nvSpPr>
        <p:spPr>
          <a:xfrm>
            <a:off x="2935224" y="124358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2</a:t>
            </a:r>
            <a:endParaRPr lang="en-US" sz="1200" dirty="0"/>
          </a:p>
        </p:txBody>
      </p:sp>
      <p:sp>
        <p:nvSpPr>
          <p:cNvPr id="18" name="Text 14"/>
          <p:cNvSpPr txBox="1"/>
          <p:nvPr/>
        </p:nvSpPr>
        <p:spPr>
          <a:xfrm>
            <a:off x="2592324" y="2377440"/>
            <a:ext cx="1783080" cy="347472"/>
          </a:xfrm>
          <a:prstGeom prst="rect">
            <a:avLst/>
          </a:prstGeom>
          <a:noFill/>
          <a:ln/>
        </p:spPr>
        <p:txBody>
          <a:bodyPr wrap="square" lIns="0" tIns="0" rIns="0" bIns="0" rtlCol="0" anchor="t"/>
          <a:lstStyle/>
          <a:p>
            <a:pPr algn="ctr" indent="0" marL="0">
              <a:buNone/>
            </a:pPr>
            <a:r>
              <a:rPr lang="en-US" sz="1700" b="1" dirty="0">
                <a:solidFill>
                  <a:srgbClr val="0B6E6E"/>
                </a:solidFill>
                <a:latin typeface="Meiryo" pitchFamily="34" charset="0"/>
                <a:ea typeface="Meiryo" pitchFamily="34" charset="-122"/>
                <a:cs typeface="Meiryo" pitchFamily="34" charset="-120"/>
              </a:rPr>
              <a:t>考える</a:t>
            </a:r>
            <a:endParaRPr lang="en-US" sz="1700" dirty="0"/>
          </a:p>
        </p:txBody>
      </p:sp>
      <p:sp>
        <p:nvSpPr>
          <p:cNvPr id="19" name="Text 15"/>
          <p:cNvSpPr txBox="1"/>
          <p:nvPr/>
        </p:nvSpPr>
        <p:spPr>
          <a:xfrm>
            <a:off x="2592324" y="2743200"/>
            <a:ext cx="1783080" cy="457200"/>
          </a:xfrm>
          <a:prstGeom prst="rect">
            <a:avLst/>
          </a:prstGeom>
          <a:noFill/>
          <a:ln/>
        </p:spPr>
        <p:txBody>
          <a:bodyPr wrap="square" lIns="0" tIns="0" rIns="0" bIns="0" rtlCol="0" anchor="t"/>
          <a:lstStyle/>
          <a:p>
            <a:pPr algn="ctr" indent="0" marL="0">
              <a:buNone/>
            </a:pPr>
            <a:r>
              <a:rPr lang="en-US" sz="1150" b="1" dirty="0">
                <a:solidFill>
                  <a:srgbClr val="1E2A30"/>
                </a:solidFill>
                <a:latin typeface="Meiryo" pitchFamily="34" charset="0"/>
                <a:ea typeface="Meiryo" pitchFamily="34" charset="-122"/>
                <a:cs typeface="Meiryo" pitchFamily="34" charset="-120"/>
              </a:rPr>
              <a:t>ルール表と見比べる</a:t>
            </a:r>
            <a:endParaRPr lang="en-US" sz="1150" dirty="0"/>
          </a:p>
        </p:txBody>
      </p:sp>
      <p:sp>
        <p:nvSpPr>
          <p:cNvPr id="20" name="Text 16"/>
          <p:cNvSpPr txBox="1"/>
          <p:nvPr/>
        </p:nvSpPr>
        <p:spPr>
          <a:xfrm>
            <a:off x="2592324" y="3218688"/>
            <a:ext cx="1783080" cy="822960"/>
          </a:xfrm>
          <a:prstGeom prst="rect">
            <a:avLst/>
          </a:prstGeom>
          <a:noFill/>
          <a:ln/>
        </p:spPr>
        <p:txBody>
          <a:bodyPr wrap="square" lIns="0" tIns="0" rIns="0" bIns="0" rtlCol="0" anchor="t"/>
          <a:lstStyle/>
          <a:p>
            <a:pPr algn="ctr" indent="0" marL="0">
              <a:buNone/>
            </a:pPr>
            <a:r>
              <a:rPr lang="en-US" sz="1050" dirty="0">
                <a:solidFill>
                  <a:srgbClr val="5B6870"/>
                </a:solidFill>
                <a:latin typeface="Meiryo" pitchFamily="34" charset="0"/>
                <a:ea typeface="Meiryo" pitchFamily="34" charset="-122"/>
                <a:cs typeface="Meiryo" pitchFamily="34" charset="-120"/>
              </a:rPr>
              <a:t>「忙しい」「不在」などの手がかりを探し、次にすることを決めます</a:t>
            </a:r>
            <a:endParaRPr lang="en-US" sz="1050" dirty="0"/>
          </a:p>
        </p:txBody>
      </p:sp>
      <p:sp>
        <p:nvSpPr>
          <p:cNvPr id="21" name="Shape 17"/>
          <p:cNvSpPr/>
          <p:nvPr/>
        </p:nvSpPr>
        <p:spPr>
          <a:xfrm>
            <a:off x="4050792" y="1673352"/>
            <a:ext cx="548640" cy="219456"/>
          </a:xfrm>
          <a:prstGeom prst="rightArrow">
            <a:avLst/>
          </a:prstGeom>
          <a:solidFill>
            <a:srgbClr val="D5DDE0"/>
          </a:solidFill>
          <a:ln w="12700">
            <a:solidFill>
              <a:srgbClr val="D5DDE0"/>
            </a:solidFill>
            <a:prstDash val="solid"/>
          </a:ln>
        </p:spPr>
      </p:sp>
      <p:sp>
        <p:nvSpPr>
          <p:cNvPr id="22" name="Shape 18"/>
          <p:cNvSpPr/>
          <p:nvPr/>
        </p:nvSpPr>
        <p:spPr>
          <a:xfrm>
            <a:off x="5157216" y="1325880"/>
            <a:ext cx="914400" cy="914400"/>
          </a:xfrm>
          <a:prstGeom prst="ellipse">
            <a:avLst/>
          </a:prstGeom>
          <a:solidFill>
            <a:srgbClr val="0B6E6E"/>
          </a:solidFill>
          <a:ln w="9525">
            <a:solidFill>
              <a:srgbClr val="0B6E6E"/>
            </a:solidFill>
            <a:prstDash val="solid"/>
          </a:ln>
        </p:spPr>
      </p:sp>
      <p:pic>
        <p:nvPicPr>
          <p:cNvPr id="23" name="Image 2" descr="preencoded.png">    </p:cNvPr>
          <p:cNvPicPr>
            <a:picLocks noChangeAspect="1"/>
          </p:cNvPicPr>
          <p:nvPr/>
        </p:nvPicPr>
        <p:blipFill>
          <a:blip r:embed="rId3"/>
          <a:stretch>
            <a:fillRect/>
          </a:stretch>
        </p:blipFill>
        <p:spPr>
          <a:xfrm>
            <a:off x="5385816" y="1554480"/>
            <a:ext cx="457200" cy="457200"/>
          </a:xfrm>
          <a:prstGeom prst="rect">
            <a:avLst/>
          </a:prstGeom>
        </p:spPr>
      </p:pic>
      <p:sp>
        <p:nvSpPr>
          <p:cNvPr id="24" name="Shape 19"/>
          <p:cNvSpPr/>
          <p:nvPr/>
        </p:nvSpPr>
        <p:spPr>
          <a:xfrm>
            <a:off x="5065776" y="1243584"/>
            <a:ext cx="329184" cy="329184"/>
          </a:xfrm>
          <a:prstGeom prst="ellipse">
            <a:avLst/>
          </a:prstGeom>
          <a:solidFill>
            <a:srgbClr val="D98A1E"/>
          </a:solidFill>
          <a:ln w="19050">
            <a:solidFill>
              <a:srgbClr val="FFFFFF"/>
            </a:solidFill>
            <a:prstDash val="solid"/>
          </a:ln>
        </p:spPr>
      </p:sp>
      <p:sp>
        <p:nvSpPr>
          <p:cNvPr id="25" name="Text 20"/>
          <p:cNvSpPr txBox="1"/>
          <p:nvPr/>
        </p:nvSpPr>
        <p:spPr>
          <a:xfrm>
            <a:off x="5065776" y="124358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3</a:t>
            </a:r>
            <a:endParaRPr lang="en-US" sz="1200" dirty="0"/>
          </a:p>
        </p:txBody>
      </p:sp>
      <p:sp>
        <p:nvSpPr>
          <p:cNvPr id="26" name="Text 21"/>
          <p:cNvSpPr txBox="1"/>
          <p:nvPr/>
        </p:nvSpPr>
        <p:spPr>
          <a:xfrm>
            <a:off x="4722876" y="2377440"/>
            <a:ext cx="1783080" cy="347472"/>
          </a:xfrm>
          <a:prstGeom prst="rect">
            <a:avLst/>
          </a:prstGeom>
          <a:noFill/>
          <a:ln/>
        </p:spPr>
        <p:txBody>
          <a:bodyPr wrap="square" lIns="0" tIns="0" rIns="0" bIns="0" rtlCol="0" anchor="t"/>
          <a:lstStyle/>
          <a:p>
            <a:pPr algn="ctr" indent="0" marL="0">
              <a:buNone/>
            </a:pPr>
            <a:r>
              <a:rPr lang="en-US" sz="1700" b="1" dirty="0">
                <a:solidFill>
                  <a:srgbClr val="0B6E6E"/>
                </a:solidFill>
                <a:latin typeface="Meiryo" pitchFamily="34" charset="0"/>
                <a:ea typeface="Meiryo" pitchFamily="34" charset="-122"/>
                <a:cs typeface="Meiryo" pitchFamily="34" charset="-120"/>
              </a:rPr>
              <a:t>話す</a:t>
            </a:r>
            <a:endParaRPr lang="en-US" sz="1700" dirty="0"/>
          </a:p>
        </p:txBody>
      </p:sp>
      <p:sp>
        <p:nvSpPr>
          <p:cNvPr id="27" name="Text 22"/>
          <p:cNvSpPr txBox="1"/>
          <p:nvPr/>
        </p:nvSpPr>
        <p:spPr>
          <a:xfrm>
            <a:off x="4722876" y="2743200"/>
            <a:ext cx="1783080" cy="457200"/>
          </a:xfrm>
          <a:prstGeom prst="rect">
            <a:avLst/>
          </a:prstGeom>
          <a:noFill/>
          <a:ln/>
        </p:spPr>
        <p:txBody>
          <a:bodyPr wrap="square" lIns="0" tIns="0" rIns="0" bIns="0" rtlCol="0" anchor="t"/>
          <a:lstStyle/>
          <a:p>
            <a:pPr algn="ctr" indent="0" marL="0">
              <a:buNone/>
            </a:pPr>
            <a:r>
              <a:rPr lang="en-US" sz="1150" b="1" dirty="0">
                <a:solidFill>
                  <a:srgbClr val="1E2A30"/>
                </a:solidFill>
                <a:latin typeface="Meiryo" pitchFamily="34" charset="0"/>
                <a:ea typeface="Meiryo" pitchFamily="34" charset="-122"/>
                <a:cs typeface="Meiryo" pitchFamily="34" charset="-120"/>
              </a:rPr>
              <a:t>用意した台本で返事をする</a:t>
            </a:r>
            <a:endParaRPr lang="en-US" sz="1150" dirty="0"/>
          </a:p>
        </p:txBody>
      </p:sp>
      <p:sp>
        <p:nvSpPr>
          <p:cNvPr id="28" name="Text 23"/>
          <p:cNvSpPr txBox="1"/>
          <p:nvPr/>
        </p:nvSpPr>
        <p:spPr>
          <a:xfrm>
            <a:off x="4722876" y="3218688"/>
            <a:ext cx="1783080" cy="822960"/>
          </a:xfrm>
          <a:prstGeom prst="rect">
            <a:avLst/>
          </a:prstGeom>
          <a:noFill/>
          <a:ln/>
        </p:spPr>
        <p:txBody>
          <a:bodyPr wrap="square" lIns="0" tIns="0" rIns="0" bIns="0" rtlCol="0" anchor="t"/>
          <a:lstStyle/>
          <a:p>
            <a:pPr algn="ctr" indent="0" marL="0">
              <a:buNone/>
            </a:pPr>
            <a:r>
              <a:rPr lang="en-US" sz="1050" dirty="0">
                <a:solidFill>
                  <a:srgbClr val="5B6870"/>
                </a:solidFill>
                <a:latin typeface="Meiryo" pitchFamily="34" charset="0"/>
                <a:ea typeface="Meiryo" pitchFamily="34" charset="-122"/>
                <a:cs typeface="Meiryo" pitchFamily="34" charset="-120"/>
              </a:rPr>
              <a:t>確認済みの台本から選び、準備済みの音声で話します</a:t>
            </a:r>
            <a:endParaRPr lang="en-US" sz="1050" dirty="0"/>
          </a:p>
        </p:txBody>
      </p:sp>
      <p:sp>
        <p:nvSpPr>
          <p:cNvPr id="29" name="Shape 24"/>
          <p:cNvSpPr/>
          <p:nvPr/>
        </p:nvSpPr>
        <p:spPr>
          <a:xfrm>
            <a:off x="6181344" y="1673352"/>
            <a:ext cx="548640" cy="219456"/>
          </a:xfrm>
          <a:prstGeom prst="rightArrow">
            <a:avLst/>
          </a:prstGeom>
          <a:solidFill>
            <a:srgbClr val="D5DDE0"/>
          </a:solidFill>
          <a:ln w="12700">
            <a:solidFill>
              <a:srgbClr val="D5DDE0"/>
            </a:solidFill>
            <a:prstDash val="solid"/>
          </a:ln>
        </p:spPr>
      </p:sp>
      <p:sp>
        <p:nvSpPr>
          <p:cNvPr id="30" name="Shape 25"/>
          <p:cNvSpPr/>
          <p:nvPr/>
        </p:nvSpPr>
        <p:spPr>
          <a:xfrm>
            <a:off x="7292340" y="1325880"/>
            <a:ext cx="914400" cy="914400"/>
          </a:xfrm>
          <a:prstGeom prst="ellipse">
            <a:avLst/>
          </a:prstGeom>
          <a:solidFill>
            <a:srgbClr val="0B6E6E"/>
          </a:solidFill>
          <a:ln w="9525">
            <a:solidFill>
              <a:srgbClr val="0B6E6E"/>
            </a:solidFill>
            <a:prstDash val="solid"/>
          </a:ln>
        </p:spPr>
      </p:sp>
      <p:pic>
        <p:nvPicPr>
          <p:cNvPr id="31" name="Image 3" descr="preencoded.png">    </p:cNvPr>
          <p:cNvPicPr>
            <a:picLocks noChangeAspect="1"/>
          </p:cNvPicPr>
          <p:nvPr/>
        </p:nvPicPr>
        <p:blipFill>
          <a:blip r:embed="rId4"/>
          <a:stretch>
            <a:fillRect/>
          </a:stretch>
        </p:blipFill>
        <p:spPr>
          <a:xfrm>
            <a:off x="7520940" y="1554480"/>
            <a:ext cx="457200" cy="457200"/>
          </a:xfrm>
          <a:prstGeom prst="rect">
            <a:avLst/>
          </a:prstGeom>
        </p:spPr>
      </p:pic>
      <p:sp>
        <p:nvSpPr>
          <p:cNvPr id="32" name="Shape 26"/>
          <p:cNvSpPr/>
          <p:nvPr/>
        </p:nvSpPr>
        <p:spPr>
          <a:xfrm>
            <a:off x="7200900" y="1243584"/>
            <a:ext cx="329184" cy="329184"/>
          </a:xfrm>
          <a:prstGeom prst="ellipse">
            <a:avLst/>
          </a:prstGeom>
          <a:solidFill>
            <a:srgbClr val="D98A1E"/>
          </a:solidFill>
          <a:ln w="19050">
            <a:solidFill>
              <a:srgbClr val="FFFFFF"/>
            </a:solidFill>
            <a:prstDash val="solid"/>
          </a:ln>
        </p:spPr>
      </p:sp>
      <p:sp>
        <p:nvSpPr>
          <p:cNvPr id="33" name="Text 27"/>
          <p:cNvSpPr txBox="1"/>
          <p:nvPr/>
        </p:nvSpPr>
        <p:spPr>
          <a:xfrm>
            <a:off x="7200900" y="124358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4</a:t>
            </a:r>
            <a:endParaRPr lang="en-US" sz="1200" dirty="0"/>
          </a:p>
        </p:txBody>
      </p:sp>
      <p:sp>
        <p:nvSpPr>
          <p:cNvPr id="34" name="Text 28"/>
          <p:cNvSpPr txBox="1"/>
          <p:nvPr/>
        </p:nvSpPr>
        <p:spPr>
          <a:xfrm>
            <a:off x="6858000" y="2377440"/>
            <a:ext cx="1783080" cy="347472"/>
          </a:xfrm>
          <a:prstGeom prst="rect">
            <a:avLst/>
          </a:prstGeom>
          <a:noFill/>
          <a:ln/>
        </p:spPr>
        <p:txBody>
          <a:bodyPr wrap="square" lIns="0" tIns="0" rIns="0" bIns="0" rtlCol="0" anchor="t"/>
          <a:lstStyle/>
          <a:p>
            <a:pPr algn="ctr" indent="0" marL="0">
              <a:buNone/>
            </a:pPr>
            <a:r>
              <a:rPr lang="en-US" sz="1700" b="1" dirty="0">
                <a:solidFill>
                  <a:srgbClr val="0B6E6E"/>
                </a:solidFill>
                <a:latin typeface="Meiryo" pitchFamily="34" charset="0"/>
                <a:ea typeface="Meiryo" pitchFamily="34" charset="-122"/>
                <a:cs typeface="Meiryo" pitchFamily="34" charset="-120"/>
              </a:rPr>
              <a:t>記録する</a:t>
            </a:r>
            <a:endParaRPr lang="en-US" sz="1700" dirty="0"/>
          </a:p>
        </p:txBody>
      </p:sp>
      <p:sp>
        <p:nvSpPr>
          <p:cNvPr id="35" name="Text 29"/>
          <p:cNvSpPr txBox="1"/>
          <p:nvPr/>
        </p:nvSpPr>
        <p:spPr>
          <a:xfrm>
            <a:off x="6858000" y="2743200"/>
            <a:ext cx="1783080" cy="457200"/>
          </a:xfrm>
          <a:prstGeom prst="rect">
            <a:avLst/>
          </a:prstGeom>
          <a:noFill/>
          <a:ln/>
        </p:spPr>
        <p:txBody>
          <a:bodyPr wrap="square" lIns="0" tIns="0" rIns="0" bIns="0" rtlCol="0" anchor="t"/>
          <a:lstStyle/>
          <a:p>
            <a:pPr algn="ctr" indent="0" marL="0">
              <a:buNone/>
            </a:pPr>
            <a:r>
              <a:rPr lang="en-US" sz="1150" b="1" dirty="0">
                <a:solidFill>
                  <a:srgbClr val="1E2A30"/>
                </a:solidFill>
                <a:latin typeface="Meiryo" pitchFamily="34" charset="0"/>
                <a:ea typeface="Meiryo" pitchFamily="34" charset="-122"/>
                <a:cs typeface="Meiryo" pitchFamily="34" charset="-120"/>
              </a:rPr>
              <a:t>聞けたことをチェック表へ</a:t>
            </a:r>
            <a:endParaRPr lang="en-US" sz="1150" dirty="0"/>
          </a:p>
        </p:txBody>
      </p:sp>
      <p:sp>
        <p:nvSpPr>
          <p:cNvPr id="36" name="Text 30"/>
          <p:cNvSpPr txBox="1"/>
          <p:nvPr/>
        </p:nvSpPr>
        <p:spPr>
          <a:xfrm>
            <a:off x="6858000" y="3218688"/>
            <a:ext cx="1783080" cy="822960"/>
          </a:xfrm>
          <a:prstGeom prst="rect">
            <a:avLst/>
          </a:prstGeom>
          <a:noFill/>
          <a:ln/>
        </p:spPr>
        <p:txBody>
          <a:bodyPr wrap="square" lIns="0" tIns="0" rIns="0" bIns="0" rtlCol="0" anchor="t"/>
          <a:lstStyle/>
          <a:p>
            <a:pPr algn="ctr" indent="0" marL="0">
              <a:buNone/>
            </a:pPr>
            <a:r>
              <a:rPr lang="en-US" sz="1050" dirty="0">
                <a:solidFill>
                  <a:srgbClr val="5B6870"/>
                </a:solidFill>
                <a:latin typeface="Meiryo" pitchFamily="34" charset="0"/>
                <a:ea typeface="Meiryo" pitchFamily="34" charset="-122"/>
                <a:cs typeface="Meiryo" pitchFamily="34" charset="-120"/>
              </a:rPr>
              <a:t>日時や人数を書き込み、電話が終わると架電履歴に保存します</a:t>
            </a:r>
            <a:endParaRPr lang="en-US" sz="1050" dirty="0"/>
          </a:p>
        </p:txBody>
      </p:sp>
      <p:sp>
        <p:nvSpPr>
          <p:cNvPr id="37" name="Shape 31"/>
          <p:cNvSpPr/>
          <p:nvPr/>
        </p:nvSpPr>
        <p:spPr>
          <a:xfrm>
            <a:off x="457200" y="4160520"/>
            <a:ext cx="8229600" cy="475488"/>
          </a:xfrm>
          <a:prstGeom prst="roundRect">
            <a:avLst>
              <a:gd name="adj" fmla="val 15385"/>
            </a:avLst>
          </a:prstGeom>
          <a:solidFill>
            <a:srgbClr val="E3F3F2"/>
          </a:solidFill>
          <a:ln w="9525">
            <a:solidFill>
              <a:srgbClr val="E3F3F2"/>
            </a:solidFill>
            <a:prstDash val="solid"/>
          </a:ln>
        </p:spPr>
      </p:sp>
      <p:pic>
        <p:nvPicPr>
          <p:cNvPr id="38" name="Image 4" descr="preencoded.png">    </p:cNvPr>
          <p:cNvPicPr>
            <a:picLocks noChangeAspect="1"/>
          </p:cNvPicPr>
          <p:nvPr/>
        </p:nvPicPr>
        <p:blipFill>
          <a:blip r:embed="rId5"/>
          <a:stretch>
            <a:fillRect/>
          </a:stretch>
        </p:blipFill>
        <p:spPr>
          <a:xfrm>
            <a:off x="658368" y="4242816"/>
            <a:ext cx="310896" cy="310896"/>
          </a:xfrm>
          <a:prstGeom prst="rect">
            <a:avLst/>
          </a:prstGeom>
        </p:spPr>
      </p:pic>
      <p:sp>
        <p:nvSpPr>
          <p:cNvPr id="39" name="Text 32"/>
          <p:cNvSpPr txBox="1"/>
          <p:nvPr/>
        </p:nvSpPr>
        <p:spPr>
          <a:xfrm>
            <a:off x="1143000" y="4160520"/>
            <a:ext cx="7315200" cy="475488"/>
          </a:xfrm>
          <a:prstGeom prst="rect">
            <a:avLst/>
          </a:prstGeom>
          <a:noFill/>
          <a:ln/>
        </p:spPr>
        <p:txBody>
          <a:bodyPr wrap="square" lIns="0" tIns="0" rIns="0" bIns="0" rtlCol="0" anchor="ctr"/>
          <a:lstStyle/>
          <a:p>
            <a:pPr indent="0" marL="0">
              <a:buNone/>
            </a:pPr>
            <a:r>
              <a:rPr lang="en-US" sz="1300" b="1" dirty="0">
                <a:solidFill>
                  <a:srgbClr val="0B5563"/>
                </a:solidFill>
                <a:latin typeface="Meiryo" pitchFamily="34" charset="0"/>
                <a:ea typeface="Meiryo" pitchFamily="34" charset="-122"/>
                <a:cs typeface="Meiryo" pitchFamily="34" charset="-120"/>
              </a:rPr>
              <a:t>相手が話すたびに、この ①〜④ を1往復ずつ繰り返します</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685800" cy="256032"/>
          </a:xfrm>
          <a:prstGeom prst="roundRect">
            <a:avLst>
              <a:gd name="adj" fmla="val 50000"/>
            </a:avLst>
          </a:prstGeom>
          <a:solidFill>
            <a:srgbClr val="E3F3F2"/>
          </a:solidFill>
          <a:ln w="9525">
            <a:solidFill>
              <a:srgbClr val="E3F3F2"/>
            </a:solidFill>
            <a:prstDash val="solid"/>
          </a:ln>
        </p:spPr>
      </p:sp>
      <p:sp>
        <p:nvSpPr>
          <p:cNvPr id="3" name="Text 1"/>
          <p:cNvSpPr txBox="1"/>
          <p:nvPr/>
        </p:nvSpPr>
        <p:spPr>
          <a:xfrm>
            <a:off x="457200" y="310896"/>
            <a:ext cx="685800" cy="256032"/>
          </a:xfrm>
          <a:prstGeom prst="rect">
            <a:avLst/>
          </a:prstGeom>
          <a:noFill/>
          <a:ln/>
        </p:spPr>
        <p:txBody>
          <a:bodyPr wrap="square" lIns="0" tIns="0" rIns="0" bIns="0" rtlCol="0" anchor="ctr"/>
          <a:lstStyle/>
          <a:p>
            <a:pPr algn="ctr" indent="0" marL="0">
              <a:buNone/>
            </a:pPr>
            <a:r>
              <a:rPr lang="en-US" sz="1000" b="1" dirty="0">
                <a:solidFill>
                  <a:srgbClr val="0B6E6E"/>
                </a:solidFill>
                <a:latin typeface="Meiryo" pitchFamily="34" charset="0"/>
                <a:ea typeface="Meiryo" pitchFamily="34" charset="-122"/>
                <a:cs typeface="Meiryo" pitchFamily="34" charset="-120"/>
              </a:rPr>
              <a:t>しくみ</a:t>
            </a:r>
            <a:endParaRPr lang="en-US" sz="1000" dirty="0"/>
          </a:p>
        </p:txBody>
      </p:sp>
      <p:sp>
        <p:nvSpPr>
          <p:cNvPr id="4" name="Text 2"/>
          <p:cNvSpPr txBox="1"/>
          <p:nvPr/>
        </p:nvSpPr>
        <p:spPr>
          <a:xfrm>
            <a:off x="457200" y="603504"/>
            <a:ext cx="8229600" cy="502920"/>
          </a:xfrm>
          <a:prstGeom prst="rect">
            <a:avLst/>
          </a:prstGeom>
          <a:noFill/>
          <a:ln/>
        </p:spPr>
        <p:txBody>
          <a:bodyPr wrap="square" lIns="0" tIns="0" rIns="0" bIns="0" rtlCol="0" anchor="ctr"/>
          <a:lstStyle/>
          <a:p>
            <a:pPr indent="0" marL="0">
              <a:buNone/>
            </a:pPr>
            <a:r>
              <a:rPr lang="en-US" sz="2400" b="1" dirty="0">
                <a:solidFill>
                  <a:srgbClr val="1E2A30"/>
                </a:solidFill>
                <a:latin typeface="Meiryo" pitchFamily="34" charset="0"/>
                <a:ea typeface="Meiryo" pitchFamily="34" charset="-122"/>
                <a:cs typeface="Meiryo" pitchFamily="34" charset="-120"/>
              </a:rPr>
              <a:t>「考える」の中身：言葉の手がかりで返事を選ぶ</a:t>
            </a:r>
            <a:endParaRPr lang="en-US" sz="2400" dirty="0"/>
          </a:p>
        </p:txBody>
      </p:sp>
      <p:sp>
        <p:nvSpPr>
          <p:cNvPr id="5" name="Text 3"/>
          <p:cNvSpPr txBox="1"/>
          <p:nvPr/>
        </p:nvSpPr>
        <p:spPr>
          <a:xfrm>
            <a:off x="7955280" y="4773168"/>
            <a:ext cx="731520" cy="228600"/>
          </a:xfrm>
          <a:prstGeom prst="rect">
            <a:avLst/>
          </a:prstGeom>
          <a:noFill/>
          <a:ln/>
        </p:spPr>
        <p:txBody>
          <a:bodyPr wrap="square" lIns="0" tIns="0" rIns="0" bIns="0" rtlCol="0" anchor="t"/>
          <a:lstStyle/>
          <a:p>
            <a:pPr algn="r" indent="0" marL="0">
              <a:buNone/>
            </a:pPr>
            <a:r>
              <a:rPr lang="en-US" sz="900" dirty="0">
                <a:solidFill>
                  <a:srgbClr val="5B6870"/>
                </a:solidFill>
                <a:latin typeface="Meiryo" pitchFamily="34" charset="0"/>
                <a:ea typeface="Meiryo" pitchFamily="34" charset="-122"/>
                <a:cs typeface="Meiryo" pitchFamily="34" charset="-120"/>
              </a:rPr>
              <a:t>6 / 17</a:t>
            </a:r>
            <a:endParaRPr lang="en-US" sz="900" dirty="0"/>
          </a:p>
        </p:txBody>
      </p:sp>
      <p:sp>
        <p:nvSpPr>
          <p:cNvPr id="6" name="Shape 4"/>
          <p:cNvSpPr/>
          <p:nvPr/>
        </p:nvSpPr>
        <p:spPr>
          <a:xfrm>
            <a:off x="457200" y="1417320"/>
            <a:ext cx="2331720" cy="1188720"/>
          </a:xfrm>
          <a:prstGeom prst="roundRect">
            <a:avLst>
              <a:gd name="adj" fmla="val 10769"/>
            </a:avLst>
          </a:prstGeom>
          <a:solidFill>
            <a:srgbClr val="FDF1DC"/>
          </a:solidFill>
          <a:ln w="9525">
            <a:solidFill>
              <a:srgbClr val="FDF1DC"/>
            </a:solidFill>
            <a:prstDash val="solid"/>
          </a:ln>
        </p:spPr>
      </p:sp>
      <p:sp>
        <p:nvSpPr>
          <p:cNvPr id="7" name="Text 5"/>
          <p:cNvSpPr txBox="1"/>
          <p:nvPr/>
        </p:nvSpPr>
        <p:spPr>
          <a:xfrm>
            <a:off x="621792" y="1517904"/>
            <a:ext cx="914400" cy="228600"/>
          </a:xfrm>
          <a:prstGeom prst="rect">
            <a:avLst/>
          </a:prstGeom>
          <a:noFill/>
          <a:ln/>
        </p:spPr>
        <p:txBody>
          <a:bodyPr wrap="square" lIns="0" tIns="0" rIns="0" bIns="0" rtlCol="0" anchor="t"/>
          <a:lstStyle/>
          <a:p>
            <a:pPr indent="0" marL="0">
              <a:buNone/>
            </a:pPr>
            <a:r>
              <a:rPr lang="en-US" sz="1000" b="1" dirty="0">
                <a:solidFill>
                  <a:srgbClr val="8A5A00"/>
                </a:solidFill>
                <a:latin typeface="Meiryo" pitchFamily="34" charset="0"/>
                <a:ea typeface="Meiryo" pitchFamily="34" charset="-122"/>
                <a:cs typeface="Meiryo" pitchFamily="34" charset="-120"/>
              </a:rPr>
              <a:t>相手</a:t>
            </a:r>
            <a:endParaRPr lang="en-US" sz="1000" dirty="0"/>
          </a:p>
        </p:txBody>
      </p:sp>
      <p:sp>
        <p:nvSpPr>
          <p:cNvPr id="8" name="Text 6"/>
          <p:cNvSpPr txBox="1"/>
          <p:nvPr/>
        </p:nvSpPr>
        <p:spPr>
          <a:xfrm>
            <a:off x="621792" y="1783080"/>
            <a:ext cx="2057400" cy="731520"/>
          </a:xfrm>
          <a:prstGeom prst="rect">
            <a:avLst/>
          </a:prstGeom>
          <a:noFill/>
          <a:ln/>
        </p:spPr>
        <p:txBody>
          <a:bodyPr wrap="square" lIns="0" tIns="0" rIns="0" bIns="0" rtlCol="0" anchor="t"/>
          <a:lstStyle/>
          <a:p>
            <a:pPr indent="0" marL="0">
              <a:buNone/>
            </a:pPr>
            <a:r>
              <a:rPr lang="en-US" sz="1500" b="1" dirty="0">
                <a:solidFill>
                  <a:srgbClr val="8A5A00"/>
                </a:solidFill>
                <a:latin typeface="Meiryo" pitchFamily="34" charset="0"/>
                <a:ea typeface="Meiryo" pitchFamily="34" charset="-122"/>
                <a:cs typeface="Meiryo" pitchFamily="34" charset="-120"/>
              </a:rPr>
              <a:t>「今ちょっと</a:t>
            </a:r>
            <a:endParaRPr lang="en-US" sz="1500" dirty="0"/>
          </a:p>
          <a:p>
            <a:pPr indent="0" marL="0">
              <a:buNone/>
            </a:pPr>
            <a:r>
              <a:rPr lang="en-US" sz="1500" b="1" dirty="0">
                <a:solidFill>
                  <a:srgbClr val="8A5A00"/>
                </a:solidFill>
                <a:latin typeface="Meiryo" pitchFamily="34" charset="0"/>
                <a:ea typeface="Meiryo" pitchFamily="34" charset="-122"/>
                <a:cs typeface="Meiryo" pitchFamily="34" charset="-120"/>
              </a:rPr>
              <a:t>バタバタしてて」</a:t>
            </a:r>
            <a:endParaRPr lang="en-US" sz="1500" dirty="0"/>
          </a:p>
        </p:txBody>
      </p:sp>
      <p:sp>
        <p:nvSpPr>
          <p:cNvPr id="9" name="Shape 7"/>
          <p:cNvSpPr/>
          <p:nvPr/>
        </p:nvSpPr>
        <p:spPr>
          <a:xfrm>
            <a:off x="2834640" y="1901952"/>
            <a:ext cx="292608" cy="219456"/>
          </a:xfrm>
          <a:prstGeom prst="rightArrow">
            <a:avLst/>
          </a:prstGeom>
          <a:solidFill>
            <a:srgbClr val="D5DDE0"/>
          </a:solidFill>
          <a:ln w="12700">
            <a:solidFill>
              <a:srgbClr val="D5DDE0"/>
            </a:solidFill>
            <a:prstDash val="solid"/>
          </a:ln>
        </p:spPr>
      </p:sp>
      <p:sp>
        <p:nvSpPr>
          <p:cNvPr id="10" name="Shape 8"/>
          <p:cNvSpPr/>
          <p:nvPr/>
        </p:nvSpPr>
        <p:spPr>
          <a:xfrm>
            <a:off x="3172968" y="1234440"/>
            <a:ext cx="2743200" cy="2057400"/>
          </a:xfrm>
          <a:prstGeom prst="roundRect">
            <a:avLst>
              <a:gd name="adj" fmla="val 3556"/>
            </a:avLst>
          </a:prstGeom>
          <a:solidFill>
            <a:srgbClr val="FFFFFF"/>
          </a:solidFill>
          <a:ln w="9525">
            <a:solidFill>
              <a:srgbClr val="D5DDE0"/>
            </a:solidFill>
            <a:prstDash val="solid"/>
          </a:ln>
          <a:effectLst>
            <a:outerShdw sx="100000" sy="100000" kx="0" ky="0" algn="bl" rotWithShape="0" blurRad="76200" dist="25400" dir="5400000">
              <a:srgbClr val="000000">
                <a:alpha val="12000"/>
              </a:srgbClr>
            </a:outerShdw>
          </a:effectLst>
        </p:spPr>
      </p:sp>
      <p:pic>
        <p:nvPicPr>
          <p:cNvPr id="11" name="Image 0" descr="preencoded.png">    </p:cNvPr>
          <p:cNvPicPr>
            <a:picLocks noChangeAspect="1"/>
          </p:cNvPicPr>
          <p:nvPr/>
        </p:nvPicPr>
        <p:blipFill>
          <a:blip r:embed="rId1"/>
          <a:stretch>
            <a:fillRect/>
          </a:stretch>
        </p:blipFill>
        <p:spPr>
          <a:xfrm>
            <a:off x="3337560" y="1371600"/>
            <a:ext cx="274320" cy="274320"/>
          </a:xfrm>
          <a:prstGeom prst="rect">
            <a:avLst/>
          </a:prstGeom>
        </p:spPr>
      </p:pic>
      <p:sp>
        <p:nvSpPr>
          <p:cNvPr id="12" name="Text 9"/>
          <p:cNvSpPr txBox="1"/>
          <p:nvPr/>
        </p:nvSpPr>
        <p:spPr>
          <a:xfrm>
            <a:off x="3703320" y="1344168"/>
            <a:ext cx="2011680" cy="329184"/>
          </a:xfrm>
          <a:prstGeom prst="rect">
            <a:avLst/>
          </a:prstGeom>
          <a:noFill/>
          <a:ln/>
        </p:spPr>
        <p:txBody>
          <a:bodyPr wrap="square" lIns="0" tIns="0" rIns="0" bIns="0" rtlCol="0" anchor="ctr"/>
          <a:lstStyle/>
          <a:p>
            <a:pPr indent="0" marL="0">
              <a:buNone/>
            </a:pPr>
            <a:r>
              <a:rPr lang="en-US" sz="1250" b="1" dirty="0">
                <a:solidFill>
                  <a:srgbClr val="1E2A30"/>
                </a:solidFill>
                <a:latin typeface="Meiryo" pitchFamily="34" charset="0"/>
                <a:ea typeface="Meiryo" pitchFamily="34" charset="-122"/>
                <a:cs typeface="Meiryo" pitchFamily="34" charset="-120"/>
              </a:rPr>
              <a:t>判断ルール表</a:t>
            </a:r>
            <a:endParaRPr lang="en-US" sz="1250" dirty="0"/>
          </a:p>
        </p:txBody>
      </p:sp>
      <p:sp>
        <p:nvSpPr>
          <p:cNvPr id="13" name="Text 10"/>
          <p:cNvSpPr txBox="1"/>
          <p:nvPr/>
        </p:nvSpPr>
        <p:spPr>
          <a:xfrm>
            <a:off x="3337560" y="1783080"/>
            <a:ext cx="2468880" cy="201168"/>
          </a:xfrm>
          <a:prstGeom prst="rect">
            <a:avLst/>
          </a:prstGeom>
          <a:noFill/>
          <a:ln/>
        </p:spPr>
        <p:txBody>
          <a:bodyPr wrap="square" lIns="0" tIns="0" rIns="0" bIns="0" rtlCol="0" anchor="t"/>
          <a:lstStyle/>
          <a:p>
            <a:pPr indent="0" marL="0">
              <a:buNone/>
            </a:pPr>
            <a:r>
              <a:rPr lang="en-US" sz="950" dirty="0">
                <a:solidFill>
                  <a:srgbClr val="5B6870"/>
                </a:solidFill>
                <a:latin typeface="Meiryo" pitchFamily="34" charset="0"/>
                <a:ea typeface="Meiryo" pitchFamily="34" charset="-122"/>
                <a:cs typeface="Meiryo" pitchFamily="34" charset="-120"/>
              </a:rPr>
              <a:t>見つけた言葉</a:t>
            </a:r>
            <a:endParaRPr lang="en-US" sz="950" dirty="0"/>
          </a:p>
        </p:txBody>
      </p:sp>
      <p:sp>
        <p:nvSpPr>
          <p:cNvPr id="14" name="Text 11"/>
          <p:cNvSpPr txBox="1"/>
          <p:nvPr/>
        </p:nvSpPr>
        <p:spPr>
          <a:xfrm>
            <a:off x="3337560" y="1975104"/>
            <a:ext cx="2468880" cy="310896"/>
          </a:xfrm>
          <a:prstGeom prst="rect">
            <a:avLst/>
          </a:prstGeom>
          <a:noFill/>
          <a:ln/>
        </p:spPr>
        <p:txBody>
          <a:bodyPr wrap="square" lIns="0" tIns="0" rIns="0" bIns="0" rtlCol="0" anchor="t"/>
          <a:lstStyle/>
          <a:p>
            <a:pPr indent="0" marL="0">
              <a:buNone/>
            </a:pPr>
            <a:r>
              <a:rPr lang="en-US" sz="1400" b="1" dirty="0">
                <a:solidFill>
                  <a:srgbClr val="8A5A00"/>
                </a:solidFill>
                <a:latin typeface="Meiryo" pitchFamily="34" charset="0"/>
                <a:ea typeface="Meiryo" pitchFamily="34" charset="-122"/>
                <a:cs typeface="Meiryo" pitchFamily="34" charset="-120"/>
              </a:rPr>
              <a:t>「バタバタ」</a:t>
            </a:r>
            <a:endParaRPr lang="en-US" sz="1400" dirty="0"/>
          </a:p>
        </p:txBody>
      </p:sp>
      <p:sp>
        <p:nvSpPr>
          <p:cNvPr id="15" name="Text 12"/>
          <p:cNvSpPr txBox="1"/>
          <p:nvPr/>
        </p:nvSpPr>
        <p:spPr>
          <a:xfrm>
            <a:off x="3337560" y="2331720"/>
            <a:ext cx="2468880" cy="201168"/>
          </a:xfrm>
          <a:prstGeom prst="rect">
            <a:avLst/>
          </a:prstGeom>
          <a:noFill/>
          <a:ln/>
        </p:spPr>
        <p:txBody>
          <a:bodyPr wrap="square" lIns="0" tIns="0" rIns="0" bIns="0" rtlCol="0" anchor="t"/>
          <a:lstStyle/>
          <a:p>
            <a:pPr indent="0" marL="0">
              <a:buNone/>
            </a:pPr>
            <a:r>
              <a:rPr lang="en-US" sz="950" dirty="0">
                <a:solidFill>
                  <a:srgbClr val="5B6870"/>
                </a:solidFill>
                <a:latin typeface="Meiryo" pitchFamily="34" charset="0"/>
                <a:ea typeface="Meiryo" pitchFamily="34" charset="-122"/>
                <a:cs typeface="Meiryo" pitchFamily="34" charset="-120"/>
              </a:rPr>
              <a:t>判断</a:t>
            </a:r>
            <a:endParaRPr lang="en-US" sz="950" dirty="0"/>
          </a:p>
        </p:txBody>
      </p:sp>
      <p:sp>
        <p:nvSpPr>
          <p:cNvPr id="16" name="Text 13"/>
          <p:cNvSpPr txBox="1"/>
          <p:nvPr/>
        </p:nvSpPr>
        <p:spPr>
          <a:xfrm>
            <a:off x="3337560" y="2523744"/>
            <a:ext cx="2468880" cy="310896"/>
          </a:xfrm>
          <a:prstGeom prst="rect">
            <a:avLst/>
          </a:prstGeom>
          <a:noFill/>
          <a:ln/>
        </p:spPr>
        <p:txBody>
          <a:bodyPr wrap="square" lIns="0" tIns="0" rIns="0" bIns="0" rtlCol="0" anchor="t"/>
          <a:lstStyle/>
          <a:p>
            <a:pPr indent="0" marL="0">
              <a:buNone/>
            </a:pPr>
            <a:r>
              <a:rPr lang="en-US" sz="1400" b="1" dirty="0">
                <a:solidFill>
                  <a:srgbClr val="0B6E6E"/>
                </a:solidFill>
                <a:latin typeface="Meiryo" pitchFamily="34" charset="0"/>
                <a:ea typeface="Meiryo" pitchFamily="34" charset="-122"/>
                <a:cs typeface="Meiryo" pitchFamily="34" charset="-120"/>
              </a:rPr>
              <a:t>＝ 忙しいサイン</a:t>
            </a:r>
            <a:endParaRPr lang="en-US" sz="1400" dirty="0"/>
          </a:p>
        </p:txBody>
      </p:sp>
      <p:sp>
        <p:nvSpPr>
          <p:cNvPr id="17" name="Text 14"/>
          <p:cNvSpPr txBox="1"/>
          <p:nvPr/>
        </p:nvSpPr>
        <p:spPr>
          <a:xfrm>
            <a:off x="3337560" y="2871216"/>
            <a:ext cx="2514600" cy="274320"/>
          </a:xfrm>
          <a:prstGeom prst="rect">
            <a:avLst/>
          </a:prstGeom>
          <a:noFill/>
          <a:ln/>
        </p:spPr>
        <p:txBody>
          <a:bodyPr wrap="square" lIns="0" tIns="0" rIns="0" bIns="0" rtlCol="0" anchor="t"/>
          <a:lstStyle/>
          <a:p>
            <a:pPr indent="0" marL="0">
              <a:buNone/>
            </a:pPr>
            <a:r>
              <a:rPr lang="en-US" sz="1050" dirty="0">
                <a:solidFill>
                  <a:srgbClr val="1E2A30"/>
                </a:solidFill>
                <a:latin typeface="Meiryo" pitchFamily="34" charset="0"/>
                <a:ea typeface="Meiryo" pitchFamily="34" charset="-122"/>
                <a:cs typeface="Meiryo" pitchFamily="34" charset="-120"/>
              </a:rPr>
              <a:t>→ 長い説明はせず、30秒で要点だけ</a:t>
            </a:r>
            <a:endParaRPr lang="en-US" sz="1050" dirty="0"/>
          </a:p>
        </p:txBody>
      </p:sp>
      <p:sp>
        <p:nvSpPr>
          <p:cNvPr id="18" name="Shape 15"/>
          <p:cNvSpPr/>
          <p:nvPr/>
        </p:nvSpPr>
        <p:spPr>
          <a:xfrm>
            <a:off x="5943600" y="1901952"/>
            <a:ext cx="292608" cy="219456"/>
          </a:xfrm>
          <a:prstGeom prst="rightArrow">
            <a:avLst/>
          </a:prstGeom>
          <a:solidFill>
            <a:srgbClr val="D5DDE0"/>
          </a:solidFill>
          <a:ln w="12700">
            <a:solidFill>
              <a:srgbClr val="D5DDE0"/>
            </a:solidFill>
            <a:prstDash val="solid"/>
          </a:ln>
        </p:spPr>
      </p:sp>
      <p:sp>
        <p:nvSpPr>
          <p:cNvPr id="19" name="Shape 16"/>
          <p:cNvSpPr/>
          <p:nvPr/>
        </p:nvSpPr>
        <p:spPr>
          <a:xfrm>
            <a:off x="6281928" y="1234440"/>
            <a:ext cx="2404872" cy="2057400"/>
          </a:xfrm>
          <a:prstGeom prst="roundRect">
            <a:avLst>
              <a:gd name="adj" fmla="val 6222"/>
            </a:avLst>
          </a:prstGeom>
          <a:solidFill>
            <a:srgbClr val="E3F3F2"/>
          </a:solidFill>
          <a:ln w="9525">
            <a:solidFill>
              <a:srgbClr val="E3F3F2"/>
            </a:solidFill>
            <a:prstDash val="solid"/>
          </a:ln>
        </p:spPr>
      </p:sp>
      <p:sp>
        <p:nvSpPr>
          <p:cNvPr id="20" name="Text 17"/>
          <p:cNvSpPr txBox="1"/>
          <p:nvPr/>
        </p:nvSpPr>
        <p:spPr>
          <a:xfrm>
            <a:off x="6446520" y="1335024"/>
            <a:ext cx="914400" cy="228600"/>
          </a:xfrm>
          <a:prstGeom prst="rect">
            <a:avLst/>
          </a:prstGeom>
          <a:noFill/>
          <a:ln/>
        </p:spPr>
        <p:txBody>
          <a:bodyPr wrap="square" lIns="0" tIns="0" rIns="0" bIns="0" rtlCol="0" anchor="t"/>
          <a:lstStyle/>
          <a:p>
            <a:pPr indent="0" marL="0">
              <a:buNone/>
            </a:pPr>
            <a:r>
              <a:rPr lang="en-US" sz="1000" b="1" dirty="0">
                <a:solidFill>
                  <a:srgbClr val="0B6E6E"/>
                </a:solidFill>
                <a:latin typeface="Meiryo" pitchFamily="34" charset="0"/>
                <a:ea typeface="Meiryo" pitchFamily="34" charset="-122"/>
                <a:cs typeface="Meiryo" pitchFamily="34" charset="-120"/>
              </a:rPr>
              <a:t>AI</a:t>
            </a:r>
            <a:endParaRPr lang="en-US" sz="1000" dirty="0"/>
          </a:p>
        </p:txBody>
      </p:sp>
      <p:sp>
        <p:nvSpPr>
          <p:cNvPr id="21" name="Text 18"/>
          <p:cNvSpPr txBox="1"/>
          <p:nvPr/>
        </p:nvSpPr>
        <p:spPr>
          <a:xfrm>
            <a:off x="6446520" y="1600200"/>
            <a:ext cx="2103120" cy="1600200"/>
          </a:xfrm>
          <a:prstGeom prst="rect">
            <a:avLst/>
          </a:prstGeom>
          <a:noFill/>
          <a:ln/>
        </p:spPr>
        <p:txBody>
          <a:bodyPr wrap="square" lIns="0" tIns="0" rIns="0" bIns="0" rtlCol="0" anchor="t"/>
          <a:lstStyle/>
          <a:p>
            <a:pPr indent="0" marL="0">
              <a:buNone/>
            </a:pPr>
            <a:r>
              <a:rPr lang="en-US" sz="1100" dirty="0">
                <a:solidFill>
                  <a:srgbClr val="0B5563"/>
                </a:solidFill>
                <a:latin typeface="Meiryo" pitchFamily="34" charset="0"/>
                <a:ea typeface="Meiryo" pitchFamily="34" charset="-122"/>
                <a:cs typeface="Meiryo" pitchFamily="34" charset="-120"/>
              </a:rPr>
              <a:t>「大変失礼いたしました！お忙しい時間帯にお電話してしまいましたよね。本当に30秒だけ要点をお伝えして、すぐにお電話切らせていただきますね。…」</a:t>
            </a:r>
            <a:endParaRPr lang="en-US" sz="1100" dirty="0"/>
          </a:p>
        </p:txBody>
      </p:sp>
      <p:sp>
        <p:nvSpPr>
          <p:cNvPr id="22" name="Shape 19"/>
          <p:cNvSpPr/>
          <p:nvPr/>
        </p:nvSpPr>
        <p:spPr>
          <a:xfrm>
            <a:off x="457200" y="3520440"/>
            <a:ext cx="3977640" cy="1115568"/>
          </a:xfrm>
          <a:prstGeom prst="roundRect">
            <a:avLst>
              <a:gd name="adj" fmla="val 6557"/>
            </a:avLst>
          </a:prstGeom>
          <a:solidFill>
            <a:srgbClr val="F3F6F7"/>
          </a:solidFill>
          <a:ln w="9525">
            <a:solidFill>
              <a:srgbClr val="F3F6F7"/>
            </a:solidFill>
            <a:prstDash val="solid"/>
          </a:ln>
        </p:spPr>
      </p:sp>
      <p:sp>
        <p:nvSpPr>
          <p:cNvPr id="23" name="Text 20"/>
          <p:cNvSpPr txBox="1"/>
          <p:nvPr/>
        </p:nvSpPr>
        <p:spPr>
          <a:xfrm>
            <a:off x="640080" y="3611880"/>
            <a:ext cx="3657600" cy="274320"/>
          </a:xfrm>
          <a:prstGeom prst="rect">
            <a:avLst/>
          </a:prstGeom>
          <a:noFill/>
          <a:ln/>
        </p:spPr>
        <p:txBody>
          <a:bodyPr wrap="square" lIns="0" tIns="0" rIns="0" bIns="0" rtlCol="0" anchor="t"/>
          <a:lstStyle/>
          <a:p>
            <a:pPr indent="0" marL="0">
              <a:buNone/>
            </a:pPr>
            <a:r>
              <a:rPr lang="en-US" sz="1250" b="1" dirty="0">
                <a:solidFill>
                  <a:srgbClr val="1E2A30"/>
                </a:solidFill>
                <a:latin typeface="Meiryo" pitchFamily="34" charset="0"/>
                <a:ea typeface="Meiryo" pitchFamily="34" charset="-122"/>
                <a:cs typeface="Meiryo" pitchFamily="34" charset="-120"/>
              </a:rPr>
              <a:t>ルール表には何が入っている？</a:t>
            </a:r>
            <a:endParaRPr lang="en-US" sz="1250" dirty="0"/>
          </a:p>
        </p:txBody>
      </p:sp>
      <p:sp>
        <p:nvSpPr>
          <p:cNvPr id="24" name="Text 21"/>
          <p:cNvSpPr txBox="1"/>
          <p:nvPr/>
        </p:nvSpPr>
        <p:spPr>
          <a:xfrm>
            <a:off x="640080" y="3931920"/>
            <a:ext cx="3657600" cy="640080"/>
          </a:xfrm>
          <a:prstGeom prst="rect">
            <a:avLst/>
          </a:prstGeom>
          <a:noFill/>
          <a:ln/>
        </p:spPr>
        <p:txBody>
          <a:bodyPr wrap="square" lIns="0" tIns="0" rIns="0" bIns="0" rtlCol="0" anchor="t"/>
          <a:lstStyle/>
          <a:p>
            <a:pPr indent="0" marL="0">
              <a:buNone/>
            </a:pPr>
            <a:r>
              <a:rPr lang="en-US" sz="1100" dirty="0">
                <a:solidFill>
                  <a:srgbClr val="5B6870"/>
                </a:solidFill>
                <a:latin typeface="Meiryo" pitchFamily="34" charset="0"/>
                <a:ea typeface="Meiryo" pitchFamily="34" charset="-122"/>
                <a:cs typeface="Meiryo" pitchFamily="34" charset="-120"/>
              </a:rPr>
              <a:t>実際の通話記録から集めた言い回しです。</a:t>
            </a:r>
            <a:endParaRPr lang="en-US" sz="1100" dirty="0"/>
          </a:p>
          <a:p>
            <a:pPr indent="0" marL="0">
              <a:buNone/>
            </a:pPr>
            <a:r>
              <a:rPr lang="en-US" sz="1100" dirty="0">
                <a:solidFill>
                  <a:srgbClr val="5B6870"/>
                </a:solidFill>
                <a:latin typeface="Meiryo" pitchFamily="34" charset="0"/>
                <a:ea typeface="Meiryo" pitchFamily="34" charset="-122"/>
                <a:cs typeface="Meiryo" pitchFamily="34" charset="-120"/>
              </a:rPr>
              <a:t>例：忙しい／バタバタ／会議中／また今度／手短に …</a:t>
            </a:r>
            <a:endParaRPr lang="en-US" sz="1100" dirty="0"/>
          </a:p>
        </p:txBody>
      </p:sp>
      <p:sp>
        <p:nvSpPr>
          <p:cNvPr id="25" name="Shape 22"/>
          <p:cNvSpPr/>
          <p:nvPr/>
        </p:nvSpPr>
        <p:spPr>
          <a:xfrm>
            <a:off x="4709160" y="3520440"/>
            <a:ext cx="3977640" cy="1115568"/>
          </a:xfrm>
          <a:prstGeom prst="roundRect">
            <a:avLst>
              <a:gd name="adj" fmla="val 6557"/>
            </a:avLst>
          </a:prstGeom>
          <a:solidFill>
            <a:srgbClr val="E6F4EA"/>
          </a:solidFill>
          <a:ln w="9525">
            <a:solidFill>
              <a:srgbClr val="E6F4EA"/>
            </a:solidFill>
            <a:prstDash val="solid"/>
          </a:ln>
        </p:spPr>
      </p:sp>
      <p:pic>
        <p:nvPicPr>
          <p:cNvPr id="26" name="Image 1" descr="preencoded.png">    </p:cNvPr>
          <p:cNvPicPr>
            <a:picLocks noChangeAspect="1"/>
          </p:cNvPicPr>
          <p:nvPr/>
        </p:nvPicPr>
        <p:blipFill>
          <a:blip r:embed="rId2"/>
          <a:stretch>
            <a:fillRect/>
          </a:stretch>
        </p:blipFill>
        <p:spPr>
          <a:xfrm>
            <a:off x="4873752" y="3621024"/>
            <a:ext cx="274320" cy="274320"/>
          </a:xfrm>
          <a:prstGeom prst="rect">
            <a:avLst/>
          </a:prstGeom>
        </p:spPr>
      </p:pic>
      <p:sp>
        <p:nvSpPr>
          <p:cNvPr id="27" name="Text 23"/>
          <p:cNvSpPr txBox="1"/>
          <p:nvPr/>
        </p:nvSpPr>
        <p:spPr>
          <a:xfrm>
            <a:off x="5230368" y="3611880"/>
            <a:ext cx="3383280" cy="274320"/>
          </a:xfrm>
          <a:prstGeom prst="rect">
            <a:avLst/>
          </a:prstGeom>
          <a:noFill/>
          <a:ln/>
        </p:spPr>
        <p:txBody>
          <a:bodyPr wrap="square" lIns="0" tIns="0" rIns="0" bIns="0" rtlCol="0" anchor="t"/>
          <a:lstStyle/>
          <a:p>
            <a:pPr indent="0" marL="0">
              <a:buNone/>
            </a:pPr>
            <a:r>
              <a:rPr lang="en-US" sz="1250" b="1" dirty="0">
                <a:solidFill>
                  <a:srgbClr val="1B7F3B"/>
                </a:solidFill>
                <a:latin typeface="Meiryo" pitchFamily="34" charset="0"/>
                <a:ea typeface="Meiryo" pitchFamily="34" charset="-122"/>
                <a:cs typeface="Meiryo" pitchFamily="34" charset="-120"/>
              </a:rPr>
              <a:t>AI が勝手に話を作ることはありません</a:t>
            </a:r>
            <a:endParaRPr lang="en-US" sz="1250" dirty="0"/>
          </a:p>
        </p:txBody>
      </p:sp>
      <p:sp>
        <p:nvSpPr>
          <p:cNvPr id="28" name="Text 24"/>
          <p:cNvSpPr txBox="1"/>
          <p:nvPr/>
        </p:nvSpPr>
        <p:spPr>
          <a:xfrm>
            <a:off x="4892040" y="3931920"/>
            <a:ext cx="3657600" cy="640080"/>
          </a:xfrm>
          <a:prstGeom prst="rect">
            <a:avLst/>
          </a:prstGeom>
          <a:noFill/>
          <a:ln/>
        </p:spPr>
        <p:txBody>
          <a:bodyPr wrap="square" lIns="0" tIns="0" rIns="0" bIns="0" rtlCol="0" anchor="t"/>
          <a:lstStyle/>
          <a:p>
            <a:pPr indent="0" marL="0">
              <a:buNone/>
            </a:pPr>
            <a:r>
              <a:rPr lang="en-US" sz="1100" dirty="0">
                <a:solidFill>
                  <a:srgbClr val="1E2A30"/>
                </a:solidFill>
                <a:latin typeface="Meiryo" pitchFamily="34" charset="0"/>
                <a:ea typeface="Meiryo" pitchFamily="34" charset="-122"/>
                <a:cs typeface="Meiryo" pitchFamily="34" charset="-120"/>
              </a:rPr>
              <a:t>話す内容は、すべて事前に用意して確認した台本です。なぜその返事を選んだかは、画面に毎回表示されます。</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685800" cy="256032"/>
          </a:xfrm>
          <a:prstGeom prst="roundRect">
            <a:avLst>
              <a:gd name="adj" fmla="val 50000"/>
            </a:avLst>
          </a:prstGeom>
          <a:solidFill>
            <a:srgbClr val="E3F3F2"/>
          </a:solidFill>
          <a:ln w="9525">
            <a:solidFill>
              <a:srgbClr val="E3F3F2"/>
            </a:solidFill>
            <a:prstDash val="solid"/>
          </a:ln>
        </p:spPr>
      </p:sp>
      <p:sp>
        <p:nvSpPr>
          <p:cNvPr id="3" name="Text 1"/>
          <p:cNvSpPr txBox="1"/>
          <p:nvPr/>
        </p:nvSpPr>
        <p:spPr>
          <a:xfrm>
            <a:off x="457200" y="310896"/>
            <a:ext cx="685800" cy="256032"/>
          </a:xfrm>
          <a:prstGeom prst="rect">
            <a:avLst/>
          </a:prstGeom>
          <a:noFill/>
          <a:ln/>
        </p:spPr>
        <p:txBody>
          <a:bodyPr wrap="square" lIns="0" tIns="0" rIns="0" bIns="0" rtlCol="0" anchor="ctr"/>
          <a:lstStyle/>
          <a:p>
            <a:pPr algn="ctr" indent="0" marL="0">
              <a:buNone/>
            </a:pPr>
            <a:r>
              <a:rPr lang="en-US" sz="1000" b="1" dirty="0">
                <a:solidFill>
                  <a:srgbClr val="0B6E6E"/>
                </a:solidFill>
                <a:latin typeface="Meiryo" pitchFamily="34" charset="0"/>
                <a:ea typeface="Meiryo" pitchFamily="34" charset="-122"/>
                <a:cs typeface="Meiryo" pitchFamily="34" charset="-120"/>
              </a:rPr>
              <a:t>しくみ</a:t>
            </a:r>
            <a:endParaRPr lang="en-US" sz="1000" dirty="0"/>
          </a:p>
        </p:txBody>
      </p:sp>
      <p:sp>
        <p:nvSpPr>
          <p:cNvPr id="4" name="Text 2"/>
          <p:cNvSpPr txBox="1"/>
          <p:nvPr/>
        </p:nvSpPr>
        <p:spPr>
          <a:xfrm>
            <a:off x="457200" y="603504"/>
            <a:ext cx="8229600" cy="502920"/>
          </a:xfrm>
          <a:prstGeom prst="rect">
            <a:avLst/>
          </a:prstGeom>
          <a:noFill/>
          <a:ln/>
        </p:spPr>
        <p:txBody>
          <a:bodyPr wrap="square" lIns="0" tIns="0" rIns="0" bIns="0" rtlCol="0" anchor="ctr"/>
          <a:lstStyle/>
          <a:p>
            <a:pPr indent="0" marL="0">
              <a:buNone/>
            </a:pPr>
            <a:r>
              <a:rPr lang="en-US" sz="2400" b="1" dirty="0">
                <a:solidFill>
                  <a:srgbClr val="1E2A30"/>
                </a:solidFill>
                <a:latin typeface="Meiryo" pitchFamily="34" charset="0"/>
                <a:ea typeface="Meiryo" pitchFamily="34" charset="-122"/>
                <a:cs typeface="Meiryo" pitchFamily="34" charset="-120"/>
              </a:rPr>
              <a:t>1本の電話の流れ（タイプA：アポ獲得）</a:t>
            </a:r>
            <a:endParaRPr lang="en-US" sz="2400" dirty="0"/>
          </a:p>
        </p:txBody>
      </p:sp>
      <p:sp>
        <p:nvSpPr>
          <p:cNvPr id="5" name="Text 3"/>
          <p:cNvSpPr txBox="1"/>
          <p:nvPr/>
        </p:nvSpPr>
        <p:spPr>
          <a:xfrm>
            <a:off x="7955280" y="4773168"/>
            <a:ext cx="731520" cy="228600"/>
          </a:xfrm>
          <a:prstGeom prst="rect">
            <a:avLst/>
          </a:prstGeom>
          <a:noFill/>
          <a:ln/>
        </p:spPr>
        <p:txBody>
          <a:bodyPr wrap="square" lIns="0" tIns="0" rIns="0" bIns="0" rtlCol="0" anchor="t"/>
          <a:lstStyle/>
          <a:p>
            <a:pPr algn="r" indent="0" marL="0">
              <a:buNone/>
            </a:pPr>
            <a:r>
              <a:rPr lang="en-US" sz="900" dirty="0">
                <a:solidFill>
                  <a:srgbClr val="5B6870"/>
                </a:solidFill>
                <a:latin typeface="Meiryo" pitchFamily="34" charset="0"/>
                <a:ea typeface="Meiryo" pitchFamily="34" charset="-122"/>
                <a:cs typeface="Meiryo" pitchFamily="34" charset="-120"/>
              </a:rPr>
              <a:t>7 / 17</a:t>
            </a:r>
            <a:endParaRPr lang="en-US" sz="900" dirty="0"/>
          </a:p>
        </p:txBody>
      </p:sp>
      <p:sp>
        <p:nvSpPr>
          <p:cNvPr id="6" name="Shape 4"/>
          <p:cNvSpPr/>
          <p:nvPr/>
        </p:nvSpPr>
        <p:spPr>
          <a:xfrm>
            <a:off x="457200" y="1207008"/>
            <a:ext cx="1536192" cy="1481328"/>
          </a:xfrm>
          <a:prstGeom prst="roundRect">
            <a:avLst>
              <a:gd name="adj" fmla="val 4938"/>
            </a:avLst>
          </a:prstGeom>
          <a:solidFill>
            <a:srgbClr val="FFFFFF"/>
          </a:solidFill>
          <a:ln w="9525">
            <a:solidFill>
              <a:srgbClr val="D5DDE0"/>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566928" y="1344168"/>
            <a:ext cx="329184" cy="329184"/>
          </a:xfrm>
          <a:prstGeom prst="ellipse">
            <a:avLst/>
          </a:prstGeom>
          <a:solidFill>
            <a:srgbClr val="0B6E6E"/>
          </a:solidFill>
          <a:ln w="19050">
            <a:solidFill>
              <a:srgbClr val="FFFFFF"/>
            </a:solidFill>
            <a:prstDash val="solid"/>
          </a:ln>
        </p:spPr>
      </p:sp>
      <p:sp>
        <p:nvSpPr>
          <p:cNvPr id="8" name="Text 6"/>
          <p:cNvSpPr txBox="1"/>
          <p:nvPr/>
        </p:nvSpPr>
        <p:spPr>
          <a:xfrm>
            <a:off x="566928" y="13441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1</a:t>
            </a:r>
            <a:endParaRPr lang="en-US" sz="1100" dirty="0"/>
          </a:p>
        </p:txBody>
      </p:sp>
      <p:sp>
        <p:nvSpPr>
          <p:cNvPr id="9" name="Text 7"/>
          <p:cNvSpPr txBox="1"/>
          <p:nvPr/>
        </p:nvSpPr>
        <p:spPr>
          <a:xfrm>
            <a:off x="950976" y="1280160"/>
            <a:ext cx="987552" cy="457200"/>
          </a:xfrm>
          <a:prstGeom prst="rect">
            <a:avLst/>
          </a:prstGeom>
          <a:noFill/>
          <a:ln/>
        </p:spPr>
        <p:txBody>
          <a:bodyPr wrap="square" lIns="0" tIns="0" rIns="0" bIns="0" rtlCol="0" anchor="ctr"/>
          <a:lstStyle/>
          <a:p>
            <a:pPr indent="0" marL="0">
              <a:buNone/>
            </a:pPr>
            <a:r>
              <a:rPr lang="en-US" sz="1050" b="1" dirty="0">
                <a:solidFill>
                  <a:srgbClr val="1E2A30"/>
                </a:solidFill>
                <a:latin typeface="Meiryo" pitchFamily="34" charset="0"/>
                <a:ea typeface="Meiryo" pitchFamily="34" charset="-122"/>
                <a:cs typeface="Meiryo" pitchFamily="34" charset="-120"/>
              </a:rPr>
              <a:t>受付に</a:t>
            </a:r>
            <a:endParaRPr lang="en-US" sz="1050" dirty="0"/>
          </a:p>
          <a:p>
            <a:pPr indent="0" marL="0">
              <a:buNone/>
            </a:pPr>
            <a:r>
              <a:rPr lang="en-US" sz="1050" b="1" dirty="0">
                <a:solidFill>
                  <a:srgbClr val="1E2A30"/>
                </a:solidFill>
                <a:latin typeface="Meiryo" pitchFamily="34" charset="0"/>
                <a:ea typeface="Meiryo" pitchFamily="34" charset="-122"/>
                <a:cs typeface="Meiryo" pitchFamily="34" charset="-120"/>
              </a:rPr>
              <a:t>取次ぎを頼む</a:t>
            </a:r>
            <a:endParaRPr lang="en-US" sz="1050" dirty="0"/>
          </a:p>
        </p:txBody>
      </p:sp>
      <p:sp>
        <p:nvSpPr>
          <p:cNvPr id="10" name="Text 8"/>
          <p:cNvSpPr txBox="1"/>
          <p:nvPr/>
        </p:nvSpPr>
        <p:spPr>
          <a:xfrm>
            <a:off x="566928" y="1810512"/>
            <a:ext cx="1316736" cy="822960"/>
          </a:xfrm>
          <a:prstGeom prst="rect">
            <a:avLst/>
          </a:prstGeom>
          <a:noFill/>
          <a:ln/>
        </p:spPr>
        <p:txBody>
          <a:bodyPr wrap="square" lIns="0" tIns="0" rIns="0" bIns="0" rtlCol="0" anchor="t"/>
          <a:lstStyle/>
          <a:p>
            <a:pPr indent="0" marL="0">
              <a:buNone/>
            </a:pPr>
            <a:r>
              <a:rPr lang="en-US" sz="900" dirty="0">
                <a:solidFill>
                  <a:srgbClr val="0B5563"/>
                </a:solidFill>
                <a:latin typeface="Meiryo" pitchFamily="34" charset="0"/>
                <a:ea typeface="Meiryo" pitchFamily="34" charset="-122"/>
                <a:cs typeface="Meiryo" pitchFamily="34" charset="-120"/>
              </a:rPr>
              <a:t>「法改正の件で、ご担当者様にお繋ぎいただけますでしょうか？」</a:t>
            </a:r>
            <a:endParaRPr lang="en-US" sz="900" dirty="0"/>
          </a:p>
        </p:txBody>
      </p:sp>
      <p:sp>
        <p:nvSpPr>
          <p:cNvPr id="11" name="Shape 9"/>
          <p:cNvSpPr/>
          <p:nvPr/>
        </p:nvSpPr>
        <p:spPr>
          <a:xfrm>
            <a:off x="2130552" y="1207008"/>
            <a:ext cx="1536192" cy="1481328"/>
          </a:xfrm>
          <a:prstGeom prst="roundRect">
            <a:avLst>
              <a:gd name="adj" fmla="val 4938"/>
            </a:avLst>
          </a:prstGeom>
          <a:solidFill>
            <a:srgbClr val="FFFFFF"/>
          </a:solidFill>
          <a:ln w="9525">
            <a:solidFill>
              <a:srgbClr val="D5DDE0"/>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2240280" y="1344168"/>
            <a:ext cx="329184" cy="329184"/>
          </a:xfrm>
          <a:prstGeom prst="ellipse">
            <a:avLst/>
          </a:prstGeom>
          <a:solidFill>
            <a:srgbClr val="0B6E6E"/>
          </a:solidFill>
          <a:ln w="19050">
            <a:solidFill>
              <a:srgbClr val="FFFFFF"/>
            </a:solidFill>
            <a:prstDash val="solid"/>
          </a:ln>
        </p:spPr>
      </p:sp>
      <p:sp>
        <p:nvSpPr>
          <p:cNvPr id="13" name="Text 11"/>
          <p:cNvSpPr txBox="1"/>
          <p:nvPr/>
        </p:nvSpPr>
        <p:spPr>
          <a:xfrm>
            <a:off x="2240280" y="13441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2</a:t>
            </a:r>
            <a:endParaRPr lang="en-US" sz="1100" dirty="0"/>
          </a:p>
        </p:txBody>
      </p:sp>
      <p:sp>
        <p:nvSpPr>
          <p:cNvPr id="14" name="Text 12"/>
          <p:cNvSpPr txBox="1"/>
          <p:nvPr/>
        </p:nvSpPr>
        <p:spPr>
          <a:xfrm>
            <a:off x="2624328" y="1280160"/>
            <a:ext cx="987552" cy="457200"/>
          </a:xfrm>
          <a:prstGeom prst="rect">
            <a:avLst/>
          </a:prstGeom>
          <a:noFill/>
          <a:ln/>
        </p:spPr>
        <p:txBody>
          <a:bodyPr wrap="square" lIns="0" tIns="0" rIns="0" bIns="0" rtlCol="0" anchor="ctr"/>
          <a:lstStyle/>
          <a:p>
            <a:pPr indent="0" marL="0">
              <a:buNone/>
            </a:pPr>
            <a:r>
              <a:rPr lang="en-US" sz="1050" b="1" dirty="0">
                <a:solidFill>
                  <a:srgbClr val="1E2A30"/>
                </a:solidFill>
                <a:latin typeface="Meiryo" pitchFamily="34" charset="0"/>
                <a:ea typeface="Meiryo" pitchFamily="34" charset="-122"/>
                <a:cs typeface="Meiryo" pitchFamily="34" charset="-120"/>
              </a:rPr>
              <a:t>保留中は</a:t>
            </a:r>
            <a:endParaRPr lang="en-US" sz="1050" dirty="0"/>
          </a:p>
          <a:p>
            <a:pPr indent="0" marL="0">
              <a:buNone/>
            </a:pPr>
            <a:r>
              <a:rPr lang="en-US" sz="1050" b="1" dirty="0">
                <a:solidFill>
                  <a:srgbClr val="1E2A30"/>
                </a:solidFill>
                <a:latin typeface="Meiryo" pitchFamily="34" charset="0"/>
                <a:ea typeface="Meiryo" pitchFamily="34" charset="-122"/>
                <a:cs typeface="Meiryo" pitchFamily="34" charset="-120"/>
              </a:rPr>
              <a:t>黙って待つ</a:t>
            </a:r>
            <a:endParaRPr lang="en-US" sz="1050" dirty="0"/>
          </a:p>
        </p:txBody>
      </p:sp>
      <p:sp>
        <p:nvSpPr>
          <p:cNvPr id="15" name="Text 13"/>
          <p:cNvSpPr txBox="1"/>
          <p:nvPr/>
        </p:nvSpPr>
        <p:spPr>
          <a:xfrm>
            <a:off x="2240280" y="1810512"/>
            <a:ext cx="1316736" cy="822960"/>
          </a:xfrm>
          <a:prstGeom prst="rect">
            <a:avLst/>
          </a:prstGeom>
          <a:noFill/>
          <a:ln/>
        </p:spPr>
        <p:txBody>
          <a:bodyPr wrap="square" lIns="0" tIns="0" rIns="0" bIns="0" rtlCol="0" anchor="t"/>
          <a:lstStyle/>
          <a:p>
            <a:pPr indent="0" marL="0">
              <a:buNone/>
            </a:pPr>
            <a:r>
              <a:rPr lang="en-US" sz="900" dirty="0">
                <a:solidFill>
                  <a:srgbClr val="1E2A30"/>
                </a:solidFill>
                <a:latin typeface="Meiryo" pitchFamily="34" charset="0"/>
                <a:ea typeface="Meiryo" pitchFamily="34" charset="-122"/>
                <a:cs typeface="Meiryo" pitchFamily="34" charset="-120"/>
              </a:rPr>
              <a:t>「少々お待ちください」の間は話さず、担当者が出るのを待つ</a:t>
            </a:r>
            <a:endParaRPr lang="en-US" sz="900" dirty="0"/>
          </a:p>
        </p:txBody>
      </p:sp>
      <p:sp>
        <p:nvSpPr>
          <p:cNvPr id="16" name="Shape 14"/>
          <p:cNvSpPr/>
          <p:nvPr/>
        </p:nvSpPr>
        <p:spPr>
          <a:xfrm>
            <a:off x="3803904" y="1207008"/>
            <a:ext cx="1536192" cy="1481328"/>
          </a:xfrm>
          <a:prstGeom prst="roundRect">
            <a:avLst>
              <a:gd name="adj" fmla="val 4938"/>
            </a:avLst>
          </a:prstGeom>
          <a:solidFill>
            <a:srgbClr val="FFFFFF"/>
          </a:solidFill>
          <a:ln w="9525">
            <a:solidFill>
              <a:srgbClr val="D5DDE0"/>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3913632" y="1344168"/>
            <a:ext cx="329184" cy="329184"/>
          </a:xfrm>
          <a:prstGeom prst="ellipse">
            <a:avLst/>
          </a:prstGeom>
          <a:solidFill>
            <a:srgbClr val="0B6E6E"/>
          </a:solidFill>
          <a:ln w="19050">
            <a:solidFill>
              <a:srgbClr val="FFFFFF"/>
            </a:solidFill>
            <a:prstDash val="solid"/>
          </a:ln>
        </p:spPr>
      </p:sp>
      <p:sp>
        <p:nvSpPr>
          <p:cNvPr id="18" name="Text 16"/>
          <p:cNvSpPr txBox="1"/>
          <p:nvPr/>
        </p:nvSpPr>
        <p:spPr>
          <a:xfrm>
            <a:off x="3913632" y="13441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3</a:t>
            </a:r>
            <a:endParaRPr lang="en-US" sz="1100" dirty="0"/>
          </a:p>
        </p:txBody>
      </p:sp>
      <p:sp>
        <p:nvSpPr>
          <p:cNvPr id="19" name="Text 17"/>
          <p:cNvSpPr txBox="1"/>
          <p:nvPr/>
        </p:nvSpPr>
        <p:spPr>
          <a:xfrm>
            <a:off x="4297680" y="1280160"/>
            <a:ext cx="987552" cy="457200"/>
          </a:xfrm>
          <a:prstGeom prst="rect">
            <a:avLst/>
          </a:prstGeom>
          <a:noFill/>
          <a:ln/>
        </p:spPr>
        <p:txBody>
          <a:bodyPr wrap="square" lIns="0" tIns="0" rIns="0" bIns="0" rtlCol="0" anchor="ctr"/>
          <a:lstStyle/>
          <a:p>
            <a:pPr indent="0" marL="0">
              <a:buNone/>
            </a:pPr>
            <a:r>
              <a:rPr lang="en-US" sz="1050" b="1" dirty="0">
                <a:solidFill>
                  <a:srgbClr val="1E2A30"/>
                </a:solidFill>
                <a:latin typeface="Meiryo" pitchFamily="34" charset="0"/>
                <a:ea typeface="Meiryo" pitchFamily="34" charset="-122"/>
                <a:cs typeface="Meiryo" pitchFamily="34" charset="-120"/>
              </a:rPr>
              <a:t>担当者に</a:t>
            </a:r>
            <a:endParaRPr lang="en-US" sz="1050" dirty="0"/>
          </a:p>
          <a:p>
            <a:pPr indent="0" marL="0">
              <a:buNone/>
            </a:pPr>
            <a:r>
              <a:rPr lang="en-US" sz="1050" b="1" dirty="0">
                <a:solidFill>
                  <a:srgbClr val="1E2A30"/>
                </a:solidFill>
                <a:latin typeface="Meiryo" pitchFamily="34" charset="0"/>
                <a:ea typeface="Meiryo" pitchFamily="34" charset="-122"/>
                <a:cs typeface="Meiryo" pitchFamily="34" charset="-120"/>
              </a:rPr>
              <a:t>名乗り直す</a:t>
            </a:r>
            <a:endParaRPr lang="en-US" sz="1050" dirty="0"/>
          </a:p>
        </p:txBody>
      </p:sp>
      <p:sp>
        <p:nvSpPr>
          <p:cNvPr id="20" name="Text 18"/>
          <p:cNvSpPr txBox="1"/>
          <p:nvPr/>
        </p:nvSpPr>
        <p:spPr>
          <a:xfrm>
            <a:off x="3913632" y="1810512"/>
            <a:ext cx="1316736" cy="822960"/>
          </a:xfrm>
          <a:prstGeom prst="rect">
            <a:avLst/>
          </a:prstGeom>
          <a:noFill/>
          <a:ln/>
        </p:spPr>
        <p:txBody>
          <a:bodyPr wrap="square" lIns="0" tIns="0" rIns="0" bIns="0" rtlCol="0" anchor="t"/>
          <a:lstStyle/>
          <a:p>
            <a:pPr indent="0" marL="0">
              <a:buNone/>
            </a:pPr>
            <a:r>
              <a:rPr lang="en-US" sz="900" dirty="0">
                <a:solidFill>
                  <a:srgbClr val="0B5563"/>
                </a:solidFill>
                <a:latin typeface="Meiryo" pitchFamily="34" charset="0"/>
                <a:ea typeface="Meiryo" pitchFamily="34" charset="-122"/>
                <a:cs typeface="Meiryo" pitchFamily="34" charset="-120"/>
              </a:rPr>
              <a:t>「お電話代わっていただきありがとうございます！私、…相談センターと申します」</a:t>
            </a:r>
            <a:endParaRPr lang="en-US" sz="900" dirty="0"/>
          </a:p>
        </p:txBody>
      </p:sp>
      <p:sp>
        <p:nvSpPr>
          <p:cNvPr id="21" name="Shape 19"/>
          <p:cNvSpPr/>
          <p:nvPr/>
        </p:nvSpPr>
        <p:spPr>
          <a:xfrm>
            <a:off x="5477256" y="1207008"/>
            <a:ext cx="1536192" cy="1481328"/>
          </a:xfrm>
          <a:prstGeom prst="roundRect">
            <a:avLst>
              <a:gd name="adj" fmla="val 4938"/>
            </a:avLst>
          </a:prstGeom>
          <a:solidFill>
            <a:srgbClr val="FFFFFF"/>
          </a:solidFill>
          <a:ln w="9525">
            <a:solidFill>
              <a:srgbClr val="D5DDE0"/>
            </a:solidFill>
            <a:prstDash val="solid"/>
          </a:ln>
          <a:effectLst>
            <a:outerShdw sx="100000" sy="100000" kx="0" ky="0" algn="bl" rotWithShape="0" blurRad="76200" dist="25400" dir="5400000">
              <a:srgbClr val="000000">
                <a:alpha val="12000"/>
              </a:srgbClr>
            </a:outerShdw>
          </a:effectLst>
        </p:spPr>
      </p:sp>
      <p:sp>
        <p:nvSpPr>
          <p:cNvPr id="22" name="Shape 20"/>
          <p:cNvSpPr/>
          <p:nvPr/>
        </p:nvSpPr>
        <p:spPr>
          <a:xfrm>
            <a:off x="5586984" y="1344168"/>
            <a:ext cx="329184" cy="329184"/>
          </a:xfrm>
          <a:prstGeom prst="ellipse">
            <a:avLst/>
          </a:prstGeom>
          <a:solidFill>
            <a:srgbClr val="0B6E6E"/>
          </a:solidFill>
          <a:ln w="19050">
            <a:solidFill>
              <a:srgbClr val="FFFFFF"/>
            </a:solidFill>
            <a:prstDash val="solid"/>
          </a:ln>
        </p:spPr>
      </p:sp>
      <p:sp>
        <p:nvSpPr>
          <p:cNvPr id="23" name="Text 21"/>
          <p:cNvSpPr txBox="1"/>
          <p:nvPr/>
        </p:nvSpPr>
        <p:spPr>
          <a:xfrm>
            <a:off x="5586984" y="13441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4</a:t>
            </a:r>
            <a:endParaRPr lang="en-US" sz="1100" dirty="0"/>
          </a:p>
        </p:txBody>
      </p:sp>
      <p:sp>
        <p:nvSpPr>
          <p:cNvPr id="24" name="Text 22"/>
          <p:cNvSpPr txBox="1"/>
          <p:nvPr/>
        </p:nvSpPr>
        <p:spPr>
          <a:xfrm>
            <a:off x="5971032" y="1280160"/>
            <a:ext cx="987552" cy="457200"/>
          </a:xfrm>
          <a:prstGeom prst="rect">
            <a:avLst/>
          </a:prstGeom>
          <a:noFill/>
          <a:ln/>
        </p:spPr>
        <p:txBody>
          <a:bodyPr wrap="square" lIns="0" tIns="0" rIns="0" bIns="0" rtlCol="0" anchor="ctr"/>
          <a:lstStyle/>
          <a:p>
            <a:pPr indent="0" marL="0">
              <a:buNone/>
            </a:pPr>
            <a:r>
              <a:rPr lang="en-US" sz="1050" b="1" dirty="0">
                <a:solidFill>
                  <a:srgbClr val="1E2A30"/>
                </a:solidFill>
                <a:latin typeface="Meiryo" pitchFamily="34" charset="0"/>
                <a:ea typeface="Meiryo" pitchFamily="34" charset="-122"/>
                <a:cs typeface="Meiryo" pitchFamily="34" charset="-120"/>
              </a:rPr>
              <a:t>用件を伝える</a:t>
            </a:r>
            <a:endParaRPr lang="en-US" sz="1050" dirty="0"/>
          </a:p>
        </p:txBody>
      </p:sp>
      <p:sp>
        <p:nvSpPr>
          <p:cNvPr id="25" name="Text 23"/>
          <p:cNvSpPr txBox="1"/>
          <p:nvPr/>
        </p:nvSpPr>
        <p:spPr>
          <a:xfrm>
            <a:off x="5586984" y="1810512"/>
            <a:ext cx="1316736" cy="822960"/>
          </a:xfrm>
          <a:prstGeom prst="rect">
            <a:avLst/>
          </a:prstGeom>
          <a:noFill/>
          <a:ln/>
        </p:spPr>
        <p:txBody>
          <a:bodyPr wrap="square" lIns="0" tIns="0" rIns="0" bIns="0" rtlCol="0" anchor="t"/>
          <a:lstStyle/>
          <a:p>
            <a:pPr indent="0" marL="0">
              <a:buNone/>
            </a:pPr>
            <a:r>
              <a:rPr lang="en-US" sz="900" dirty="0">
                <a:solidFill>
                  <a:srgbClr val="0B5563"/>
                </a:solidFill>
                <a:latin typeface="Meiryo" pitchFamily="34" charset="0"/>
                <a:ea typeface="Meiryo" pitchFamily="34" charset="-122"/>
                <a:cs typeface="Meiryo" pitchFamily="34" charset="-120"/>
              </a:rPr>
              <a:t>「今回の法改正で、事業主様の節税効果などのメリットが大きくなっております」</a:t>
            </a:r>
            <a:endParaRPr lang="en-US" sz="900" dirty="0"/>
          </a:p>
        </p:txBody>
      </p:sp>
      <p:sp>
        <p:nvSpPr>
          <p:cNvPr id="26" name="Shape 24"/>
          <p:cNvSpPr/>
          <p:nvPr/>
        </p:nvSpPr>
        <p:spPr>
          <a:xfrm>
            <a:off x="7150608" y="1207008"/>
            <a:ext cx="1536192" cy="1481328"/>
          </a:xfrm>
          <a:prstGeom prst="roundRect">
            <a:avLst>
              <a:gd name="adj" fmla="val 4938"/>
            </a:avLst>
          </a:prstGeom>
          <a:solidFill>
            <a:srgbClr val="FFFFFF"/>
          </a:solidFill>
          <a:ln w="9525">
            <a:solidFill>
              <a:srgbClr val="D5DDE0"/>
            </a:solidFill>
            <a:prstDash val="solid"/>
          </a:ln>
          <a:effectLst>
            <a:outerShdw sx="100000" sy="100000" kx="0" ky="0" algn="bl" rotWithShape="0" blurRad="76200" dist="25400" dir="5400000">
              <a:srgbClr val="000000">
                <a:alpha val="12000"/>
              </a:srgbClr>
            </a:outerShdw>
          </a:effectLst>
        </p:spPr>
      </p:sp>
      <p:sp>
        <p:nvSpPr>
          <p:cNvPr id="27" name="Shape 25"/>
          <p:cNvSpPr/>
          <p:nvPr/>
        </p:nvSpPr>
        <p:spPr>
          <a:xfrm>
            <a:off x="7260336" y="1344168"/>
            <a:ext cx="329184" cy="329184"/>
          </a:xfrm>
          <a:prstGeom prst="ellipse">
            <a:avLst/>
          </a:prstGeom>
          <a:solidFill>
            <a:srgbClr val="0B6E6E"/>
          </a:solidFill>
          <a:ln w="19050">
            <a:solidFill>
              <a:srgbClr val="FFFFFF"/>
            </a:solidFill>
            <a:prstDash val="solid"/>
          </a:ln>
        </p:spPr>
      </p:sp>
      <p:sp>
        <p:nvSpPr>
          <p:cNvPr id="28" name="Text 26"/>
          <p:cNvSpPr txBox="1"/>
          <p:nvPr/>
        </p:nvSpPr>
        <p:spPr>
          <a:xfrm>
            <a:off x="7260336" y="13441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5</a:t>
            </a:r>
            <a:endParaRPr lang="en-US" sz="1100" dirty="0"/>
          </a:p>
        </p:txBody>
      </p:sp>
      <p:sp>
        <p:nvSpPr>
          <p:cNvPr id="29" name="Text 27"/>
          <p:cNvSpPr txBox="1"/>
          <p:nvPr/>
        </p:nvSpPr>
        <p:spPr>
          <a:xfrm>
            <a:off x="7644384" y="1280160"/>
            <a:ext cx="987552" cy="457200"/>
          </a:xfrm>
          <a:prstGeom prst="rect">
            <a:avLst/>
          </a:prstGeom>
          <a:noFill/>
          <a:ln/>
        </p:spPr>
        <p:txBody>
          <a:bodyPr wrap="square" lIns="0" tIns="0" rIns="0" bIns="0" rtlCol="0" anchor="ctr"/>
          <a:lstStyle/>
          <a:p>
            <a:pPr indent="0" marL="0">
              <a:buNone/>
            </a:pPr>
            <a:r>
              <a:rPr lang="en-US" sz="1050" b="1" dirty="0">
                <a:solidFill>
                  <a:srgbClr val="1E2A30"/>
                </a:solidFill>
                <a:latin typeface="Meiryo" pitchFamily="34" charset="0"/>
                <a:ea typeface="Meiryo" pitchFamily="34" charset="-122"/>
                <a:cs typeface="Meiryo" pitchFamily="34" charset="-120"/>
              </a:rPr>
              <a:t>年齢と人数を</a:t>
            </a:r>
            <a:endParaRPr lang="en-US" sz="1050" dirty="0"/>
          </a:p>
          <a:p>
            <a:pPr indent="0" marL="0">
              <a:buNone/>
            </a:pPr>
            <a:r>
              <a:rPr lang="en-US" sz="1050" b="1" dirty="0">
                <a:solidFill>
                  <a:srgbClr val="1E2A30"/>
                </a:solidFill>
                <a:latin typeface="Meiryo" pitchFamily="34" charset="0"/>
                <a:ea typeface="Meiryo" pitchFamily="34" charset="-122"/>
                <a:cs typeface="Meiryo" pitchFamily="34" charset="-120"/>
              </a:rPr>
              <a:t>聞く</a:t>
            </a:r>
            <a:endParaRPr lang="en-US" sz="1050" dirty="0"/>
          </a:p>
        </p:txBody>
      </p:sp>
      <p:sp>
        <p:nvSpPr>
          <p:cNvPr id="30" name="Text 28"/>
          <p:cNvSpPr txBox="1"/>
          <p:nvPr/>
        </p:nvSpPr>
        <p:spPr>
          <a:xfrm>
            <a:off x="7260336" y="1810512"/>
            <a:ext cx="1316736" cy="822960"/>
          </a:xfrm>
          <a:prstGeom prst="rect">
            <a:avLst/>
          </a:prstGeom>
          <a:noFill/>
          <a:ln/>
        </p:spPr>
        <p:txBody>
          <a:bodyPr wrap="square" lIns="0" tIns="0" rIns="0" bIns="0" rtlCol="0" anchor="t"/>
          <a:lstStyle/>
          <a:p>
            <a:pPr indent="0" marL="0">
              <a:buNone/>
            </a:pPr>
            <a:r>
              <a:rPr lang="en-US" sz="900" dirty="0">
                <a:solidFill>
                  <a:srgbClr val="0B5563"/>
                </a:solidFill>
                <a:latin typeface="Meiryo" pitchFamily="34" charset="0"/>
                <a:ea typeface="Meiryo" pitchFamily="34" charset="-122"/>
                <a:cs typeface="Meiryo" pitchFamily="34" charset="-120"/>
              </a:rPr>
              <a:t>「対象となる方の年齢層と、全体の人数は何名様でしょうか？」</a:t>
            </a:r>
            <a:endParaRPr lang="en-US" sz="900" dirty="0"/>
          </a:p>
        </p:txBody>
      </p:sp>
      <p:sp>
        <p:nvSpPr>
          <p:cNvPr id="31" name="Shape 29"/>
          <p:cNvSpPr/>
          <p:nvPr/>
        </p:nvSpPr>
        <p:spPr>
          <a:xfrm>
            <a:off x="457200" y="2807208"/>
            <a:ext cx="1536192" cy="1481328"/>
          </a:xfrm>
          <a:prstGeom prst="roundRect">
            <a:avLst>
              <a:gd name="adj" fmla="val 4938"/>
            </a:avLst>
          </a:prstGeom>
          <a:solidFill>
            <a:srgbClr val="FFFFFF"/>
          </a:solidFill>
          <a:ln w="9525">
            <a:solidFill>
              <a:srgbClr val="D5DDE0"/>
            </a:solidFill>
            <a:prstDash val="solid"/>
          </a:ln>
          <a:effectLst>
            <a:outerShdw sx="100000" sy="100000" kx="0" ky="0" algn="bl" rotWithShape="0" blurRad="76200" dist="25400" dir="5400000">
              <a:srgbClr val="000000">
                <a:alpha val="12000"/>
              </a:srgbClr>
            </a:outerShdw>
          </a:effectLst>
        </p:spPr>
      </p:sp>
      <p:sp>
        <p:nvSpPr>
          <p:cNvPr id="32" name="Shape 30"/>
          <p:cNvSpPr/>
          <p:nvPr/>
        </p:nvSpPr>
        <p:spPr>
          <a:xfrm>
            <a:off x="566928" y="2944368"/>
            <a:ext cx="329184" cy="329184"/>
          </a:xfrm>
          <a:prstGeom prst="ellipse">
            <a:avLst/>
          </a:prstGeom>
          <a:solidFill>
            <a:srgbClr val="0B6E6E"/>
          </a:solidFill>
          <a:ln w="19050">
            <a:solidFill>
              <a:srgbClr val="FFFFFF"/>
            </a:solidFill>
            <a:prstDash val="solid"/>
          </a:ln>
        </p:spPr>
      </p:sp>
      <p:sp>
        <p:nvSpPr>
          <p:cNvPr id="33" name="Text 31"/>
          <p:cNvSpPr txBox="1"/>
          <p:nvPr/>
        </p:nvSpPr>
        <p:spPr>
          <a:xfrm>
            <a:off x="566928" y="29443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6</a:t>
            </a:r>
            <a:endParaRPr lang="en-US" sz="1100" dirty="0"/>
          </a:p>
        </p:txBody>
      </p:sp>
      <p:sp>
        <p:nvSpPr>
          <p:cNvPr id="34" name="Text 32"/>
          <p:cNvSpPr txBox="1"/>
          <p:nvPr/>
        </p:nvSpPr>
        <p:spPr>
          <a:xfrm>
            <a:off x="950976" y="2880360"/>
            <a:ext cx="987552" cy="457200"/>
          </a:xfrm>
          <a:prstGeom prst="rect">
            <a:avLst/>
          </a:prstGeom>
          <a:noFill/>
          <a:ln/>
        </p:spPr>
        <p:txBody>
          <a:bodyPr wrap="square" lIns="0" tIns="0" rIns="0" bIns="0" rtlCol="0" anchor="ctr"/>
          <a:lstStyle/>
          <a:p>
            <a:pPr indent="0" marL="0">
              <a:buNone/>
            </a:pPr>
            <a:r>
              <a:rPr lang="en-US" sz="1050" b="1" dirty="0">
                <a:solidFill>
                  <a:srgbClr val="1E2A30"/>
                </a:solidFill>
                <a:latin typeface="Meiryo" pitchFamily="34" charset="0"/>
                <a:ea typeface="Meiryo" pitchFamily="34" charset="-122"/>
                <a:cs typeface="Meiryo" pitchFamily="34" charset="-120"/>
              </a:rPr>
              <a:t>決算月と</a:t>
            </a:r>
            <a:endParaRPr lang="en-US" sz="1050" dirty="0"/>
          </a:p>
          <a:p>
            <a:pPr indent="0" marL="0">
              <a:buNone/>
            </a:pPr>
            <a:r>
              <a:rPr lang="en-US" sz="1050" b="1" dirty="0">
                <a:solidFill>
                  <a:srgbClr val="1E2A30"/>
                </a:solidFill>
                <a:latin typeface="Meiryo" pitchFamily="34" charset="0"/>
                <a:ea typeface="Meiryo" pitchFamily="34" charset="-122"/>
                <a:cs typeface="Meiryo" pitchFamily="34" charset="-120"/>
              </a:rPr>
              <a:t>メールを聞く</a:t>
            </a:r>
            <a:endParaRPr lang="en-US" sz="1050" dirty="0"/>
          </a:p>
        </p:txBody>
      </p:sp>
      <p:sp>
        <p:nvSpPr>
          <p:cNvPr id="35" name="Text 33"/>
          <p:cNvSpPr txBox="1"/>
          <p:nvPr/>
        </p:nvSpPr>
        <p:spPr>
          <a:xfrm>
            <a:off x="566928" y="3410712"/>
            <a:ext cx="1316736" cy="822960"/>
          </a:xfrm>
          <a:prstGeom prst="rect">
            <a:avLst/>
          </a:prstGeom>
          <a:noFill/>
          <a:ln/>
        </p:spPr>
        <p:txBody>
          <a:bodyPr wrap="square" lIns="0" tIns="0" rIns="0" bIns="0" rtlCol="0" anchor="t"/>
          <a:lstStyle/>
          <a:p>
            <a:pPr indent="0" marL="0">
              <a:buNone/>
            </a:pPr>
            <a:r>
              <a:rPr lang="en-US" sz="900" dirty="0">
                <a:solidFill>
                  <a:srgbClr val="0B5563"/>
                </a:solidFill>
                <a:latin typeface="Meiryo" pitchFamily="34" charset="0"/>
                <a:ea typeface="Meiryo" pitchFamily="34" charset="-122"/>
                <a:cs typeface="Meiryo" pitchFamily="34" charset="-120"/>
              </a:rPr>
              <a:t>「シミュレーション資料をお送りしたいので、決算月とメールアドレスを…」</a:t>
            </a:r>
            <a:endParaRPr lang="en-US" sz="900" dirty="0"/>
          </a:p>
        </p:txBody>
      </p:sp>
      <p:sp>
        <p:nvSpPr>
          <p:cNvPr id="36" name="Shape 34"/>
          <p:cNvSpPr/>
          <p:nvPr/>
        </p:nvSpPr>
        <p:spPr>
          <a:xfrm>
            <a:off x="2130552" y="2807208"/>
            <a:ext cx="1536192" cy="1481328"/>
          </a:xfrm>
          <a:prstGeom prst="roundRect">
            <a:avLst>
              <a:gd name="adj" fmla="val 4938"/>
            </a:avLst>
          </a:prstGeom>
          <a:solidFill>
            <a:srgbClr val="FFFFFF"/>
          </a:solidFill>
          <a:ln w="9525">
            <a:solidFill>
              <a:srgbClr val="D5DDE0"/>
            </a:solidFill>
            <a:prstDash val="solid"/>
          </a:ln>
          <a:effectLst>
            <a:outerShdw sx="100000" sy="100000" kx="0" ky="0" algn="bl" rotWithShape="0" blurRad="76200" dist="25400" dir="5400000">
              <a:srgbClr val="000000">
                <a:alpha val="12000"/>
              </a:srgbClr>
            </a:outerShdw>
          </a:effectLst>
        </p:spPr>
      </p:sp>
      <p:sp>
        <p:nvSpPr>
          <p:cNvPr id="37" name="Shape 35"/>
          <p:cNvSpPr/>
          <p:nvPr/>
        </p:nvSpPr>
        <p:spPr>
          <a:xfrm>
            <a:off x="2240280" y="2944368"/>
            <a:ext cx="329184" cy="329184"/>
          </a:xfrm>
          <a:prstGeom prst="ellipse">
            <a:avLst/>
          </a:prstGeom>
          <a:solidFill>
            <a:srgbClr val="0B6E6E"/>
          </a:solidFill>
          <a:ln w="19050">
            <a:solidFill>
              <a:srgbClr val="FFFFFF"/>
            </a:solidFill>
            <a:prstDash val="solid"/>
          </a:ln>
        </p:spPr>
      </p:sp>
      <p:sp>
        <p:nvSpPr>
          <p:cNvPr id="38" name="Text 36"/>
          <p:cNvSpPr txBox="1"/>
          <p:nvPr/>
        </p:nvSpPr>
        <p:spPr>
          <a:xfrm>
            <a:off x="2240280" y="29443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7</a:t>
            </a:r>
            <a:endParaRPr lang="en-US" sz="1100" dirty="0"/>
          </a:p>
        </p:txBody>
      </p:sp>
      <p:sp>
        <p:nvSpPr>
          <p:cNvPr id="39" name="Text 37"/>
          <p:cNvSpPr txBox="1"/>
          <p:nvPr/>
        </p:nvSpPr>
        <p:spPr>
          <a:xfrm>
            <a:off x="2624328" y="2880360"/>
            <a:ext cx="987552" cy="457200"/>
          </a:xfrm>
          <a:prstGeom prst="rect">
            <a:avLst/>
          </a:prstGeom>
          <a:noFill/>
          <a:ln/>
        </p:spPr>
        <p:txBody>
          <a:bodyPr wrap="square" lIns="0" tIns="0" rIns="0" bIns="0" rtlCol="0" anchor="ctr"/>
          <a:lstStyle/>
          <a:p>
            <a:pPr indent="0" marL="0">
              <a:buNone/>
            </a:pPr>
            <a:r>
              <a:rPr lang="en-US" sz="1050" b="1" dirty="0">
                <a:solidFill>
                  <a:srgbClr val="1E2A30"/>
                </a:solidFill>
                <a:latin typeface="Meiryo" pitchFamily="34" charset="0"/>
                <a:ea typeface="Meiryo" pitchFamily="34" charset="-122"/>
                <a:cs typeface="Meiryo" pitchFamily="34" charset="-120"/>
              </a:rPr>
              <a:t>商談の</a:t>
            </a:r>
            <a:endParaRPr lang="en-US" sz="1050" dirty="0"/>
          </a:p>
          <a:p>
            <a:pPr indent="0" marL="0">
              <a:buNone/>
            </a:pPr>
            <a:r>
              <a:rPr lang="en-US" sz="1050" b="1" dirty="0">
                <a:solidFill>
                  <a:srgbClr val="1E2A30"/>
                </a:solidFill>
                <a:latin typeface="Meiryo" pitchFamily="34" charset="0"/>
                <a:ea typeface="Meiryo" pitchFamily="34" charset="-122"/>
                <a:cs typeface="Meiryo" pitchFamily="34" charset="-120"/>
              </a:rPr>
              <a:t>日時を決める</a:t>
            </a:r>
            <a:endParaRPr lang="en-US" sz="1050" dirty="0"/>
          </a:p>
        </p:txBody>
      </p:sp>
      <p:sp>
        <p:nvSpPr>
          <p:cNvPr id="40" name="Text 38"/>
          <p:cNvSpPr txBox="1"/>
          <p:nvPr/>
        </p:nvSpPr>
        <p:spPr>
          <a:xfrm>
            <a:off x="2240280" y="3410712"/>
            <a:ext cx="1316736" cy="822960"/>
          </a:xfrm>
          <a:prstGeom prst="rect">
            <a:avLst/>
          </a:prstGeom>
          <a:noFill/>
          <a:ln/>
        </p:spPr>
        <p:txBody>
          <a:bodyPr wrap="square" lIns="0" tIns="0" rIns="0" bIns="0" rtlCol="0" anchor="t"/>
          <a:lstStyle/>
          <a:p>
            <a:pPr indent="0" marL="0">
              <a:buNone/>
            </a:pPr>
            <a:r>
              <a:rPr lang="en-US" sz="900" dirty="0">
                <a:solidFill>
                  <a:srgbClr val="0B5563"/>
                </a:solidFill>
                <a:latin typeface="Meiryo" pitchFamily="34" charset="0"/>
                <a:ea typeface="Meiryo" pitchFamily="34" charset="-122"/>
                <a:cs typeface="Meiryo" pitchFamily="34" charset="-120"/>
              </a:rPr>
              <a:t>「15分ほどオンラインで。来週の水曜日14時頃はいかがでしょうか？」</a:t>
            </a:r>
            <a:endParaRPr lang="en-US" sz="900" dirty="0"/>
          </a:p>
        </p:txBody>
      </p:sp>
      <p:sp>
        <p:nvSpPr>
          <p:cNvPr id="41" name="Shape 39"/>
          <p:cNvSpPr/>
          <p:nvPr/>
        </p:nvSpPr>
        <p:spPr>
          <a:xfrm>
            <a:off x="3803904" y="2807208"/>
            <a:ext cx="1536192" cy="1481328"/>
          </a:xfrm>
          <a:prstGeom prst="roundRect">
            <a:avLst>
              <a:gd name="adj" fmla="val 4938"/>
            </a:avLst>
          </a:prstGeom>
          <a:solidFill>
            <a:srgbClr val="FFFFFF"/>
          </a:solidFill>
          <a:ln w="9525">
            <a:solidFill>
              <a:srgbClr val="D5DDE0"/>
            </a:solidFill>
            <a:prstDash val="solid"/>
          </a:ln>
          <a:effectLst>
            <a:outerShdw sx="100000" sy="100000" kx="0" ky="0" algn="bl" rotWithShape="0" blurRad="76200" dist="25400" dir="5400000">
              <a:srgbClr val="000000">
                <a:alpha val="12000"/>
              </a:srgbClr>
            </a:outerShdw>
          </a:effectLst>
        </p:spPr>
      </p:sp>
      <p:sp>
        <p:nvSpPr>
          <p:cNvPr id="42" name="Shape 40"/>
          <p:cNvSpPr/>
          <p:nvPr/>
        </p:nvSpPr>
        <p:spPr>
          <a:xfrm>
            <a:off x="3913632" y="2944368"/>
            <a:ext cx="329184" cy="329184"/>
          </a:xfrm>
          <a:prstGeom prst="ellipse">
            <a:avLst/>
          </a:prstGeom>
          <a:solidFill>
            <a:srgbClr val="0B6E6E"/>
          </a:solidFill>
          <a:ln w="19050">
            <a:solidFill>
              <a:srgbClr val="FFFFFF"/>
            </a:solidFill>
            <a:prstDash val="solid"/>
          </a:ln>
        </p:spPr>
      </p:sp>
      <p:sp>
        <p:nvSpPr>
          <p:cNvPr id="43" name="Text 41"/>
          <p:cNvSpPr txBox="1"/>
          <p:nvPr/>
        </p:nvSpPr>
        <p:spPr>
          <a:xfrm>
            <a:off x="3913632" y="29443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8</a:t>
            </a:r>
            <a:endParaRPr lang="en-US" sz="1100" dirty="0"/>
          </a:p>
        </p:txBody>
      </p:sp>
      <p:sp>
        <p:nvSpPr>
          <p:cNvPr id="44" name="Text 42"/>
          <p:cNvSpPr txBox="1"/>
          <p:nvPr/>
        </p:nvSpPr>
        <p:spPr>
          <a:xfrm>
            <a:off x="4297680" y="2880360"/>
            <a:ext cx="987552" cy="457200"/>
          </a:xfrm>
          <a:prstGeom prst="rect">
            <a:avLst/>
          </a:prstGeom>
          <a:noFill/>
          <a:ln/>
        </p:spPr>
        <p:txBody>
          <a:bodyPr wrap="square" lIns="0" tIns="0" rIns="0" bIns="0" rtlCol="0" anchor="ctr"/>
          <a:lstStyle/>
          <a:p>
            <a:pPr indent="0" marL="0">
              <a:buNone/>
            </a:pPr>
            <a:r>
              <a:rPr lang="en-US" sz="1050" b="1" dirty="0">
                <a:solidFill>
                  <a:srgbClr val="1E2A30"/>
                </a:solidFill>
                <a:latin typeface="Meiryo" pitchFamily="34" charset="0"/>
                <a:ea typeface="Meiryo" pitchFamily="34" charset="-122"/>
                <a:cs typeface="Meiryo" pitchFamily="34" charset="-120"/>
              </a:rPr>
              <a:t>残りの質問と</a:t>
            </a:r>
            <a:endParaRPr lang="en-US" sz="1050" dirty="0"/>
          </a:p>
          <a:p>
            <a:pPr indent="0" marL="0">
              <a:buNone/>
            </a:pPr>
            <a:r>
              <a:rPr lang="en-US" sz="1050" b="1" dirty="0">
                <a:solidFill>
                  <a:srgbClr val="1E2A30"/>
                </a:solidFill>
                <a:latin typeface="Meiryo" pitchFamily="34" charset="0"/>
                <a:ea typeface="Meiryo" pitchFamily="34" charset="-122"/>
                <a:cs typeface="Meiryo" pitchFamily="34" charset="-120"/>
              </a:rPr>
              <a:t>確認</a:t>
            </a:r>
            <a:endParaRPr lang="en-US" sz="1050" dirty="0"/>
          </a:p>
        </p:txBody>
      </p:sp>
      <p:sp>
        <p:nvSpPr>
          <p:cNvPr id="45" name="Text 43"/>
          <p:cNvSpPr txBox="1"/>
          <p:nvPr/>
        </p:nvSpPr>
        <p:spPr>
          <a:xfrm>
            <a:off x="3913632" y="3410712"/>
            <a:ext cx="1316736" cy="822960"/>
          </a:xfrm>
          <a:prstGeom prst="rect">
            <a:avLst/>
          </a:prstGeom>
          <a:noFill/>
          <a:ln/>
        </p:spPr>
        <p:txBody>
          <a:bodyPr wrap="square" lIns="0" tIns="0" rIns="0" bIns="0" rtlCol="0" anchor="t"/>
          <a:lstStyle/>
          <a:p>
            <a:pPr indent="0" marL="0">
              <a:buNone/>
            </a:pPr>
            <a:r>
              <a:rPr lang="en-US" sz="900" dirty="0">
                <a:solidFill>
                  <a:srgbClr val="1E2A30"/>
                </a:solidFill>
                <a:latin typeface="Meiryo" pitchFamily="34" charset="0"/>
                <a:ea typeface="Meiryo" pitchFamily="34" charset="-122"/>
                <a:cs typeface="Meiryo" pitchFamily="34" charset="-120"/>
              </a:rPr>
              <a:t>投資・退職金制度・決める方を質問。メールを復唱し、前日連絡の時間帯も</a:t>
            </a:r>
            <a:endParaRPr lang="en-US" sz="900" dirty="0"/>
          </a:p>
        </p:txBody>
      </p:sp>
      <p:sp>
        <p:nvSpPr>
          <p:cNvPr id="46" name="Shape 44"/>
          <p:cNvSpPr/>
          <p:nvPr/>
        </p:nvSpPr>
        <p:spPr>
          <a:xfrm>
            <a:off x="5477256" y="2807208"/>
            <a:ext cx="1536192" cy="1481328"/>
          </a:xfrm>
          <a:prstGeom prst="roundRect">
            <a:avLst>
              <a:gd name="adj" fmla="val 4938"/>
            </a:avLst>
          </a:prstGeom>
          <a:solidFill>
            <a:srgbClr val="FFFFFF"/>
          </a:solidFill>
          <a:ln w="9525">
            <a:solidFill>
              <a:srgbClr val="D5DDE0"/>
            </a:solidFill>
            <a:prstDash val="solid"/>
          </a:ln>
          <a:effectLst>
            <a:outerShdw sx="100000" sy="100000" kx="0" ky="0" algn="bl" rotWithShape="0" blurRad="76200" dist="25400" dir="5400000">
              <a:srgbClr val="000000">
                <a:alpha val="12000"/>
              </a:srgbClr>
            </a:outerShdw>
          </a:effectLst>
        </p:spPr>
      </p:sp>
      <p:sp>
        <p:nvSpPr>
          <p:cNvPr id="47" name="Shape 45"/>
          <p:cNvSpPr/>
          <p:nvPr/>
        </p:nvSpPr>
        <p:spPr>
          <a:xfrm>
            <a:off x="5586984" y="2944368"/>
            <a:ext cx="329184" cy="329184"/>
          </a:xfrm>
          <a:prstGeom prst="ellipse">
            <a:avLst/>
          </a:prstGeom>
          <a:solidFill>
            <a:srgbClr val="0B6E6E"/>
          </a:solidFill>
          <a:ln w="19050">
            <a:solidFill>
              <a:srgbClr val="FFFFFF"/>
            </a:solidFill>
            <a:prstDash val="solid"/>
          </a:ln>
        </p:spPr>
      </p:sp>
      <p:sp>
        <p:nvSpPr>
          <p:cNvPr id="48" name="Text 46"/>
          <p:cNvSpPr txBox="1"/>
          <p:nvPr/>
        </p:nvSpPr>
        <p:spPr>
          <a:xfrm>
            <a:off x="5586984" y="29443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9</a:t>
            </a:r>
            <a:endParaRPr lang="en-US" sz="1100" dirty="0"/>
          </a:p>
        </p:txBody>
      </p:sp>
      <p:sp>
        <p:nvSpPr>
          <p:cNvPr id="49" name="Text 47"/>
          <p:cNvSpPr txBox="1"/>
          <p:nvPr/>
        </p:nvSpPr>
        <p:spPr>
          <a:xfrm>
            <a:off x="5971032" y="2880360"/>
            <a:ext cx="987552" cy="457200"/>
          </a:xfrm>
          <a:prstGeom prst="rect">
            <a:avLst/>
          </a:prstGeom>
          <a:noFill/>
          <a:ln/>
        </p:spPr>
        <p:txBody>
          <a:bodyPr wrap="square" lIns="0" tIns="0" rIns="0" bIns="0" rtlCol="0" anchor="ctr"/>
          <a:lstStyle/>
          <a:p>
            <a:pPr indent="0" marL="0">
              <a:buNone/>
            </a:pPr>
            <a:r>
              <a:rPr lang="en-US" sz="1050" b="1" dirty="0">
                <a:solidFill>
                  <a:srgbClr val="1E2A30"/>
                </a:solidFill>
                <a:latin typeface="Meiryo" pitchFamily="34" charset="0"/>
                <a:ea typeface="Meiryo" pitchFamily="34" charset="-122"/>
                <a:cs typeface="Meiryo" pitchFamily="34" charset="-120"/>
              </a:rPr>
              <a:t>カレンダー</a:t>
            </a:r>
            <a:endParaRPr lang="en-US" sz="1050" dirty="0"/>
          </a:p>
          <a:p>
            <a:pPr indent="0" marL="0">
              <a:buNone/>
            </a:pPr>
            <a:r>
              <a:rPr lang="en-US" sz="1050" b="1" dirty="0">
                <a:solidFill>
                  <a:srgbClr val="1E2A30"/>
                </a:solidFill>
                <a:latin typeface="Meiryo" pitchFamily="34" charset="0"/>
                <a:ea typeface="Meiryo" pitchFamily="34" charset="-122"/>
                <a:cs typeface="Meiryo" pitchFamily="34" charset="-120"/>
              </a:rPr>
              <a:t>登録をお願い</a:t>
            </a:r>
            <a:endParaRPr lang="en-US" sz="1050" dirty="0"/>
          </a:p>
        </p:txBody>
      </p:sp>
      <p:sp>
        <p:nvSpPr>
          <p:cNvPr id="50" name="Text 48"/>
          <p:cNvSpPr txBox="1"/>
          <p:nvPr/>
        </p:nvSpPr>
        <p:spPr>
          <a:xfrm>
            <a:off x="5586984" y="3410712"/>
            <a:ext cx="1316736" cy="822960"/>
          </a:xfrm>
          <a:prstGeom prst="rect">
            <a:avLst/>
          </a:prstGeom>
          <a:noFill/>
          <a:ln/>
        </p:spPr>
        <p:txBody>
          <a:bodyPr wrap="square" lIns="0" tIns="0" rIns="0" bIns="0" rtlCol="0" anchor="t"/>
          <a:lstStyle/>
          <a:p>
            <a:pPr indent="0" marL="0">
              <a:buNone/>
            </a:pPr>
            <a:r>
              <a:rPr lang="en-US" sz="900" dirty="0">
                <a:solidFill>
                  <a:srgbClr val="0B5563"/>
                </a:solidFill>
                <a:latin typeface="Meiryo" pitchFamily="34" charset="0"/>
                <a:ea typeface="Meiryo" pitchFamily="34" charset="-122"/>
                <a:cs typeface="Meiryo" pitchFamily="34" charset="-120"/>
              </a:rPr>
              <a:t>「一旦カレンダーにご予定だけ入れておいていただけますと助かります」</a:t>
            </a:r>
            <a:endParaRPr lang="en-US" sz="900" dirty="0"/>
          </a:p>
        </p:txBody>
      </p:sp>
      <p:sp>
        <p:nvSpPr>
          <p:cNvPr id="51" name="Shape 49"/>
          <p:cNvSpPr/>
          <p:nvPr/>
        </p:nvSpPr>
        <p:spPr>
          <a:xfrm>
            <a:off x="7150608" y="2807208"/>
            <a:ext cx="1536192" cy="1481328"/>
          </a:xfrm>
          <a:prstGeom prst="roundRect">
            <a:avLst>
              <a:gd name="adj" fmla="val 4938"/>
            </a:avLst>
          </a:prstGeom>
          <a:solidFill>
            <a:srgbClr val="E6F4EA"/>
          </a:solidFill>
          <a:ln w="9525">
            <a:solidFill>
              <a:srgbClr val="1B7F3B"/>
            </a:solidFill>
            <a:prstDash val="solid"/>
          </a:ln>
        </p:spPr>
      </p:sp>
      <p:pic>
        <p:nvPicPr>
          <p:cNvPr id="52" name="Image 0" descr="preencoded.png">    </p:cNvPr>
          <p:cNvPicPr>
            <a:picLocks noChangeAspect="1"/>
          </p:cNvPicPr>
          <p:nvPr/>
        </p:nvPicPr>
        <p:blipFill>
          <a:blip r:embed="rId1"/>
          <a:stretch>
            <a:fillRect/>
          </a:stretch>
        </p:blipFill>
        <p:spPr>
          <a:xfrm>
            <a:off x="7278624" y="2953512"/>
            <a:ext cx="329184" cy="329184"/>
          </a:xfrm>
          <a:prstGeom prst="rect">
            <a:avLst/>
          </a:prstGeom>
        </p:spPr>
      </p:pic>
      <p:sp>
        <p:nvSpPr>
          <p:cNvPr id="53" name="Text 50"/>
          <p:cNvSpPr txBox="1"/>
          <p:nvPr/>
        </p:nvSpPr>
        <p:spPr>
          <a:xfrm>
            <a:off x="7680960" y="2880360"/>
            <a:ext cx="950976" cy="457200"/>
          </a:xfrm>
          <a:prstGeom prst="rect">
            <a:avLst/>
          </a:prstGeom>
          <a:noFill/>
          <a:ln/>
        </p:spPr>
        <p:txBody>
          <a:bodyPr wrap="square" lIns="0" tIns="0" rIns="0" bIns="0" rtlCol="0" anchor="ctr"/>
          <a:lstStyle/>
          <a:p>
            <a:pPr indent="0" marL="0">
              <a:buNone/>
            </a:pPr>
            <a:r>
              <a:rPr lang="en-US" sz="1250" b="1" dirty="0">
                <a:solidFill>
                  <a:srgbClr val="1B7F3B"/>
                </a:solidFill>
                <a:latin typeface="Meiryo" pitchFamily="34" charset="0"/>
                <a:ea typeface="Meiryo" pitchFamily="34" charset="-122"/>
                <a:cs typeface="Meiryo" pitchFamily="34" charset="-120"/>
              </a:rPr>
              <a:t>予約完了！</a:t>
            </a:r>
            <a:endParaRPr lang="en-US" sz="1250" dirty="0"/>
          </a:p>
        </p:txBody>
      </p:sp>
      <p:sp>
        <p:nvSpPr>
          <p:cNvPr id="54" name="Text 51"/>
          <p:cNvSpPr txBox="1"/>
          <p:nvPr/>
        </p:nvSpPr>
        <p:spPr>
          <a:xfrm>
            <a:off x="7260336" y="3410712"/>
            <a:ext cx="1316736" cy="822960"/>
          </a:xfrm>
          <a:prstGeom prst="rect">
            <a:avLst/>
          </a:prstGeom>
          <a:noFill/>
          <a:ln/>
        </p:spPr>
        <p:txBody>
          <a:bodyPr wrap="square" lIns="0" tIns="0" rIns="0" bIns="0" rtlCol="0" anchor="t"/>
          <a:lstStyle/>
          <a:p>
            <a:pPr indent="0" marL="0">
              <a:buNone/>
            </a:pPr>
            <a:r>
              <a:rPr lang="en-US" sz="900" dirty="0">
                <a:solidFill>
                  <a:srgbClr val="1E2A30"/>
                </a:solidFill>
                <a:latin typeface="Meiryo" pitchFamily="34" charset="0"/>
                <a:ea typeface="Meiryo" pitchFamily="34" charset="-122"/>
                <a:cs typeface="Meiryo" pitchFamily="34" charset="-120"/>
              </a:rPr>
              <a:t>会議のURLをメールで送ることを伝えて、電話を終えます</a:t>
            </a:r>
            <a:endParaRPr lang="en-US" sz="900" dirty="0"/>
          </a:p>
        </p:txBody>
      </p:sp>
      <p:sp>
        <p:nvSpPr>
          <p:cNvPr id="55" name="Text 52"/>
          <p:cNvSpPr txBox="1"/>
          <p:nvPr/>
        </p:nvSpPr>
        <p:spPr>
          <a:xfrm>
            <a:off x="457200" y="4416552"/>
            <a:ext cx="5486400" cy="256032"/>
          </a:xfrm>
          <a:prstGeom prst="rect">
            <a:avLst/>
          </a:prstGeom>
          <a:noFill/>
          <a:ln/>
        </p:spPr>
        <p:txBody>
          <a:bodyPr wrap="square" lIns="0" tIns="0" rIns="0" bIns="0" rtlCol="0" anchor="t"/>
          <a:lstStyle/>
          <a:p>
            <a:pPr indent="0" marL="0">
              <a:buNone/>
            </a:pPr>
            <a:r>
              <a:rPr lang="en-US" sz="950" dirty="0">
                <a:solidFill>
                  <a:srgbClr val="5B6870"/>
                </a:solidFill>
                <a:latin typeface="Meiryo" pitchFamily="34" charset="0"/>
                <a:ea typeface="Meiryo" pitchFamily="34" charset="-122"/>
                <a:cs typeface="Meiryo" pitchFamily="34" charset="-120"/>
              </a:rPr>
              <a:t>「 」内は AI が実際に話すセリフです（一部省略）</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960120" cy="256032"/>
          </a:xfrm>
          <a:prstGeom prst="roundRect">
            <a:avLst>
              <a:gd name="adj" fmla="val 50000"/>
            </a:avLst>
          </a:prstGeom>
          <a:solidFill>
            <a:srgbClr val="E3F3F2"/>
          </a:solidFill>
          <a:ln w="9525">
            <a:solidFill>
              <a:srgbClr val="E3F3F2"/>
            </a:solidFill>
            <a:prstDash val="solid"/>
          </a:ln>
        </p:spPr>
      </p:sp>
      <p:sp>
        <p:nvSpPr>
          <p:cNvPr id="3" name="Text 1"/>
          <p:cNvSpPr txBox="1"/>
          <p:nvPr/>
        </p:nvSpPr>
        <p:spPr>
          <a:xfrm>
            <a:off x="457200" y="310896"/>
            <a:ext cx="960120" cy="256032"/>
          </a:xfrm>
          <a:prstGeom prst="rect">
            <a:avLst/>
          </a:prstGeom>
          <a:noFill/>
          <a:ln/>
        </p:spPr>
        <p:txBody>
          <a:bodyPr wrap="square" lIns="0" tIns="0" rIns="0" bIns="0" rtlCol="0" anchor="ctr"/>
          <a:lstStyle/>
          <a:p>
            <a:pPr algn="ctr" indent="0" marL="0">
              <a:buNone/>
            </a:pPr>
            <a:r>
              <a:rPr lang="en-US" sz="1000" b="1" dirty="0">
                <a:solidFill>
                  <a:srgbClr val="0B6E6E"/>
                </a:solidFill>
                <a:latin typeface="Meiryo" pitchFamily="34" charset="0"/>
                <a:ea typeface="Meiryo" pitchFamily="34" charset="-122"/>
                <a:cs typeface="Meiryo" pitchFamily="34" charset="-120"/>
              </a:rPr>
              <a:t>できること</a:t>
            </a:r>
            <a:endParaRPr lang="en-US" sz="1000" dirty="0"/>
          </a:p>
        </p:txBody>
      </p:sp>
      <p:sp>
        <p:nvSpPr>
          <p:cNvPr id="4" name="Text 2"/>
          <p:cNvSpPr txBox="1"/>
          <p:nvPr/>
        </p:nvSpPr>
        <p:spPr>
          <a:xfrm>
            <a:off x="457200" y="603504"/>
            <a:ext cx="8229600" cy="502920"/>
          </a:xfrm>
          <a:prstGeom prst="rect">
            <a:avLst/>
          </a:prstGeom>
          <a:noFill/>
          <a:ln/>
        </p:spPr>
        <p:txBody>
          <a:bodyPr wrap="square" lIns="0" tIns="0" rIns="0" bIns="0" rtlCol="0" anchor="ctr"/>
          <a:lstStyle/>
          <a:p>
            <a:pPr indent="0" marL="0">
              <a:buNone/>
            </a:pPr>
            <a:r>
              <a:rPr lang="en-US" sz="2400" b="1" dirty="0">
                <a:solidFill>
                  <a:srgbClr val="1E2A30"/>
                </a:solidFill>
                <a:latin typeface="Meiryo" pitchFamily="34" charset="0"/>
                <a:ea typeface="Meiryo" pitchFamily="34" charset="-122"/>
                <a:cs typeface="Meiryo" pitchFamily="34" charset="-120"/>
              </a:rPr>
              <a:t>断られても、すぐには終わらない</a:t>
            </a:r>
            <a:endParaRPr lang="en-US" sz="2400" dirty="0"/>
          </a:p>
        </p:txBody>
      </p:sp>
      <p:sp>
        <p:nvSpPr>
          <p:cNvPr id="5" name="Text 3"/>
          <p:cNvSpPr txBox="1"/>
          <p:nvPr/>
        </p:nvSpPr>
        <p:spPr>
          <a:xfrm>
            <a:off x="7955280" y="4773168"/>
            <a:ext cx="731520" cy="228600"/>
          </a:xfrm>
          <a:prstGeom prst="rect">
            <a:avLst/>
          </a:prstGeom>
          <a:noFill/>
          <a:ln/>
        </p:spPr>
        <p:txBody>
          <a:bodyPr wrap="square" lIns="0" tIns="0" rIns="0" bIns="0" rtlCol="0" anchor="t"/>
          <a:lstStyle/>
          <a:p>
            <a:pPr algn="r" indent="0" marL="0">
              <a:buNone/>
            </a:pPr>
            <a:r>
              <a:rPr lang="en-US" sz="900" dirty="0">
                <a:solidFill>
                  <a:srgbClr val="5B6870"/>
                </a:solidFill>
                <a:latin typeface="Meiryo" pitchFamily="34" charset="0"/>
                <a:ea typeface="Meiryo" pitchFamily="34" charset="-122"/>
                <a:cs typeface="Meiryo" pitchFamily="34" charset="-120"/>
              </a:rPr>
              <a:t>8 / 17</a:t>
            </a:r>
            <a:endParaRPr lang="en-US" sz="900" dirty="0"/>
          </a:p>
        </p:txBody>
      </p:sp>
      <p:sp>
        <p:nvSpPr>
          <p:cNvPr id="6" name="Shape 4"/>
          <p:cNvSpPr/>
          <p:nvPr/>
        </p:nvSpPr>
        <p:spPr>
          <a:xfrm>
            <a:off x="457200" y="1207008"/>
            <a:ext cx="2651760" cy="1417320"/>
          </a:xfrm>
          <a:prstGeom prst="roundRect">
            <a:avLst>
              <a:gd name="adj" fmla="val 5161"/>
            </a:avLst>
          </a:prstGeom>
          <a:solidFill>
            <a:srgbClr val="FFFFFF"/>
          </a:solidFill>
          <a:ln w="9525">
            <a:solidFill>
              <a:srgbClr val="D5DDE0"/>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594360" y="1344168"/>
            <a:ext cx="2377440" cy="411480"/>
          </a:xfrm>
          <a:prstGeom prst="roundRect">
            <a:avLst>
              <a:gd name="adj" fmla="val 22222"/>
            </a:avLst>
          </a:prstGeom>
          <a:solidFill>
            <a:srgbClr val="FDF1DC"/>
          </a:solidFill>
          <a:ln w="9525">
            <a:solidFill>
              <a:srgbClr val="FDF1DC"/>
            </a:solidFill>
            <a:prstDash val="solid"/>
          </a:ln>
        </p:spPr>
      </p:sp>
      <p:sp>
        <p:nvSpPr>
          <p:cNvPr id="8" name="Text 6"/>
          <p:cNvSpPr txBox="1"/>
          <p:nvPr/>
        </p:nvSpPr>
        <p:spPr>
          <a:xfrm>
            <a:off x="685800" y="1344168"/>
            <a:ext cx="2240280" cy="411480"/>
          </a:xfrm>
          <a:prstGeom prst="rect">
            <a:avLst/>
          </a:prstGeom>
          <a:noFill/>
          <a:ln/>
        </p:spPr>
        <p:txBody>
          <a:bodyPr wrap="square" lIns="0" tIns="0" rIns="0" bIns="0" rtlCol="0" anchor="ctr"/>
          <a:lstStyle/>
          <a:p>
            <a:pPr indent="0" marL="0">
              <a:buNone/>
            </a:pPr>
            <a:r>
              <a:rPr lang="en-US" sz="1200" b="1" dirty="0">
                <a:solidFill>
                  <a:srgbClr val="8A5A00"/>
                </a:solidFill>
                <a:latin typeface="Meiryo" pitchFamily="34" charset="0"/>
                <a:ea typeface="Meiryo" pitchFamily="34" charset="-122"/>
                <a:cs typeface="Meiryo" pitchFamily="34" charset="-120"/>
              </a:rPr>
              <a:t>「今、忙しいので」</a:t>
            </a:r>
            <a:endParaRPr lang="en-US" sz="1200" dirty="0"/>
          </a:p>
        </p:txBody>
      </p:sp>
      <p:sp>
        <p:nvSpPr>
          <p:cNvPr id="9" name="Text 7"/>
          <p:cNvSpPr txBox="1"/>
          <p:nvPr/>
        </p:nvSpPr>
        <p:spPr>
          <a:xfrm>
            <a:off x="594360" y="1847088"/>
            <a:ext cx="2377440" cy="201168"/>
          </a:xfrm>
          <a:prstGeom prst="rect">
            <a:avLst/>
          </a:prstGeom>
          <a:noFill/>
          <a:ln/>
        </p:spPr>
        <p:txBody>
          <a:bodyPr wrap="square" lIns="0" tIns="0" rIns="0" bIns="0" rtlCol="0" anchor="t"/>
          <a:lstStyle/>
          <a:p>
            <a:pPr indent="0" marL="0">
              <a:buNone/>
            </a:pPr>
            <a:r>
              <a:rPr lang="en-US" sz="950" b="1" dirty="0">
                <a:solidFill>
                  <a:srgbClr val="0B6E6E"/>
                </a:solidFill>
                <a:latin typeface="Meiryo" pitchFamily="34" charset="0"/>
                <a:ea typeface="Meiryo" pitchFamily="34" charset="-122"/>
                <a:cs typeface="Meiryo" pitchFamily="34" charset="-120"/>
              </a:rPr>
              <a:t>AI の対応</a:t>
            </a:r>
            <a:endParaRPr lang="en-US" sz="950" dirty="0"/>
          </a:p>
        </p:txBody>
      </p:sp>
      <p:sp>
        <p:nvSpPr>
          <p:cNvPr id="10" name="Text 8"/>
          <p:cNvSpPr txBox="1"/>
          <p:nvPr/>
        </p:nvSpPr>
        <p:spPr>
          <a:xfrm>
            <a:off x="594360" y="2048256"/>
            <a:ext cx="2377440" cy="548640"/>
          </a:xfrm>
          <a:prstGeom prst="rect">
            <a:avLst/>
          </a:prstGeom>
          <a:noFill/>
          <a:ln/>
        </p:spPr>
        <p:txBody>
          <a:bodyPr wrap="square" lIns="0" tIns="0" rIns="0" bIns="0" rtlCol="0" anchor="t"/>
          <a:lstStyle/>
          <a:p>
            <a:pPr indent="0" marL="0">
              <a:buNone/>
            </a:pPr>
            <a:r>
              <a:rPr lang="en-US" sz="1050" dirty="0">
                <a:solidFill>
                  <a:srgbClr val="1E2A30"/>
                </a:solidFill>
                <a:latin typeface="Meiryo" pitchFamily="34" charset="0"/>
                <a:ea typeface="Meiryo" pitchFamily="34" charset="-122"/>
                <a:cs typeface="Meiryo" pitchFamily="34" charset="-120"/>
              </a:rPr>
              <a:t>長い説明はせず、30秒で要点だけ。従業員数だけを伺う</a:t>
            </a:r>
            <a:endParaRPr lang="en-US" sz="1050" dirty="0"/>
          </a:p>
        </p:txBody>
      </p:sp>
      <p:sp>
        <p:nvSpPr>
          <p:cNvPr id="11" name="Shape 9"/>
          <p:cNvSpPr/>
          <p:nvPr/>
        </p:nvSpPr>
        <p:spPr>
          <a:xfrm>
            <a:off x="3246120" y="1207008"/>
            <a:ext cx="2651760" cy="1417320"/>
          </a:xfrm>
          <a:prstGeom prst="roundRect">
            <a:avLst>
              <a:gd name="adj" fmla="val 5161"/>
            </a:avLst>
          </a:prstGeom>
          <a:solidFill>
            <a:srgbClr val="FFFFFF"/>
          </a:solidFill>
          <a:ln w="9525">
            <a:solidFill>
              <a:srgbClr val="D5DDE0"/>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3383280" y="1344168"/>
            <a:ext cx="2377440" cy="411480"/>
          </a:xfrm>
          <a:prstGeom prst="roundRect">
            <a:avLst>
              <a:gd name="adj" fmla="val 22222"/>
            </a:avLst>
          </a:prstGeom>
          <a:solidFill>
            <a:srgbClr val="FDF1DC"/>
          </a:solidFill>
          <a:ln w="9525">
            <a:solidFill>
              <a:srgbClr val="FDF1DC"/>
            </a:solidFill>
            <a:prstDash val="solid"/>
          </a:ln>
        </p:spPr>
      </p:sp>
      <p:sp>
        <p:nvSpPr>
          <p:cNvPr id="13" name="Text 11"/>
          <p:cNvSpPr txBox="1"/>
          <p:nvPr/>
        </p:nvSpPr>
        <p:spPr>
          <a:xfrm>
            <a:off x="3474720" y="1344168"/>
            <a:ext cx="2240280" cy="411480"/>
          </a:xfrm>
          <a:prstGeom prst="rect">
            <a:avLst/>
          </a:prstGeom>
          <a:noFill/>
          <a:ln/>
        </p:spPr>
        <p:txBody>
          <a:bodyPr wrap="square" lIns="0" tIns="0" rIns="0" bIns="0" rtlCol="0" anchor="ctr"/>
          <a:lstStyle/>
          <a:p>
            <a:pPr indent="0" marL="0">
              <a:buNone/>
            </a:pPr>
            <a:r>
              <a:rPr lang="en-US" sz="1200" b="1" dirty="0">
                <a:solidFill>
                  <a:srgbClr val="8A5A00"/>
                </a:solidFill>
                <a:latin typeface="Meiryo" pitchFamily="34" charset="0"/>
                <a:ea typeface="Meiryo" pitchFamily="34" charset="-122"/>
                <a:cs typeface="Meiryo" pitchFamily="34" charset="-120"/>
              </a:rPr>
              <a:t>「退職金制度はないです」</a:t>
            </a:r>
            <a:endParaRPr lang="en-US" sz="1200" dirty="0"/>
          </a:p>
        </p:txBody>
      </p:sp>
      <p:sp>
        <p:nvSpPr>
          <p:cNvPr id="14" name="Text 12"/>
          <p:cNvSpPr txBox="1"/>
          <p:nvPr/>
        </p:nvSpPr>
        <p:spPr>
          <a:xfrm>
            <a:off x="3383280" y="1847088"/>
            <a:ext cx="2377440" cy="201168"/>
          </a:xfrm>
          <a:prstGeom prst="rect">
            <a:avLst/>
          </a:prstGeom>
          <a:noFill/>
          <a:ln/>
        </p:spPr>
        <p:txBody>
          <a:bodyPr wrap="square" lIns="0" tIns="0" rIns="0" bIns="0" rtlCol="0" anchor="t"/>
          <a:lstStyle/>
          <a:p>
            <a:pPr indent="0" marL="0">
              <a:buNone/>
            </a:pPr>
            <a:r>
              <a:rPr lang="en-US" sz="950" b="1" dirty="0">
                <a:solidFill>
                  <a:srgbClr val="0B6E6E"/>
                </a:solidFill>
                <a:latin typeface="Meiryo" pitchFamily="34" charset="0"/>
                <a:ea typeface="Meiryo" pitchFamily="34" charset="-122"/>
                <a:cs typeface="Meiryo" pitchFamily="34" charset="-120"/>
              </a:rPr>
              <a:t>AI の対応</a:t>
            </a:r>
            <a:endParaRPr lang="en-US" sz="950" dirty="0"/>
          </a:p>
        </p:txBody>
      </p:sp>
      <p:sp>
        <p:nvSpPr>
          <p:cNvPr id="15" name="Text 13"/>
          <p:cNvSpPr txBox="1"/>
          <p:nvPr/>
        </p:nvSpPr>
        <p:spPr>
          <a:xfrm>
            <a:off x="3383280" y="2048256"/>
            <a:ext cx="2377440" cy="548640"/>
          </a:xfrm>
          <a:prstGeom prst="rect">
            <a:avLst/>
          </a:prstGeom>
          <a:noFill/>
          <a:ln/>
        </p:spPr>
        <p:txBody>
          <a:bodyPr wrap="square" lIns="0" tIns="0" rIns="0" bIns="0" rtlCol="0" anchor="t"/>
          <a:lstStyle/>
          <a:p>
            <a:pPr indent="0" marL="0">
              <a:buNone/>
            </a:pPr>
            <a:r>
              <a:rPr lang="en-US" sz="1050" dirty="0">
                <a:solidFill>
                  <a:srgbClr val="1E2A30"/>
                </a:solidFill>
                <a:latin typeface="Meiryo" pitchFamily="34" charset="0"/>
                <a:ea typeface="Meiryo" pitchFamily="34" charset="-122"/>
                <a:cs typeface="Meiryo" pitchFamily="34" charset="-120"/>
              </a:rPr>
              <a:t>断りではなくチャンスと判断。「未導入の会社ほどメリットが大きい」と伝える</a:t>
            </a:r>
            <a:endParaRPr lang="en-US" sz="1050" dirty="0"/>
          </a:p>
        </p:txBody>
      </p:sp>
      <p:sp>
        <p:nvSpPr>
          <p:cNvPr id="16" name="Shape 14"/>
          <p:cNvSpPr/>
          <p:nvPr/>
        </p:nvSpPr>
        <p:spPr>
          <a:xfrm>
            <a:off x="6035040" y="1207008"/>
            <a:ext cx="2651760" cy="1417320"/>
          </a:xfrm>
          <a:prstGeom prst="roundRect">
            <a:avLst>
              <a:gd name="adj" fmla="val 5161"/>
            </a:avLst>
          </a:prstGeom>
          <a:solidFill>
            <a:srgbClr val="FFFFFF"/>
          </a:solidFill>
          <a:ln w="9525">
            <a:solidFill>
              <a:srgbClr val="D5DDE0"/>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6172200" y="1344168"/>
            <a:ext cx="2377440" cy="411480"/>
          </a:xfrm>
          <a:prstGeom prst="roundRect">
            <a:avLst>
              <a:gd name="adj" fmla="val 22222"/>
            </a:avLst>
          </a:prstGeom>
          <a:solidFill>
            <a:srgbClr val="FDF1DC"/>
          </a:solidFill>
          <a:ln w="9525">
            <a:solidFill>
              <a:srgbClr val="FDF1DC"/>
            </a:solidFill>
            <a:prstDash val="solid"/>
          </a:ln>
        </p:spPr>
      </p:sp>
      <p:sp>
        <p:nvSpPr>
          <p:cNvPr id="18" name="Text 16"/>
          <p:cNvSpPr txBox="1"/>
          <p:nvPr/>
        </p:nvSpPr>
        <p:spPr>
          <a:xfrm>
            <a:off x="6263640" y="1344168"/>
            <a:ext cx="2240280" cy="411480"/>
          </a:xfrm>
          <a:prstGeom prst="rect">
            <a:avLst/>
          </a:prstGeom>
          <a:noFill/>
          <a:ln/>
        </p:spPr>
        <p:txBody>
          <a:bodyPr wrap="square" lIns="0" tIns="0" rIns="0" bIns="0" rtlCol="0" anchor="ctr"/>
          <a:lstStyle/>
          <a:p>
            <a:pPr indent="0" marL="0">
              <a:buNone/>
            </a:pPr>
            <a:r>
              <a:rPr lang="en-US" sz="1200" b="1" dirty="0">
                <a:solidFill>
                  <a:srgbClr val="8A5A00"/>
                </a:solidFill>
                <a:latin typeface="Meiryo" pitchFamily="34" charset="0"/>
                <a:ea typeface="Meiryo" pitchFamily="34" charset="-122"/>
                <a:cs typeface="Meiryo" pitchFamily="34" charset="-120"/>
              </a:rPr>
              <a:t>「税理士に任せています」</a:t>
            </a:r>
            <a:endParaRPr lang="en-US" sz="1200" dirty="0"/>
          </a:p>
        </p:txBody>
      </p:sp>
      <p:sp>
        <p:nvSpPr>
          <p:cNvPr id="19" name="Text 17"/>
          <p:cNvSpPr txBox="1"/>
          <p:nvPr/>
        </p:nvSpPr>
        <p:spPr>
          <a:xfrm>
            <a:off x="6172200" y="1847088"/>
            <a:ext cx="2377440" cy="201168"/>
          </a:xfrm>
          <a:prstGeom prst="rect">
            <a:avLst/>
          </a:prstGeom>
          <a:noFill/>
          <a:ln/>
        </p:spPr>
        <p:txBody>
          <a:bodyPr wrap="square" lIns="0" tIns="0" rIns="0" bIns="0" rtlCol="0" anchor="t"/>
          <a:lstStyle/>
          <a:p>
            <a:pPr indent="0" marL="0">
              <a:buNone/>
            </a:pPr>
            <a:r>
              <a:rPr lang="en-US" sz="950" b="1" dirty="0">
                <a:solidFill>
                  <a:srgbClr val="0B6E6E"/>
                </a:solidFill>
                <a:latin typeface="Meiryo" pitchFamily="34" charset="0"/>
                <a:ea typeface="Meiryo" pitchFamily="34" charset="-122"/>
                <a:cs typeface="Meiryo" pitchFamily="34" charset="-120"/>
              </a:rPr>
              <a:t>AI の対応</a:t>
            </a:r>
            <a:endParaRPr lang="en-US" sz="950" dirty="0"/>
          </a:p>
        </p:txBody>
      </p:sp>
      <p:sp>
        <p:nvSpPr>
          <p:cNvPr id="20" name="Text 18"/>
          <p:cNvSpPr txBox="1"/>
          <p:nvPr/>
        </p:nvSpPr>
        <p:spPr>
          <a:xfrm>
            <a:off x="6172200" y="2048256"/>
            <a:ext cx="2377440" cy="548640"/>
          </a:xfrm>
          <a:prstGeom prst="rect">
            <a:avLst/>
          </a:prstGeom>
          <a:noFill/>
          <a:ln/>
        </p:spPr>
        <p:txBody>
          <a:bodyPr wrap="square" lIns="0" tIns="0" rIns="0" bIns="0" rtlCol="0" anchor="t"/>
          <a:lstStyle/>
          <a:p>
            <a:pPr indent="0" marL="0">
              <a:buNone/>
            </a:pPr>
            <a:r>
              <a:rPr lang="en-US" sz="1050" dirty="0">
                <a:solidFill>
                  <a:srgbClr val="1E2A30"/>
                </a:solidFill>
                <a:latin typeface="Meiryo" pitchFamily="34" charset="0"/>
                <a:ea typeface="Meiryo" pitchFamily="34" charset="-122"/>
                <a:cs typeface="Meiryo" pitchFamily="34" charset="-120"/>
              </a:rPr>
              <a:t>専門家を否定せず「セカンドオピニオンとして情報確認だけでも」とお伝えする</a:t>
            </a:r>
            <a:endParaRPr lang="en-US" sz="1050" dirty="0"/>
          </a:p>
        </p:txBody>
      </p:sp>
      <p:sp>
        <p:nvSpPr>
          <p:cNvPr id="21" name="Shape 19"/>
          <p:cNvSpPr/>
          <p:nvPr/>
        </p:nvSpPr>
        <p:spPr>
          <a:xfrm>
            <a:off x="457200" y="2724912"/>
            <a:ext cx="2651760" cy="1417320"/>
          </a:xfrm>
          <a:prstGeom prst="roundRect">
            <a:avLst>
              <a:gd name="adj" fmla="val 5161"/>
            </a:avLst>
          </a:prstGeom>
          <a:solidFill>
            <a:srgbClr val="FFFFFF"/>
          </a:solidFill>
          <a:ln w="9525">
            <a:solidFill>
              <a:srgbClr val="D5DDE0"/>
            </a:solidFill>
            <a:prstDash val="solid"/>
          </a:ln>
          <a:effectLst>
            <a:outerShdw sx="100000" sy="100000" kx="0" ky="0" algn="bl" rotWithShape="0" blurRad="76200" dist="25400" dir="5400000">
              <a:srgbClr val="000000">
                <a:alpha val="12000"/>
              </a:srgbClr>
            </a:outerShdw>
          </a:effectLst>
        </p:spPr>
      </p:sp>
      <p:sp>
        <p:nvSpPr>
          <p:cNvPr id="22" name="Shape 20"/>
          <p:cNvSpPr/>
          <p:nvPr/>
        </p:nvSpPr>
        <p:spPr>
          <a:xfrm>
            <a:off x="594360" y="2862072"/>
            <a:ext cx="2377440" cy="411480"/>
          </a:xfrm>
          <a:prstGeom prst="roundRect">
            <a:avLst>
              <a:gd name="adj" fmla="val 22222"/>
            </a:avLst>
          </a:prstGeom>
          <a:solidFill>
            <a:srgbClr val="FDF1DC"/>
          </a:solidFill>
          <a:ln w="9525">
            <a:solidFill>
              <a:srgbClr val="FDF1DC"/>
            </a:solidFill>
            <a:prstDash val="solid"/>
          </a:ln>
        </p:spPr>
      </p:sp>
      <p:sp>
        <p:nvSpPr>
          <p:cNvPr id="23" name="Text 21"/>
          <p:cNvSpPr txBox="1"/>
          <p:nvPr/>
        </p:nvSpPr>
        <p:spPr>
          <a:xfrm>
            <a:off x="685800" y="2862072"/>
            <a:ext cx="2240280" cy="411480"/>
          </a:xfrm>
          <a:prstGeom prst="rect">
            <a:avLst/>
          </a:prstGeom>
          <a:noFill/>
          <a:ln/>
        </p:spPr>
        <p:txBody>
          <a:bodyPr wrap="square" lIns="0" tIns="0" rIns="0" bIns="0" rtlCol="0" anchor="ctr"/>
          <a:lstStyle/>
          <a:p>
            <a:pPr indent="0" marL="0">
              <a:buNone/>
            </a:pPr>
            <a:r>
              <a:rPr lang="en-US" sz="1200" b="1" dirty="0">
                <a:solidFill>
                  <a:srgbClr val="8A5A00"/>
                </a:solidFill>
                <a:latin typeface="Meiryo" pitchFamily="34" charset="0"/>
                <a:ea typeface="Meiryo" pitchFamily="34" charset="-122"/>
                <a:cs typeface="Meiryo" pitchFamily="34" charset="-120"/>
              </a:rPr>
              <a:t>「資料だけ送って」</a:t>
            </a:r>
            <a:endParaRPr lang="en-US" sz="1200" dirty="0"/>
          </a:p>
        </p:txBody>
      </p:sp>
      <p:sp>
        <p:nvSpPr>
          <p:cNvPr id="24" name="Text 22"/>
          <p:cNvSpPr txBox="1"/>
          <p:nvPr/>
        </p:nvSpPr>
        <p:spPr>
          <a:xfrm>
            <a:off x="594360" y="3364992"/>
            <a:ext cx="2377440" cy="201168"/>
          </a:xfrm>
          <a:prstGeom prst="rect">
            <a:avLst/>
          </a:prstGeom>
          <a:noFill/>
          <a:ln/>
        </p:spPr>
        <p:txBody>
          <a:bodyPr wrap="square" lIns="0" tIns="0" rIns="0" bIns="0" rtlCol="0" anchor="t"/>
          <a:lstStyle/>
          <a:p>
            <a:pPr indent="0" marL="0">
              <a:buNone/>
            </a:pPr>
            <a:r>
              <a:rPr lang="en-US" sz="950" b="1" dirty="0">
                <a:solidFill>
                  <a:srgbClr val="0B6E6E"/>
                </a:solidFill>
                <a:latin typeface="Meiryo" pitchFamily="34" charset="0"/>
                <a:ea typeface="Meiryo" pitchFamily="34" charset="-122"/>
                <a:cs typeface="Meiryo" pitchFamily="34" charset="-120"/>
              </a:rPr>
              <a:t>AI の対応</a:t>
            </a:r>
            <a:endParaRPr lang="en-US" sz="950" dirty="0"/>
          </a:p>
        </p:txBody>
      </p:sp>
      <p:sp>
        <p:nvSpPr>
          <p:cNvPr id="25" name="Text 23"/>
          <p:cNvSpPr txBox="1"/>
          <p:nvPr/>
        </p:nvSpPr>
        <p:spPr>
          <a:xfrm>
            <a:off x="594360" y="3566160"/>
            <a:ext cx="2377440" cy="548640"/>
          </a:xfrm>
          <a:prstGeom prst="rect">
            <a:avLst/>
          </a:prstGeom>
          <a:noFill/>
          <a:ln/>
        </p:spPr>
        <p:txBody>
          <a:bodyPr wrap="square" lIns="0" tIns="0" rIns="0" bIns="0" rtlCol="0" anchor="t"/>
          <a:lstStyle/>
          <a:p>
            <a:pPr indent="0" marL="0">
              <a:buNone/>
            </a:pPr>
            <a:r>
              <a:rPr lang="en-US" sz="1050" dirty="0">
                <a:solidFill>
                  <a:srgbClr val="1E2A30"/>
                </a:solidFill>
                <a:latin typeface="Meiryo" pitchFamily="34" charset="0"/>
                <a:ea typeface="Meiryo" pitchFamily="34" charset="-122"/>
                <a:cs typeface="Meiryo" pitchFamily="34" charset="-120"/>
              </a:rPr>
              <a:t>送付先のメールアドレスを伺い、つながりを残す</a:t>
            </a:r>
            <a:endParaRPr lang="en-US" sz="1050" dirty="0"/>
          </a:p>
        </p:txBody>
      </p:sp>
      <p:sp>
        <p:nvSpPr>
          <p:cNvPr id="26" name="Shape 24"/>
          <p:cNvSpPr/>
          <p:nvPr/>
        </p:nvSpPr>
        <p:spPr>
          <a:xfrm>
            <a:off x="3246120" y="2724912"/>
            <a:ext cx="2651760" cy="1417320"/>
          </a:xfrm>
          <a:prstGeom prst="roundRect">
            <a:avLst>
              <a:gd name="adj" fmla="val 5161"/>
            </a:avLst>
          </a:prstGeom>
          <a:solidFill>
            <a:srgbClr val="FFFFFF"/>
          </a:solidFill>
          <a:ln w="9525">
            <a:solidFill>
              <a:srgbClr val="D5DDE0"/>
            </a:solidFill>
            <a:prstDash val="solid"/>
          </a:ln>
          <a:effectLst>
            <a:outerShdw sx="100000" sy="100000" kx="0" ky="0" algn="bl" rotWithShape="0" blurRad="76200" dist="25400" dir="5400000">
              <a:srgbClr val="000000">
                <a:alpha val="12000"/>
              </a:srgbClr>
            </a:outerShdw>
          </a:effectLst>
        </p:spPr>
      </p:sp>
      <p:sp>
        <p:nvSpPr>
          <p:cNvPr id="27" name="Shape 25"/>
          <p:cNvSpPr/>
          <p:nvPr/>
        </p:nvSpPr>
        <p:spPr>
          <a:xfrm>
            <a:off x="3383280" y="2862072"/>
            <a:ext cx="2377440" cy="411480"/>
          </a:xfrm>
          <a:prstGeom prst="roundRect">
            <a:avLst>
              <a:gd name="adj" fmla="val 22222"/>
            </a:avLst>
          </a:prstGeom>
          <a:solidFill>
            <a:srgbClr val="FDF1DC"/>
          </a:solidFill>
          <a:ln w="9525">
            <a:solidFill>
              <a:srgbClr val="FDF1DC"/>
            </a:solidFill>
            <a:prstDash val="solid"/>
          </a:ln>
        </p:spPr>
      </p:sp>
      <p:sp>
        <p:nvSpPr>
          <p:cNvPr id="28" name="Text 26"/>
          <p:cNvSpPr txBox="1"/>
          <p:nvPr/>
        </p:nvSpPr>
        <p:spPr>
          <a:xfrm>
            <a:off x="3474720" y="2862072"/>
            <a:ext cx="2240280" cy="411480"/>
          </a:xfrm>
          <a:prstGeom prst="rect">
            <a:avLst/>
          </a:prstGeom>
          <a:noFill/>
          <a:ln/>
        </p:spPr>
        <p:txBody>
          <a:bodyPr wrap="square" lIns="0" tIns="0" rIns="0" bIns="0" rtlCol="0" anchor="ctr"/>
          <a:lstStyle/>
          <a:p>
            <a:pPr indent="0" marL="0">
              <a:buNone/>
            </a:pPr>
            <a:r>
              <a:rPr lang="en-US" sz="1200" b="1" dirty="0">
                <a:solidFill>
                  <a:srgbClr val="8A5A00"/>
                </a:solidFill>
                <a:latin typeface="Meiryo" pitchFamily="34" charset="0"/>
                <a:ea typeface="Meiryo" pitchFamily="34" charset="-122"/>
                <a:cs typeface="Meiryo" pitchFamily="34" charset="-120"/>
              </a:rPr>
              <a:t>「国の機関の方？」</a:t>
            </a:r>
            <a:endParaRPr lang="en-US" sz="1200" dirty="0"/>
          </a:p>
        </p:txBody>
      </p:sp>
      <p:sp>
        <p:nvSpPr>
          <p:cNvPr id="29" name="Text 27"/>
          <p:cNvSpPr txBox="1"/>
          <p:nvPr/>
        </p:nvSpPr>
        <p:spPr>
          <a:xfrm>
            <a:off x="3383280" y="3364992"/>
            <a:ext cx="2377440" cy="201168"/>
          </a:xfrm>
          <a:prstGeom prst="rect">
            <a:avLst/>
          </a:prstGeom>
          <a:noFill/>
          <a:ln/>
        </p:spPr>
        <p:txBody>
          <a:bodyPr wrap="square" lIns="0" tIns="0" rIns="0" bIns="0" rtlCol="0" anchor="t"/>
          <a:lstStyle/>
          <a:p>
            <a:pPr indent="0" marL="0">
              <a:buNone/>
            </a:pPr>
            <a:r>
              <a:rPr lang="en-US" sz="950" b="1" dirty="0">
                <a:solidFill>
                  <a:srgbClr val="0B6E6E"/>
                </a:solidFill>
                <a:latin typeface="Meiryo" pitchFamily="34" charset="0"/>
                <a:ea typeface="Meiryo" pitchFamily="34" charset="-122"/>
                <a:cs typeface="Meiryo" pitchFamily="34" charset="-120"/>
              </a:rPr>
              <a:t>AI の対応</a:t>
            </a:r>
            <a:endParaRPr lang="en-US" sz="950" dirty="0"/>
          </a:p>
        </p:txBody>
      </p:sp>
      <p:sp>
        <p:nvSpPr>
          <p:cNvPr id="30" name="Text 28"/>
          <p:cNvSpPr txBox="1"/>
          <p:nvPr/>
        </p:nvSpPr>
        <p:spPr>
          <a:xfrm>
            <a:off x="3383280" y="3566160"/>
            <a:ext cx="2377440" cy="548640"/>
          </a:xfrm>
          <a:prstGeom prst="rect">
            <a:avLst/>
          </a:prstGeom>
          <a:noFill/>
          <a:ln/>
        </p:spPr>
        <p:txBody>
          <a:bodyPr wrap="square" lIns="0" tIns="0" rIns="0" bIns="0" rtlCol="0" anchor="t"/>
          <a:lstStyle/>
          <a:p>
            <a:pPr indent="0" marL="0">
              <a:buNone/>
            </a:pPr>
            <a:r>
              <a:rPr lang="en-US" sz="1050" dirty="0">
                <a:solidFill>
                  <a:srgbClr val="1E2A30"/>
                </a:solidFill>
                <a:latin typeface="Meiryo" pitchFamily="34" charset="0"/>
                <a:ea typeface="Meiryo" pitchFamily="34" charset="-122"/>
                <a:cs typeface="Meiryo" pitchFamily="34" charset="-120"/>
              </a:rPr>
              <a:t>「制度は厚労省の管轄ですが、私どもは民間の事業者です」とすぐに説明</a:t>
            </a:r>
            <a:endParaRPr lang="en-US" sz="1050" dirty="0"/>
          </a:p>
        </p:txBody>
      </p:sp>
      <p:sp>
        <p:nvSpPr>
          <p:cNvPr id="31" name="Shape 29"/>
          <p:cNvSpPr/>
          <p:nvPr/>
        </p:nvSpPr>
        <p:spPr>
          <a:xfrm>
            <a:off x="6035040" y="2724912"/>
            <a:ext cx="2651760" cy="1417320"/>
          </a:xfrm>
          <a:prstGeom prst="roundRect">
            <a:avLst>
              <a:gd name="adj" fmla="val 5161"/>
            </a:avLst>
          </a:prstGeom>
          <a:solidFill>
            <a:srgbClr val="FFFFFF"/>
          </a:solidFill>
          <a:ln w="9525">
            <a:solidFill>
              <a:srgbClr val="D5DDE0"/>
            </a:solidFill>
            <a:prstDash val="solid"/>
          </a:ln>
          <a:effectLst>
            <a:outerShdw sx="100000" sy="100000" kx="0" ky="0" algn="bl" rotWithShape="0" blurRad="76200" dist="25400" dir="5400000">
              <a:srgbClr val="000000">
                <a:alpha val="12000"/>
              </a:srgbClr>
            </a:outerShdw>
          </a:effectLst>
        </p:spPr>
      </p:sp>
      <p:sp>
        <p:nvSpPr>
          <p:cNvPr id="32" name="Shape 30"/>
          <p:cNvSpPr/>
          <p:nvPr/>
        </p:nvSpPr>
        <p:spPr>
          <a:xfrm>
            <a:off x="6172200" y="2862072"/>
            <a:ext cx="2377440" cy="411480"/>
          </a:xfrm>
          <a:prstGeom prst="roundRect">
            <a:avLst>
              <a:gd name="adj" fmla="val 22222"/>
            </a:avLst>
          </a:prstGeom>
          <a:solidFill>
            <a:srgbClr val="FDF1DC"/>
          </a:solidFill>
          <a:ln w="9525">
            <a:solidFill>
              <a:srgbClr val="FDF1DC"/>
            </a:solidFill>
            <a:prstDash val="solid"/>
          </a:ln>
        </p:spPr>
      </p:sp>
      <p:sp>
        <p:nvSpPr>
          <p:cNvPr id="33" name="Text 31"/>
          <p:cNvSpPr txBox="1"/>
          <p:nvPr/>
        </p:nvSpPr>
        <p:spPr>
          <a:xfrm>
            <a:off x="6263640" y="2862072"/>
            <a:ext cx="2240280" cy="411480"/>
          </a:xfrm>
          <a:prstGeom prst="rect">
            <a:avLst/>
          </a:prstGeom>
          <a:noFill/>
          <a:ln/>
        </p:spPr>
        <p:txBody>
          <a:bodyPr wrap="square" lIns="0" tIns="0" rIns="0" bIns="0" rtlCol="0" anchor="ctr"/>
          <a:lstStyle/>
          <a:p>
            <a:pPr indent="0" marL="0">
              <a:buNone/>
            </a:pPr>
            <a:r>
              <a:rPr lang="en-US" sz="1200" b="1" dirty="0">
                <a:solidFill>
                  <a:srgbClr val="8A5A00"/>
                </a:solidFill>
                <a:latin typeface="Meiryo" pitchFamily="34" charset="0"/>
                <a:ea typeface="Meiryo" pitchFamily="34" charset="-122"/>
                <a:cs typeface="Meiryo" pitchFamily="34" charset="-120"/>
              </a:rPr>
              <a:t>「担当は今いません」</a:t>
            </a:r>
            <a:endParaRPr lang="en-US" sz="1200" dirty="0"/>
          </a:p>
        </p:txBody>
      </p:sp>
      <p:sp>
        <p:nvSpPr>
          <p:cNvPr id="34" name="Text 32"/>
          <p:cNvSpPr txBox="1"/>
          <p:nvPr/>
        </p:nvSpPr>
        <p:spPr>
          <a:xfrm>
            <a:off x="6172200" y="3364992"/>
            <a:ext cx="2377440" cy="201168"/>
          </a:xfrm>
          <a:prstGeom prst="rect">
            <a:avLst/>
          </a:prstGeom>
          <a:noFill/>
          <a:ln/>
        </p:spPr>
        <p:txBody>
          <a:bodyPr wrap="square" lIns="0" tIns="0" rIns="0" bIns="0" rtlCol="0" anchor="t"/>
          <a:lstStyle/>
          <a:p>
            <a:pPr indent="0" marL="0">
              <a:buNone/>
            </a:pPr>
            <a:r>
              <a:rPr lang="en-US" sz="950" b="1" dirty="0">
                <a:solidFill>
                  <a:srgbClr val="0B6E6E"/>
                </a:solidFill>
                <a:latin typeface="Meiryo" pitchFamily="34" charset="0"/>
                <a:ea typeface="Meiryo" pitchFamily="34" charset="-122"/>
                <a:cs typeface="Meiryo" pitchFamily="34" charset="-120"/>
              </a:rPr>
              <a:t>AI の対応</a:t>
            </a:r>
            <a:endParaRPr lang="en-US" sz="950" dirty="0"/>
          </a:p>
        </p:txBody>
      </p:sp>
      <p:sp>
        <p:nvSpPr>
          <p:cNvPr id="35" name="Text 33"/>
          <p:cNvSpPr txBox="1"/>
          <p:nvPr/>
        </p:nvSpPr>
        <p:spPr>
          <a:xfrm>
            <a:off x="6172200" y="3566160"/>
            <a:ext cx="2377440" cy="548640"/>
          </a:xfrm>
          <a:prstGeom prst="rect">
            <a:avLst/>
          </a:prstGeom>
          <a:noFill/>
          <a:ln/>
        </p:spPr>
        <p:txBody>
          <a:bodyPr wrap="square" lIns="0" tIns="0" rIns="0" bIns="0" rtlCol="0" anchor="t"/>
          <a:lstStyle/>
          <a:p>
            <a:pPr indent="0" marL="0">
              <a:buNone/>
            </a:pPr>
            <a:r>
              <a:rPr lang="en-US" sz="1050" dirty="0">
                <a:solidFill>
                  <a:srgbClr val="1E2A30"/>
                </a:solidFill>
                <a:latin typeface="Meiryo" pitchFamily="34" charset="0"/>
                <a:ea typeface="Meiryo" pitchFamily="34" charset="-122"/>
                <a:cs typeface="Meiryo" pitchFamily="34" charset="-120"/>
              </a:rPr>
              <a:t>戻る時間と連絡先を伺い、かけ直しを約束して終える</a:t>
            </a:r>
            <a:endParaRPr lang="en-US" sz="1050" dirty="0"/>
          </a:p>
        </p:txBody>
      </p:sp>
      <p:sp>
        <p:nvSpPr>
          <p:cNvPr id="36" name="Shape 34"/>
          <p:cNvSpPr/>
          <p:nvPr/>
        </p:nvSpPr>
        <p:spPr>
          <a:xfrm>
            <a:off x="457200" y="4261104"/>
            <a:ext cx="8229600" cy="402336"/>
          </a:xfrm>
          <a:prstGeom prst="roundRect">
            <a:avLst>
              <a:gd name="adj" fmla="val 18182"/>
            </a:avLst>
          </a:prstGeom>
          <a:solidFill>
            <a:srgbClr val="F3F6F7"/>
          </a:solidFill>
          <a:ln w="9525">
            <a:solidFill>
              <a:srgbClr val="F3F6F7"/>
            </a:solidFill>
            <a:prstDash val="solid"/>
          </a:ln>
        </p:spPr>
      </p:sp>
      <p:pic>
        <p:nvPicPr>
          <p:cNvPr id="37" name="Image 0" descr="preencoded.png">    </p:cNvPr>
          <p:cNvPicPr>
            <a:picLocks noChangeAspect="1"/>
          </p:cNvPicPr>
          <p:nvPr/>
        </p:nvPicPr>
        <p:blipFill>
          <a:blip r:embed="rId1"/>
          <a:stretch>
            <a:fillRect/>
          </a:stretch>
        </p:blipFill>
        <p:spPr>
          <a:xfrm>
            <a:off x="640080" y="4315968"/>
            <a:ext cx="274320" cy="274320"/>
          </a:xfrm>
          <a:prstGeom prst="rect">
            <a:avLst/>
          </a:prstGeom>
        </p:spPr>
      </p:pic>
      <p:sp>
        <p:nvSpPr>
          <p:cNvPr id="38" name="Text 35"/>
          <p:cNvSpPr txBox="1"/>
          <p:nvPr/>
        </p:nvSpPr>
        <p:spPr>
          <a:xfrm>
            <a:off x="1051560" y="4261104"/>
            <a:ext cx="7498080" cy="402336"/>
          </a:xfrm>
          <a:prstGeom prst="rect">
            <a:avLst/>
          </a:prstGeom>
          <a:noFill/>
          <a:ln/>
        </p:spPr>
        <p:txBody>
          <a:bodyPr wrap="square" lIns="0" tIns="0" rIns="0" bIns="0" rtlCol="0" anchor="ctr"/>
          <a:lstStyle/>
          <a:p>
            <a:pPr indent="0" marL="0">
              <a:buNone/>
            </a:pPr>
            <a:r>
              <a:rPr lang="en-US" sz="1100" dirty="0">
                <a:solidFill>
                  <a:srgbClr val="1E2A30"/>
                </a:solidFill>
                <a:latin typeface="Meiryo" pitchFamily="34" charset="0"/>
                <a:ea typeface="Meiryo" pitchFamily="34" charset="-122"/>
                <a:cs typeface="Meiryo" pitchFamily="34" charset="-120"/>
              </a:rPr>
              <a:t>はっきり断られたときや「営業電話はお断り」のときは、食い下がらずにていねいに電話を終えます</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960120" cy="256032"/>
          </a:xfrm>
          <a:prstGeom prst="roundRect">
            <a:avLst>
              <a:gd name="adj" fmla="val 50000"/>
            </a:avLst>
          </a:prstGeom>
          <a:solidFill>
            <a:srgbClr val="E3F3F2"/>
          </a:solidFill>
          <a:ln w="9525">
            <a:solidFill>
              <a:srgbClr val="E3F3F2"/>
            </a:solidFill>
            <a:prstDash val="solid"/>
          </a:ln>
        </p:spPr>
      </p:sp>
      <p:sp>
        <p:nvSpPr>
          <p:cNvPr id="3" name="Text 1"/>
          <p:cNvSpPr txBox="1"/>
          <p:nvPr/>
        </p:nvSpPr>
        <p:spPr>
          <a:xfrm>
            <a:off x="457200" y="310896"/>
            <a:ext cx="960120" cy="256032"/>
          </a:xfrm>
          <a:prstGeom prst="rect">
            <a:avLst/>
          </a:prstGeom>
          <a:noFill/>
          <a:ln/>
        </p:spPr>
        <p:txBody>
          <a:bodyPr wrap="square" lIns="0" tIns="0" rIns="0" bIns="0" rtlCol="0" anchor="ctr"/>
          <a:lstStyle/>
          <a:p>
            <a:pPr algn="ctr" indent="0" marL="0">
              <a:buNone/>
            </a:pPr>
            <a:r>
              <a:rPr lang="en-US" sz="1000" b="1" dirty="0">
                <a:solidFill>
                  <a:srgbClr val="0B6E6E"/>
                </a:solidFill>
                <a:latin typeface="Meiryo" pitchFamily="34" charset="0"/>
                <a:ea typeface="Meiryo" pitchFamily="34" charset="-122"/>
                <a:cs typeface="Meiryo" pitchFamily="34" charset="-120"/>
              </a:rPr>
              <a:t>できること</a:t>
            </a:r>
            <a:endParaRPr lang="en-US" sz="1000" dirty="0"/>
          </a:p>
        </p:txBody>
      </p:sp>
      <p:sp>
        <p:nvSpPr>
          <p:cNvPr id="4" name="Text 2"/>
          <p:cNvSpPr txBox="1"/>
          <p:nvPr/>
        </p:nvSpPr>
        <p:spPr>
          <a:xfrm>
            <a:off x="457200" y="603504"/>
            <a:ext cx="8229600" cy="502920"/>
          </a:xfrm>
          <a:prstGeom prst="rect">
            <a:avLst/>
          </a:prstGeom>
          <a:noFill/>
          <a:ln/>
        </p:spPr>
        <p:txBody>
          <a:bodyPr wrap="square" lIns="0" tIns="0" rIns="0" bIns="0" rtlCol="0" anchor="ctr"/>
          <a:lstStyle/>
          <a:p>
            <a:pPr indent="0" marL="0">
              <a:buNone/>
            </a:pPr>
            <a:r>
              <a:rPr lang="en-US" sz="2400" b="1" dirty="0">
                <a:solidFill>
                  <a:srgbClr val="1E2A30"/>
                </a:solidFill>
                <a:latin typeface="Meiryo" pitchFamily="34" charset="0"/>
                <a:ea typeface="Meiryo" pitchFamily="34" charset="-122"/>
                <a:cs typeface="Meiryo" pitchFamily="34" charset="-120"/>
              </a:rPr>
              <a:t>7つの質問を、毎回かならず聞き切る</a:t>
            </a:r>
            <a:endParaRPr lang="en-US" sz="2400" dirty="0"/>
          </a:p>
        </p:txBody>
      </p:sp>
      <p:sp>
        <p:nvSpPr>
          <p:cNvPr id="5" name="Text 3"/>
          <p:cNvSpPr txBox="1"/>
          <p:nvPr/>
        </p:nvSpPr>
        <p:spPr>
          <a:xfrm>
            <a:off x="7955280" y="4773168"/>
            <a:ext cx="731520" cy="228600"/>
          </a:xfrm>
          <a:prstGeom prst="rect">
            <a:avLst/>
          </a:prstGeom>
          <a:noFill/>
          <a:ln/>
        </p:spPr>
        <p:txBody>
          <a:bodyPr wrap="square" lIns="0" tIns="0" rIns="0" bIns="0" rtlCol="0" anchor="t"/>
          <a:lstStyle/>
          <a:p>
            <a:pPr algn="r" indent="0" marL="0">
              <a:buNone/>
            </a:pPr>
            <a:r>
              <a:rPr lang="en-US" sz="900" dirty="0">
                <a:solidFill>
                  <a:srgbClr val="5B6870"/>
                </a:solidFill>
                <a:latin typeface="Meiryo" pitchFamily="34" charset="0"/>
                <a:ea typeface="Meiryo" pitchFamily="34" charset="-122"/>
                <a:cs typeface="Meiryo" pitchFamily="34" charset="-120"/>
              </a:rPr>
              <a:t>9 / 17</a:t>
            </a:r>
            <a:endParaRPr lang="en-US" sz="900" dirty="0"/>
          </a:p>
        </p:txBody>
      </p:sp>
      <p:pic>
        <p:nvPicPr>
          <p:cNvPr id="6" name="Image 0" descr="preencoded.png">    </p:cNvPr>
          <p:cNvPicPr>
            <a:picLocks noChangeAspect="1"/>
          </p:cNvPicPr>
          <p:nvPr/>
        </p:nvPicPr>
        <p:blipFill>
          <a:blip r:embed="rId1"/>
          <a:stretch>
            <a:fillRect/>
          </a:stretch>
        </p:blipFill>
        <p:spPr>
          <a:xfrm>
            <a:off x="457200" y="1298448"/>
            <a:ext cx="237744" cy="237744"/>
          </a:xfrm>
          <a:prstGeom prst="rect">
            <a:avLst/>
          </a:prstGeom>
        </p:spPr>
      </p:pic>
      <p:sp>
        <p:nvSpPr>
          <p:cNvPr id="7" name="Text 4"/>
          <p:cNvSpPr txBox="1"/>
          <p:nvPr/>
        </p:nvSpPr>
        <p:spPr>
          <a:xfrm>
            <a:off x="822960" y="1234440"/>
            <a:ext cx="2743200" cy="365760"/>
          </a:xfrm>
          <a:prstGeom prst="rect">
            <a:avLst/>
          </a:prstGeom>
          <a:noFill/>
          <a:ln/>
        </p:spPr>
        <p:txBody>
          <a:bodyPr wrap="square" lIns="0" tIns="0" rIns="0" bIns="0" rtlCol="0" anchor="ctr"/>
          <a:lstStyle/>
          <a:p>
            <a:pPr indent="0" marL="0">
              <a:buNone/>
            </a:pPr>
            <a:r>
              <a:rPr lang="en-US" sz="1300" dirty="0">
                <a:solidFill>
                  <a:srgbClr val="1E2A30"/>
                </a:solidFill>
                <a:latin typeface="Meiryo" pitchFamily="34" charset="0"/>
                <a:ea typeface="Meiryo" pitchFamily="34" charset="-122"/>
                <a:cs typeface="Meiryo" pitchFamily="34" charset="-120"/>
              </a:rPr>
              <a:t>1. iDeCo・投資をしているか</a:t>
            </a:r>
            <a:endParaRPr lang="en-US" sz="1300" dirty="0"/>
          </a:p>
        </p:txBody>
      </p:sp>
      <p:pic>
        <p:nvPicPr>
          <p:cNvPr id="8" name="Image 1" descr="preencoded.png">    </p:cNvPr>
          <p:cNvPicPr>
            <a:picLocks noChangeAspect="1"/>
          </p:cNvPicPr>
          <p:nvPr/>
        </p:nvPicPr>
        <p:blipFill>
          <a:blip r:embed="rId2"/>
          <a:stretch>
            <a:fillRect/>
          </a:stretch>
        </p:blipFill>
        <p:spPr>
          <a:xfrm>
            <a:off x="457200" y="1673352"/>
            <a:ext cx="237744" cy="237744"/>
          </a:xfrm>
          <a:prstGeom prst="rect">
            <a:avLst/>
          </a:prstGeom>
        </p:spPr>
      </p:pic>
      <p:sp>
        <p:nvSpPr>
          <p:cNvPr id="9" name="Text 5"/>
          <p:cNvSpPr txBox="1"/>
          <p:nvPr/>
        </p:nvSpPr>
        <p:spPr>
          <a:xfrm>
            <a:off x="822960" y="1609344"/>
            <a:ext cx="2743200" cy="365760"/>
          </a:xfrm>
          <a:prstGeom prst="rect">
            <a:avLst/>
          </a:prstGeom>
          <a:noFill/>
          <a:ln/>
        </p:spPr>
        <p:txBody>
          <a:bodyPr wrap="square" lIns="0" tIns="0" rIns="0" bIns="0" rtlCol="0" anchor="ctr"/>
          <a:lstStyle/>
          <a:p>
            <a:pPr indent="0" marL="0">
              <a:buNone/>
            </a:pPr>
            <a:r>
              <a:rPr lang="en-US" sz="1300" dirty="0">
                <a:solidFill>
                  <a:srgbClr val="1E2A30"/>
                </a:solidFill>
                <a:latin typeface="Meiryo" pitchFamily="34" charset="0"/>
                <a:ea typeface="Meiryo" pitchFamily="34" charset="-122"/>
                <a:cs typeface="Meiryo" pitchFamily="34" charset="-120"/>
              </a:rPr>
              <a:t>2. 退職金制度があるか</a:t>
            </a:r>
            <a:endParaRPr lang="en-US" sz="1300" dirty="0"/>
          </a:p>
        </p:txBody>
      </p:sp>
      <p:pic>
        <p:nvPicPr>
          <p:cNvPr id="10" name="Image 2" descr="preencoded.png">    </p:cNvPr>
          <p:cNvPicPr>
            <a:picLocks noChangeAspect="1"/>
          </p:cNvPicPr>
          <p:nvPr/>
        </p:nvPicPr>
        <p:blipFill>
          <a:blip r:embed="rId3"/>
          <a:stretch>
            <a:fillRect/>
          </a:stretch>
        </p:blipFill>
        <p:spPr>
          <a:xfrm>
            <a:off x="457200" y="2048256"/>
            <a:ext cx="237744" cy="237744"/>
          </a:xfrm>
          <a:prstGeom prst="rect">
            <a:avLst/>
          </a:prstGeom>
        </p:spPr>
      </p:pic>
      <p:sp>
        <p:nvSpPr>
          <p:cNvPr id="11" name="Text 6"/>
          <p:cNvSpPr txBox="1"/>
          <p:nvPr/>
        </p:nvSpPr>
        <p:spPr>
          <a:xfrm>
            <a:off x="822960" y="1984248"/>
            <a:ext cx="2743200" cy="365760"/>
          </a:xfrm>
          <a:prstGeom prst="rect">
            <a:avLst/>
          </a:prstGeom>
          <a:noFill/>
          <a:ln/>
        </p:spPr>
        <p:txBody>
          <a:bodyPr wrap="square" lIns="0" tIns="0" rIns="0" bIns="0" rtlCol="0" anchor="ctr"/>
          <a:lstStyle/>
          <a:p>
            <a:pPr indent="0" marL="0">
              <a:buNone/>
            </a:pPr>
            <a:r>
              <a:rPr lang="en-US" sz="1300" dirty="0">
                <a:solidFill>
                  <a:srgbClr val="1E2A30"/>
                </a:solidFill>
                <a:latin typeface="Meiryo" pitchFamily="34" charset="0"/>
                <a:ea typeface="Meiryo" pitchFamily="34" charset="-122"/>
                <a:cs typeface="Meiryo" pitchFamily="34" charset="-120"/>
              </a:rPr>
              <a:t>3. 代表者の年齢</a:t>
            </a:r>
            <a:endParaRPr lang="en-US" sz="1300" dirty="0"/>
          </a:p>
        </p:txBody>
      </p:sp>
      <p:pic>
        <p:nvPicPr>
          <p:cNvPr id="12" name="Image 3" descr="preencoded.png">    </p:cNvPr>
          <p:cNvPicPr>
            <a:picLocks noChangeAspect="1"/>
          </p:cNvPicPr>
          <p:nvPr/>
        </p:nvPicPr>
        <p:blipFill>
          <a:blip r:embed="rId4"/>
          <a:stretch>
            <a:fillRect/>
          </a:stretch>
        </p:blipFill>
        <p:spPr>
          <a:xfrm>
            <a:off x="457200" y="2423160"/>
            <a:ext cx="237744" cy="237744"/>
          </a:xfrm>
          <a:prstGeom prst="rect">
            <a:avLst/>
          </a:prstGeom>
        </p:spPr>
      </p:pic>
      <p:sp>
        <p:nvSpPr>
          <p:cNvPr id="13" name="Text 7"/>
          <p:cNvSpPr txBox="1"/>
          <p:nvPr/>
        </p:nvSpPr>
        <p:spPr>
          <a:xfrm>
            <a:off x="822960" y="2359152"/>
            <a:ext cx="2743200" cy="365760"/>
          </a:xfrm>
          <a:prstGeom prst="rect">
            <a:avLst/>
          </a:prstGeom>
          <a:noFill/>
          <a:ln/>
        </p:spPr>
        <p:txBody>
          <a:bodyPr wrap="square" lIns="0" tIns="0" rIns="0" bIns="0" rtlCol="0" anchor="ctr"/>
          <a:lstStyle/>
          <a:p>
            <a:pPr indent="0" marL="0">
              <a:buNone/>
            </a:pPr>
            <a:r>
              <a:rPr lang="en-US" sz="1300" dirty="0">
                <a:solidFill>
                  <a:srgbClr val="1E2A30"/>
                </a:solidFill>
                <a:latin typeface="Meiryo" pitchFamily="34" charset="0"/>
                <a:ea typeface="Meiryo" pitchFamily="34" charset="-122"/>
                <a:cs typeface="Meiryo" pitchFamily="34" charset="-120"/>
              </a:rPr>
              <a:t>4. 役員の人数と年齢</a:t>
            </a:r>
            <a:endParaRPr lang="en-US" sz="1300" dirty="0"/>
          </a:p>
        </p:txBody>
      </p:sp>
      <p:sp>
        <p:nvSpPr>
          <p:cNvPr id="14" name="Shape 8"/>
          <p:cNvSpPr/>
          <p:nvPr/>
        </p:nvSpPr>
        <p:spPr>
          <a:xfrm>
            <a:off x="3429000" y="2432304"/>
            <a:ext cx="914400" cy="228600"/>
          </a:xfrm>
          <a:prstGeom prst="roundRect">
            <a:avLst>
              <a:gd name="adj" fmla="val 48000"/>
            </a:avLst>
          </a:prstGeom>
          <a:solidFill>
            <a:srgbClr val="FDF1DC"/>
          </a:solidFill>
          <a:ln w="9525">
            <a:solidFill>
              <a:srgbClr val="FDF1DC"/>
            </a:solidFill>
            <a:prstDash val="solid"/>
          </a:ln>
        </p:spPr>
      </p:sp>
      <p:sp>
        <p:nvSpPr>
          <p:cNvPr id="15" name="Text 9"/>
          <p:cNvSpPr txBox="1"/>
          <p:nvPr/>
        </p:nvSpPr>
        <p:spPr>
          <a:xfrm>
            <a:off x="3429000" y="2432304"/>
            <a:ext cx="914400" cy="228600"/>
          </a:xfrm>
          <a:prstGeom prst="rect">
            <a:avLst/>
          </a:prstGeom>
          <a:noFill/>
          <a:ln/>
        </p:spPr>
        <p:txBody>
          <a:bodyPr wrap="square" lIns="0" tIns="0" rIns="0" bIns="0" rtlCol="0" anchor="ctr"/>
          <a:lstStyle/>
          <a:p>
            <a:pPr algn="ctr" indent="0" marL="0">
              <a:buNone/>
            </a:pPr>
            <a:r>
              <a:rPr lang="en-US" sz="900" b="1" dirty="0">
                <a:solidFill>
                  <a:srgbClr val="8A5A00"/>
                </a:solidFill>
                <a:latin typeface="Meiryo" pitchFamily="34" charset="0"/>
                <a:ea typeface="Meiryo" pitchFamily="34" charset="-122"/>
                <a:cs typeface="Meiryo" pitchFamily="34" charset="-120"/>
              </a:rPr>
              <a:t>漏れやすい</a:t>
            </a:r>
            <a:endParaRPr lang="en-US" sz="900" dirty="0"/>
          </a:p>
        </p:txBody>
      </p:sp>
      <p:pic>
        <p:nvPicPr>
          <p:cNvPr id="16" name="Image 4" descr="preencoded.png">    </p:cNvPr>
          <p:cNvPicPr>
            <a:picLocks noChangeAspect="1"/>
          </p:cNvPicPr>
          <p:nvPr/>
        </p:nvPicPr>
        <p:blipFill>
          <a:blip r:embed="rId5"/>
          <a:stretch>
            <a:fillRect/>
          </a:stretch>
        </p:blipFill>
        <p:spPr>
          <a:xfrm>
            <a:off x="457200" y="2798064"/>
            <a:ext cx="237744" cy="237744"/>
          </a:xfrm>
          <a:prstGeom prst="rect">
            <a:avLst/>
          </a:prstGeom>
        </p:spPr>
      </p:pic>
      <p:sp>
        <p:nvSpPr>
          <p:cNvPr id="17" name="Text 10"/>
          <p:cNvSpPr txBox="1"/>
          <p:nvPr/>
        </p:nvSpPr>
        <p:spPr>
          <a:xfrm>
            <a:off x="822960" y="2734056"/>
            <a:ext cx="2743200" cy="365760"/>
          </a:xfrm>
          <a:prstGeom prst="rect">
            <a:avLst/>
          </a:prstGeom>
          <a:noFill/>
          <a:ln/>
        </p:spPr>
        <p:txBody>
          <a:bodyPr wrap="square" lIns="0" tIns="0" rIns="0" bIns="0" rtlCol="0" anchor="ctr"/>
          <a:lstStyle/>
          <a:p>
            <a:pPr indent="0" marL="0">
              <a:buNone/>
            </a:pPr>
            <a:r>
              <a:rPr lang="en-US" sz="1300" dirty="0">
                <a:solidFill>
                  <a:srgbClr val="1E2A30"/>
                </a:solidFill>
                <a:latin typeface="Meiryo" pitchFamily="34" charset="0"/>
                <a:ea typeface="Meiryo" pitchFamily="34" charset="-122"/>
                <a:cs typeface="Meiryo" pitchFamily="34" charset="-120"/>
              </a:rPr>
              <a:t>5. 社会保険に入っている人数</a:t>
            </a:r>
            <a:endParaRPr lang="en-US" sz="1300" dirty="0"/>
          </a:p>
        </p:txBody>
      </p:sp>
      <p:sp>
        <p:nvSpPr>
          <p:cNvPr id="18" name="Shape 11"/>
          <p:cNvSpPr/>
          <p:nvPr/>
        </p:nvSpPr>
        <p:spPr>
          <a:xfrm>
            <a:off x="3429000" y="2807208"/>
            <a:ext cx="914400" cy="228600"/>
          </a:xfrm>
          <a:prstGeom prst="roundRect">
            <a:avLst>
              <a:gd name="adj" fmla="val 48000"/>
            </a:avLst>
          </a:prstGeom>
          <a:solidFill>
            <a:srgbClr val="FDF1DC"/>
          </a:solidFill>
          <a:ln w="9525">
            <a:solidFill>
              <a:srgbClr val="FDF1DC"/>
            </a:solidFill>
            <a:prstDash val="solid"/>
          </a:ln>
        </p:spPr>
      </p:sp>
      <p:sp>
        <p:nvSpPr>
          <p:cNvPr id="19" name="Text 12"/>
          <p:cNvSpPr txBox="1"/>
          <p:nvPr/>
        </p:nvSpPr>
        <p:spPr>
          <a:xfrm>
            <a:off x="3429000" y="2807208"/>
            <a:ext cx="914400" cy="228600"/>
          </a:xfrm>
          <a:prstGeom prst="rect">
            <a:avLst/>
          </a:prstGeom>
          <a:noFill/>
          <a:ln/>
        </p:spPr>
        <p:txBody>
          <a:bodyPr wrap="square" lIns="0" tIns="0" rIns="0" bIns="0" rtlCol="0" anchor="ctr"/>
          <a:lstStyle/>
          <a:p>
            <a:pPr algn="ctr" indent="0" marL="0">
              <a:buNone/>
            </a:pPr>
            <a:r>
              <a:rPr lang="en-US" sz="900" b="1" dirty="0">
                <a:solidFill>
                  <a:srgbClr val="8A5A00"/>
                </a:solidFill>
                <a:latin typeface="Meiryo" pitchFamily="34" charset="0"/>
                <a:ea typeface="Meiryo" pitchFamily="34" charset="-122"/>
                <a:cs typeface="Meiryo" pitchFamily="34" charset="-120"/>
              </a:rPr>
              <a:t>漏れやすい</a:t>
            </a:r>
            <a:endParaRPr lang="en-US" sz="900" dirty="0"/>
          </a:p>
        </p:txBody>
      </p:sp>
      <p:pic>
        <p:nvPicPr>
          <p:cNvPr id="20" name="Image 5" descr="preencoded.png">    </p:cNvPr>
          <p:cNvPicPr>
            <a:picLocks noChangeAspect="1"/>
          </p:cNvPicPr>
          <p:nvPr/>
        </p:nvPicPr>
        <p:blipFill>
          <a:blip r:embed="rId6"/>
          <a:stretch>
            <a:fillRect/>
          </a:stretch>
        </p:blipFill>
        <p:spPr>
          <a:xfrm>
            <a:off x="457200" y="3172968"/>
            <a:ext cx="237744" cy="237744"/>
          </a:xfrm>
          <a:prstGeom prst="rect">
            <a:avLst/>
          </a:prstGeom>
        </p:spPr>
      </p:pic>
      <p:sp>
        <p:nvSpPr>
          <p:cNvPr id="21" name="Text 13"/>
          <p:cNvSpPr txBox="1"/>
          <p:nvPr/>
        </p:nvSpPr>
        <p:spPr>
          <a:xfrm>
            <a:off x="822960" y="3108960"/>
            <a:ext cx="2743200" cy="365760"/>
          </a:xfrm>
          <a:prstGeom prst="rect">
            <a:avLst/>
          </a:prstGeom>
          <a:noFill/>
          <a:ln/>
        </p:spPr>
        <p:txBody>
          <a:bodyPr wrap="square" lIns="0" tIns="0" rIns="0" bIns="0" rtlCol="0" anchor="ctr"/>
          <a:lstStyle/>
          <a:p>
            <a:pPr indent="0" marL="0">
              <a:buNone/>
            </a:pPr>
            <a:r>
              <a:rPr lang="en-US" sz="1300" dirty="0">
                <a:solidFill>
                  <a:srgbClr val="1E2A30"/>
                </a:solidFill>
                <a:latin typeface="Meiryo" pitchFamily="34" charset="0"/>
                <a:ea typeface="Meiryo" pitchFamily="34" charset="-122"/>
                <a:cs typeface="Meiryo" pitchFamily="34" charset="-120"/>
              </a:rPr>
              <a:t>6. 導入を決められる方か</a:t>
            </a:r>
            <a:endParaRPr lang="en-US" sz="1300" dirty="0"/>
          </a:p>
        </p:txBody>
      </p:sp>
      <p:pic>
        <p:nvPicPr>
          <p:cNvPr id="22" name="Image 6" descr="preencoded.png">    </p:cNvPr>
          <p:cNvPicPr>
            <a:picLocks noChangeAspect="1"/>
          </p:cNvPicPr>
          <p:nvPr/>
        </p:nvPicPr>
        <p:blipFill>
          <a:blip r:embed="rId7"/>
          <a:stretch>
            <a:fillRect/>
          </a:stretch>
        </p:blipFill>
        <p:spPr>
          <a:xfrm>
            <a:off x="457200" y="3547872"/>
            <a:ext cx="237744" cy="237744"/>
          </a:xfrm>
          <a:prstGeom prst="rect">
            <a:avLst/>
          </a:prstGeom>
        </p:spPr>
      </p:pic>
      <p:sp>
        <p:nvSpPr>
          <p:cNvPr id="23" name="Text 14"/>
          <p:cNvSpPr txBox="1"/>
          <p:nvPr/>
        </p:nvSpPr>
        <p:spPr>
          <a:xfrm>
            <a:off x="822960" y="3483864"/>
            <a:ext cx="2743200" cy="365760"/>
          </a:xfrm>
          <a:prstGeom prst="rect">
            <a:avLst/>
          </a:prstGeom>
          <a:noFill/>
          <a:ln/>
        </p:spPr>
        <p:txBody>
          <a:bodyPr wrap="square" lIns="0" tIns="0" rIns="0" bIns="0" rtlCol="0" anchor="ctr"/>
          <a:lstStyle/>
          <a:p>
            <a:pPr indent="0" marL="0">
              <a:buNone/>
            </a:pPr>
            <a:r>
              <a:rPr lang="en-US" sz="1300" dirty="0">
                <a:solidFill>
                  <a:srgbClr val="1E2A30"/>
                </a:solidFill>
                <a:latin typeface="Meiryo" pitchFamily="34" charset="0"/>
                <a:ea typeface="Meiryo" pitchFamily="34" charset="-122"/>
                <a:cs typeface="Meiryo" pitchFamily="34" charset="-120"/>
              </a:rPr>
              <a:t>7. 決算月</a:t>
            </a:r>
            <a:endParaRPr lang="en-US" sz="1300" dirty="0"/>
          </a:p>
        </p:txBody>
      </p:sp>
      <p:sp>
        <p:nvSpPr>
          <p:cNvPr id="24" name="Text 15"/>
          <p:cNvSpPr txBox="1"/>
          <p:nvPr/>
        </p:nvSpPr>
        <p:spPr>
          <a:xfrm>
            <a:off x="822960" y="3931920"/>
            <a:ext cx="3566160" cy="548640"/>
          </a:xfrm>
          <a:prstGeom prst="rect">
            <a:avLst/>
          </a:prstGeom>
          <a:noFill/>
          <a:ln/>
        </p:spPr>
        <p:txBody>
          <a:bodyPr wrap="square" lIns="0" tIns="0" rIns="0" bIns="0" rtlCol="0" anchor="t"/>
          <a:lstStyle/>
          <a:p>
            <a:pPr indent="0" marL="0">
              <a:buNone/>
            </a:pPr>
            <a:r>
              <a:rPr lang="en-US" sz="1100" dirty="0">
                <a:solidFill>
                  <a:srgbClr val="5B6870"/>
                </a:solidFill>
                <a:latin typeface="Meiryo" pitchFamily="34" charset="0"/>
                <a:ea typeface="Meiryo" pitchFamily="34" charset="-122"/>
                <a:cs typeface="Meiryo" pitchFamily="34" charset="-120"/>
              </a:rPr>
              <a:t>＋ メールアドレス（復唱して確認）</a:t>
            </a:r>
            <a:endParaRPr lang="en-US" sz="1100" dirty="0"/>
          </a:p>
          <a:p>
            <a:pPr indent="0" marL="0">
              <a:buNone/>
            </a:pPr>
            <a:r>
              <a:rPr lang="en-US" sz="1100" dirty="0">
                <a:solidFill>
                  <a:srgbClr val="5B6870"/>
                </a:solidFill>
                <a:latin typeface="Meiryo" pitchFamily="34" charset="0"/>
                <a:ea typeface="Meiryo" pitchFamily="34" charset="-122"/>
                <a:cs typeface="Meiryo" pitchFamily="34" charset="-120"/>
              </a:rPr>
              <a:t>＋ 前日連絡の電話番号と時間帯</a:t>
            </a:r>
            <a:endParaRPr lang="en-US" sz="1100" dirty="0"/>
          </a:p>
        </p:txBody>
      </p:sp>
      <p:sp>
        <p:nvSpPr>
          <p:cNvPr id="25" name="Shape 16"/>
          <p:cNvSpPr/>
          <p:nvPr/>
        </p:nvSpPr>
        <p:spPr>
          <a:xfrm>
            <a:off x="4617720" y="1234440"/>
            <a:ext cx="4069080" cy="822960"/>
          </a:xfrm>
          <a:prstGeom prst="roundRect">
            <a:avLst>
              <a:gd name="adj" fmla="val 8889"/>
            </a:avLst>
          </a:prstGeom>
          <a:solidFill>
            <a:srgbClr val="E3F3F2"/>
          </a:solidFill>
          <a:ln w="9525">
            <a:solidFill>
              <a:srgbClr val="E3F3F2"/>
            </a:solidFill>
            <a:prstDash val="solid"/>
          </a:ln>
        </p:spPr>
      </p:sp>
      <p:pic>
        <p:nvPicPr>
          <p:cNvPr id="26" name="Image 7" descr="preencoded.png">    </p:cNvPr>
          <p:cNvPicPr>
            <a:picLocks noChangeAspect="1"/>
          </p:cNvPicPr>
          <p:nvPr/>
        </p:nvPicPr>
        <p:blipFill>
          <a:blip r:embed="rId8"/>
          <a:stretch>
            <a:fillRect/>
          </a:stretch>
        </p:blipFill>
        <p:spPr>
          <a:xfrm>
            <a:off x="4800600" y="1463040"/>
            <a:ext cx="347472" cy="347472"/>
          </a:xfrm>
          <a:prstGeom prst="rect">
            <a:avLst/>
          </a:prstGeom>
        </p:spPr>
      </p:pic>
      <p:sp>
        <p:nvSpPr>
          <p:cNvPr id="27" name="Text 17"/>
          <p:cNvSpPr txBox="1"/>
          <p:nvPr/>
        </p:nvSpPr>
        <p:spPr>
          <a:xfrm>
            <a:off x="5303520" y="1234440"/>
            <a:ext cx="3246120" cy="822960"/>
          </a:xfrm>
          <a:prstGeom prst="rect">
            <a:avLst/>
          </a:prstGeom>
          <a:noFill/>
          <a:ln/>
        </p:spPr>
        <p:txBody>
          <a:bodyPr wrap="square" lIns="0" tIns="0" rIns="0" bIns="0" rtlCol="0" anchor="ctr"/>
          <a:lstStyle/>
          <a:p>
            <a:pPr indent="0" marL="0">
              <a:buNone/>
            </a:pPr>
            <a:r>
              <a:rPr lang="en-US" sz="1200" b="1" dirty="0">
                <a:solidFill>
                  <a:srgbClr val="0B5563"/>
                </a:solidFill>
                <a:latin typeface="Meiryo" pitchFamily="34" charset="0"/>
                <a:ea typeface="Meiryo" pitchFamily="34" charset="-122"/>
                <a:cs typeface="Meiryo" pitchFamily="34" charset="-120"/>
              </a:rPr>
              <a:t>1つでも欠けていたら、締めのあいさつに進めない仕組みです</a:t>
            </a:r>
            <a:endParaRPr lang="en-US" sz="1200" dirty="0"/>
          </a:p>
        </p:txBody>
      </p:sp>
      <p:sp>
        <p:nvSpPr>
          <p:cNvPr id="28" name="Text 18"/>
          <p:cNvSpPr txBox="1"/>
          <p:nvPr/>
        </p:nvSpPr>
        <p:spPr>
          <a:xfrm>
            <a:off x="4617720" y="2212848"/>
            <a:ext cx="4069080" cy="274320"/>
          </a:xfrm>
          <a:prstGeom prst="rect">
            <a:avLst/>
          </a:prstGeom>
          <a:noFill/>
          <a:ln/>
        </p:spPr>
        <p:txBody>
          <a:bodyPr wrap="square" lIns="0" tIns="0" rIns="0" bIns="0" rtlCol="0" anchor="t"/>
          <a:lstStyle/>
          <a:p>
            <a:pPr indent="0" marL="0">
              <a:buNone/>
            </a:pPr>
            <a:r>
              <a:rPr lang="en-US" sz="1150" b="1" dirty="0">
                <a:solidFill>
                  <a:srgbClr val="1E2A30"/>
                </a:solidFill>
                <a:latin typeface="Meiryo" pitchFamily="34" charset="0"/>
                <a:ea typeface="Meiryo" pitchFamily="34" charset="-122"/>
                <a:cs typeface="Meiryo" pitchFamily="34" charset="-120"/>
              </a:rPr>
              <a:t>できていた割合</a:t>
            </a:r>
            <a:endParaRPr lang="en-US" sz="1150" dirty="0"/>
          </a:p>
        </p:txBody>
      </p:sp>
      <p:sp>
        <p:nvSpPr>
          <p:cNvPr id="29" name="Text 19"/>
          <p:cNvSpPr txBox="1"/>
          <p:nvPr/>
        </p:nvSpPr>
        <p:spPr>
          <a:xfrm>
            <a:off x="4617720" y="2560320"/>
            <a:ext cx="4069080" cy="219456"/>
          </a:xfrm>
          <a:prstGeom prst="rect">
            <a:avLst/>
          </a:prstGeom>
          <a:noFill/>
          <a:ln/>
        </p:spPr>
        <p:txBody>
          <a:bodyPr wrap="square" lIns="0" tIns="0" rIns="0" bIns="0" rtlCol="0" anchor="ctr"/>
          <a:lstStyle/>
          <a:p>
            <a:pPr indent="0" marL="0">
              <a:buNone/>
            </a:pPr>
            <a:r>
              <a:rPr lang="en-US" sz="1050" dirty="0">
                <a:solidFill>
                  <a:srgbClr val="1E2A30"/>
                </a:solidFill>
                <a:latin typeface="Meiryo" pitchFamily="34" charset="0"/>
                <a:ea typeface="Meiryo" pitchFamily="34" charset="-122"/>
                <a:cs typeface="Meiryo" pitchFamily="34" charset="-120"/>
              </a:rPr>
              <a:t>社会保険の加入人数</a:t>
            </a:r>
            <a:endParaRPr lang="en-US" sz="1050" dirty="0"/>
          </a:p>
        </p:txBody>
      </p:sp>
      <p:sp>
        <p:nvSpPr>
          <p:cNvPr id="30" name="Shape 20"/>
          <p:cNvSpPr/>
          <p:nvPr/>
        </p:nvSpPr>
        <p:spPr>
          <a:xfrm>
            <a:off x="4617720" y="2807208"/>
            <a:ext cx="2052371" cy="155448"/>
          </a:xfrm>
          <a:prstGeom prst="rect">
            <a:avLst/>
          </a:prstGeom>
          <a:solidFill>
            <a:srgbClr val="B8C2C6"/>
          </a:solidFill>
          <a:ln w="12700">
            <a:solidFill>
              <a:srgbClr val="B8C2C6"/>
            </a:solidFill>
            <a:prstDash val="solid"/>
          </a:ln>
        </p:spPr>
      </p:sp>
      <p:sp>
        <p:nvSpPr>
          <p:cNvPr id="31" name="Text 21"/>
          <p:cNvSpPr txBox="1"/>
          <p:nvPr/>
        </p:nvSpPr>
        <p:spPr>
          <a:xfrm>
            <a:off x="6734099" y="2779776"/>
            <a:ext cx="640080" cy="201168"/>
          </a:xfrm>
          <a:prstGeom prst="rect">
            <a:avLst/>
          </a:prstGeom>
          <a:noFill/>
          <a:ln/>
        </p:spPr>
        <p:txBody>
          <a:bodyPr wrap="square" lIns="0" tIns="0" rIns="0" bIns="0" rtlCol="0" anchor="ctr"/>
          <a:lstStyle/>
          <a:p>
            <a:pPr indent="0" marL="0">
              <a:buNone/>
            </a:pPr>
            <a:r>
              <a:rPr lang="en-US" sz="1000" b="1" dirty="0">
                <a:solidFill>
                  <a:srgbClr val="5B6870"/>
                </a:solidFill>
                <a:latin typeface="Meiryo" pitchFamily="34" charset="0"/>
                <a:ea typeface="Meiryo" pitchFamily="34" charset="-122"/>
                <a:cs typeface="Meiryo" pitchFamily="34" charset="-120"/>
              </a:rPr>
              <a:t>67%</a:t>
            </a:r>
            <a:endParaRPr lang="en-US" sz="1000" dirty="0"/>
          </a:p>
        </p:txBody>
      </p:sp>
      <p:sp>
        <p:nvSpPr>
          <p:cNvPr id="32" name="Shape 22"/>
          <p:cNvSpPr/>
          <p:nvPr/>
        </p:nvSpPr>
        <p:spPr>
          <a:xfrm>
            <a:off x="4617720" y="2980944"/>
            <a:ext cx="3063240" cy="155448"/>
          </a:xfrm>
          <a:prstGeom prst="rect">
            <a:avLst/>
          </a:prstGeom>
          <a:solidFill>
            <a:srgbClr val="0B6E6E"/>
          </a:solidFill>
          <a:ln w="12700">
            <a:solidFill>
              <a:srgbClr val="0B6E6E"/>
            </a:solidFill>
            <a:prstDash val="solid"/>
          </a:ln>
        </p:spPr>
      </p:sp>
      <p:sp>
        <p:nvSpPr>
          <p:cNvPr id="33" name="Text 23"/>
          <p:cNvSpPr txBox="1"/>
          <p:nvPr/>
        </p:nvSpPr>
        <p:spPr>
          <a:xfrm>
            <a:off x="7744968" y="2953512"/>
            <a:ext cx="640080" cy="201168"/>
          </a:xfrm>
          <a:prstGeom prst="rect">
            <a:avLst/>
          </a:prstGeom>
          <a:noFill/>
          <a:ln/>
        </p:spPr>
        <p:txBody>
          <a:bodyPr wrap="square" lIns="0" tIns="0" rIns="0" bIns="0" rtlCol="0" anchor="ctr"/>
          <a:lstStyle/>
          <a:p>
            <a:pPr indent="0" marL="0">
              <a:buNone/>
            </a:pPr>
            <a:r>
              <a:rPr lang="en-US" sz="1000" b="1" dirty="0">
                <a:solidFill>
                  <a:srgbClr val="0B6E6E"/>
                </a:solidFill>
                <a:latin typeface="Meiryo" pitchFamily="34" charset="0"/>
                <a:ea typeface="Meiryo" pitchFamily="34" charset="-122"/>
                <a:cs typeface="Meiryo" pitchFamily="34" charset="-120"/>
              </a:rPr>
              <a:t>100%</a:t>
            </a:r>
            <a:endParaRPr lang="en-US" sz="1000" dirty="0"/>
          </a:p>
        </p:txBody>
      </p:sp>
      <p:sp>
        <p:nvSpPr>
          <p:cNvPr id="34" name="Text 24"/>
          <p:cNvSpPr txBox="1"/>
          <p:nvPr/>
        </p:nvSpPr>
        <p:spPr>
          <a:xfrm>
            <a:off x="4617720" y="3200400"/>
            <a:ext cx="4069080" cy="219456"/>
          </a:xfrm>
          <a:prstGeom prst="rect">
            <a:avLst/>
          </a:prstGeom>
          <a:noFill/>
          <a:ln/>
        </p:spPr>
        <p:txBody>
          <a:bodyPr wrap="square" lIns="0" tIns="0" rIns="0" bIns="0" rtlCol="0" anchor="ctr"/>
          <a:lstStyle/>
          <a:p>
            <a:pPr indent="0" marL="0">
              <a:buNone/>
            </a:pPr>
            <a:r>
              <a:rPr lang="en-US" sz="1050" dirty="0">
                <a:solidFill>
                  <a:srgbClr val="1E2A30"/>
                </a:solidFill>
                <a:latin typeface="Meiryo" pitchFamily="34" charset="0"/>
                <a:ea typeface="Meiryo" pitchFamily="34" charset="-122"/>
                <a:cs typeface="Meiryo" pitchFamily="34" charset="-120"/>
              </a:rPr>
              <a:t>役員の人数・年齢</a:t>
            </a:r>
            <a:endParaRPr lang="en-US" sz="1050" dirty="0"/>
          </a:p>
        </p:txBody>
      </p:sp>
      <p:sp>
        <p:nvSpPr>
          <p:cNvPr id="35" name="Shape 25"/>
          <p:cNvSpPr/>
          <p:nvPr/>
        </p:nvSpPr>
        <p:spPr>
          <a:xfrm>
            <a:off x="4617720" y="3447288"/>
            <a:ext cx="2236165" cy="155448"/>
          </a:xfrm>
          <a:prstGeom prst="rect">
            <a:avLst/>
          </a:prstGeom>
          <a:solidFill>
            <a:srgbClr val="B8C2C6"/>
          </a:solidFill>
          <a:ln w="12700">
            <a:solidFill>
              <a:srgbClr val="B8C2C6"/>
            </a:solidFill>
            <a:prstDash val="solid"/>
          </a:ln>
        </p:spPr>
      </p:sp>
      <p:sp>
        <p:nvSpPr>
          <p:cNvPr id="36" name="Text 26"/>
          <p:cNvSpPr txBox="1"/>
          <p:nvPr/>
        </p:nvSpPr>
        <p:spPr>
          <a:xfrm>
            <a:off x="6917893" y="3419856"/>
            <a:ext cx="640080" cy="201168"/>
          </a:xfrm>
          <a:prstGeom prst="rect">
            <a:avLst/>
          </a:prstGeom>
          <a:noFill/>
          <a:ln/>
        </p:spPr>
        <p:txBody>
          <a:bodyPr wrap="square" lIns="0" tIns="0" rIns="0" bIns="0" rtlCol="0" anchor="ctr"/>
          <a:lstStyle/>
          <a:p>
            <a:pPr indent="0" marL="0">
              <a:buNone/>
            </a:pPr>
            <a:r>
              <a:rPr lang="en-US" sz="1000" b="1" dirty="0">
                <a:solidFill>
                  <a:srgbClr val="5B6870"/>
                </a:solidFill>
                <a:latin typeface="Meiryo" pitchFamily="34" charset="0"/>
                <a:ea typeface="Meiryo" pitchFamily="34" charset="-122"/>
                <a:cs typeface="Meiryo" pitchFamily="34" charset="-120"/>
              </a:rPr>
              <a:t>73%</a:t>
            </a:r>
            <a:endParaRPr lang="en-US" sz="1000" dirty="0"/>
          </a:p>
        </p:txBody>
      </p:sp>
      <p:sp>
        <p:nvSpPr>
          <p:cNvPr id="37" name="Shape 27"/>
          <p:cNvSpPr/>
          <p:nvPr/>
        </p:nvSpPr>
        <p:spPr>
          <a:xfrm>
            <a:off x="4617720" y="3621024"/>
            <a:ext cx="3063240" cy="155448"/>
          </a:xfrm>
          <a:prstGeom prst="rect">
            <a:avLst/>
          </a:prstGeom>
          <a:solidFill>
            <a:srgbClr val="0B6E6E"/>
          </a:solidFill>
          <a:ln w="12700">
            <a:solidFill>
              <a:srgbClr val="0B6E6E"/>
            </a:solidFill>
            <a:prstDash val="solid"/>
          </a:ln>
        </p:spPr>
      </p:sp>
      <p:sp>
        <p:nvSpPr>
          <p:cNvPr id="38" name="Text 28"/>
          <p:cNvSpPr txBox="1"/>
          <p:nvPr/>
        </p:nvSpPr>
        <p:spPr>
          <a:xfrm>
            <a:off x="7744968" y="3593592"/>
            <a:ext cx="640080" cy="201168"/>
          </a:xfrm>
          <a:prstGeom prst="rect">
            <a:avLst/>
          </a:prstGeom>
          <a:noFill/>
          <a:ln/>
        </p:spPr>
        <p:txBody>
          <a:bodyPr wrap="square" lIns="0" tIns="0" rIns="0" bIns="0" rtlCol="0" anchor="ctr"/>
          <a:lstStyle/>
          <a:p>
            <a:pPr indent="0" marL="0">
              <a:buNone/>
            </a:pPr>
            <a:r>
              <a:rPr lang="en-US" sz="1000" b="1" dirty="0">
                <a:solidFill>
                  <a:srgbClr val="0B6E6E"/>
                </a:solidFill>
                <a:latin typeface="Meiryo" pitchFamily="34" charset="0"/>
                <a:ea typeface="Meiryo" pitchFamily="34" charset="-122"/>
                <a:cs typeface="Meiryo" pitchFamily="34" charset="-120"/>
              </a:rPr>
              <a:t>100%</a:t>
            </a:r>
            <a:endParaRPr lang="en-US" sz="1000" dirty="0"/>
          </a:p>
        </p:txBody>
      </p:sp>
      <p:sp>
        <p:nvSpPr>
          <p:cNvPr id="39" name="Text 29"/>
          <p:cNvSpPr txBox="1"/>
          <p:nvPr/>
        </p:nvSpPr>
        <p:spPr>
          <a:xfrm>
            <a:off x="4617720" y="3840480"/>
            <a:ext cx="4069080" cy="219456"/>
          </a:xfrm>
          <a:prstGeom prst="rect">
            <a:avLst/>
          </a:prstGeom>
          <a:noFill/>
          <a:ln/>
        </p:spPr>
        <p:txBody>
          <a:bodyPr wrap="square" lIns="0" tIns="0" rIns="0" bIns="0" rtlCol="0" anchor="ctr"/>
          <a:lstStyle/>
          <a:p>
            <a:pPr indent="0" marL="0">
              <a:buNone/>
            </a:pPr>
            <a:r>
              <a:rPr lang="en-US" sz="1050" dirty="0">
                <a:solidFill>
                  <a:srgbClr val="1E2A30"/>
                </a:solidFill>
                <a:latin typeface="Meiryo" pitchFamily="34" charset="0"/>
                <a:ea typeface="Meiryo" pitchFamily="34" charset="-122"/>
                <a:cs typeface="Meiryo" pitchFamily="34" charset="-120"/>
              </a:rPr>
              <a:t>カレンダー登録の依頼</a:t>
            </a:r>
            <a:endParaRPr lang="en-US" sz="1050" dirty="0"/>
          </a:p>
        </p:txBody>
      </p:sp>
      <p:sp>
        <p:nvSpPr>
          <p:cNvPr id="40" name="Shape 30"/>
          <p:cNvSpPr/>
          <p:nvPr/>
        </p:nvSpPr>
        <p:spPr>
          <a:xfrm>
            <a:off x="4617720" y="4087368"/>
            <a:ext cx="1623517" cy="155448"/>
          </a:xfrm>
          <a:prstGeom prst="rect">
            <a:avLst/>
          </a:prstGeom>
          <a:solidFill>
            <a:srgbClr val="B8C2C6"/>
          </a:solidFill>
          <a:ln w="12700">
            <a:solidFill>
              <a:srgbClr val="B8C2C6"/>
            </a:solidFill>
            <a:prstDash val="solid"/>
          </a:ln>
        </p:spPr>
      </p:sp>
      <p:sp>
        <p:nvSpPr>
          <p:cNvPr id="41" name="Text 31"/>
          <p:cNvSpPr txBox="1"/>
          <p:nvPr/>
        </p:nvSpPr>
        <p:spPr>
          <a:xfrm>
            <a:off x="6305245" y="4059936"/>
            <a:ext cx="640080" cy="201168"/>
          </a:xfrm>
          <a:prstGeom prst="rect">
            <a:avLst/>
          </a:prstGeom>
          <a:noFill/>
          <a:ln/>
        </p:spPr>
        <p:txBody>
          <a:bodyPr wrap="square" lIns="0" tIns="0" rIns="0" bIns="0" rtlCol="0" anchor="ctr"/>
          <a:lstStyle/>
          <a:p>
            <a:pPr indent="0" marL="0">
              <a:buNone/>
            </a:pPr>
            <a:r>
              <a:rPr lang="en-US" sz="1000" b="1" dirty="0">
                <a:solidFill>
                  <a:srgbClr val="5B6870"/>
                </a:solidFill>
                <a:latin typeface="Meiryo" pitchFamily="34" charset="0"/>
                <a:ea typeface="Meiryo" pitchFamily="34" charset="-122"/>
                <a:cs typeface="Meiryo" pitchFamily="34" charset="-120"/>
              </a:rPr>
              <a:t>53%</a:t>
            </a:r>
            <a:endParaRPr lang="en-US" sz="1000" dirty="0"/>
          </a:p>
        </p:txBody>
      </p:sp>
      <p:sp>
        <p:nvSpPr>
          <p:cNvPr id="42" name="Shape 32"/>
          <p:cNvSpPr/>
          <p:nvPr/>
        </p:nvSpPr>
        <p:spPr>
          <a:xfrm>
            <a:off x="4617720" y="4261104"/>
            <a:ext cx="3063240" cy="155448"/>
          </a:xfrm>
          <a:prstGeom prst="rect">
            <a:avLst/>
          </a:prstGeom>
          <a:solidFill>
            <a:srgbClr val="0B6E6E"/>
          </a:solidFill>
          <a:ln w="12700">
            <a:solidFill>
              <a:srgbClr val="0B6E6E"/>
            </a:solidFill>
            <a:prstDash val="solid"/>
          </a:ln>
        </p:spPr>
      </p:sp>
      <p:sp>
        <p:nvSpPr>
          <p:cNvPr id="43" name="Text 33"/>
          <p:cNvSpPr txBox="1"/>
          <p:nvPr/>
        </p:nvSpPr>
        <p:spPr>
          <a:xfrm>
            <a:off x="7744968" y="4233672"/>
            <a:ext cx="640080" cy="201168"/>
          </a:xfrm>
          <a:prstGeom prst="rect">
            <a:avLst/>
          </a:prstGeom>
          <a:noFill/>
          <a:ln/>
        </p:spPr>
        <p:txBody>
          <a:bodyPr wrap="square" lIns="0" tIns="0" rIns="0" bIns="0" rtlCol="0" anchor="ctr"/>
          <a:lstStyle/>
          <a:p>
            <a:pPr indent="0" marL="0">
              <a:buNone/>
            </a:pPr>
            <a:r>
              <a:rPr lang="en-US" sz="1000" b="1" dirty="0">
                <a:solidFill>
                  <a:srgbClr val="0B6E6E"/>
                </a:solidFill>
                <a:latin typeface="Meiryo" pitchFamily="34" charset="0"/>
                <a:ea typeface="Meiryo" pitchFamily="34" charset="-122"/>
                <a:cs typeface="Meiryo" pitchFamily="34" charset="-120"/>
              </a:rPr>
              <a:t>100%</a:t>
            </a:r>
            <a:endParaRPr lang="en-US" sz="1000" dirty="0"/>
          </a:p>
        </p:txBody>
      </p:sp>
      <p:sp>
        <p:nvSpPr>
          <p:cNvPr id="44" name="Shape 34"/>
          <p:cNvSpPr/>
          <p:nvPr/>
        </p:nvSpPr>
        <p:spPr>
          <a:xfrm>
            <a:off x="4617720" y="4507992"/>
            <a:ext cx="146304" cy="128016"/>
          </a:xfrm>
          <a:prstGeom prst="rect">
            <a:avLst/>
          </a:prstGeom>
          <a:solidFill>
            <a:srgbClr val="B8C2C6"/>
          </a:solidFill>
          <a:ln w="12700">
            <a:solidFill>
              <a:srgbClr val="B8C2C6"/>
            </a:solidFill>
            <a:prstDash val="solid"/>
          </a:ln>
        </p:spPr>
      </p:sp>
      <p:sp>
        <p:nvSpPr>
          <p:cNvPr id="45" name="Text 35"/>
          <p:cNvSpPr txBox="1"/>
          <p:nvPr/>
        </p:nvSpPr>
        <p:spPr>
          <a:xfrm>
            <a:off x="4818888" y="4462272"/>
            <a:ext cx="1463040" cy="219456"/>
          </a:xfrm>
          <a:prstGeom prst="rect">
            <a:avLst/>
          </a:prstGeom>
          <a:noFill/>
          <a:ln/>
        </p:spPr>
        <p:txBody>
          <a:bodyPr wrap="square" lIns="0" tIns="0" rIns="0" bIns="0" rtlCol="0" anchor="ctr"/>
          <a:lstStyle/>
          <a:p>
            <a:pPr indent="0" marL="0">
              <a:buNone/>
            </a:pPr>
            <a:r>
              <a:rPr lang="en-US" sz="950" dirty="0">
                <a:solidFill>
                  <a:srgbClr val="5B6870"/>
                </a:solidFill>
                <a:latin typeface="Meiryo" pitchFamily="34" charset="0"/>
                <a:ea typeface="Meiryo" pitchFamily="34" charset="-122"/>
                <a:cs typeface="Meiryo" pitchFamily="34" charset="-120"/>
              </a:rPr>
              <a:t>人（実際の通話）</a:t>
            </a:r>
            <a:endParaRPr lang="en-US" sz="950" dirty="0"/>
          </a:p>
        </p:txBody>
      </p:sp>
      <p:sp>
        <p:nvSpPr>
          <p:cNvPr id="46" name="Shape 36"/>
          <p:cNvSpPr/>
          <p:nvPr/>
        </p:nvSpPr>
        <p:spPr>
          <a:xfrm>
            <a:off x="6355080" y="4507992"/>
            <a:ext cx="146304" cy="128016"/>
          </a:xfrm>
          <a:prstGeom prst="rect">
            <a:avLst/>
          </a:prstGeom>
          <a:solidFill>
            <a:srgbClr val="0B6E6E"/>
          </a:solidFill>
          <a:ln w="12700">
            <a:solidFill>
              <a:srgbClr val="0B6E6E"/>
            </a:solidFill>
            <a:prstDash val="solid"/>
          </a:ln>
        </p:spPr>
      </p:sp>
      <p:sp>
        <p:nvSpPr>
          <p:cNvPr id="47" name="Text 37"/>
          <p:cNvSpPr txBox="1"/>
          <p:nvPr/>
        </p:nvSpPr>
        <p:spPr>
          <a:xfrm>
            <a:off x="6556248" y="4462272"/>
            <a:ext cx="1645920" cy="219456"/>
          </a:xfrm>
          <a:prstGeom prst="rect">
            <a:avLst/>
          </a:prstGeom>
          <a:noFill/>
          <a:ln/>
        </p:spPr>
        <p:txBody>
          <a:bodyPr wrap="square" lIns="0" tIns="0" rIns="0" bIns="0" rtlCol="0" anchor="ctr"/>
          <a:lstStyle/>
          <a:p>
            <a:pPr indent="0" marL="0">
              <a:buNone/>
            </a:pPr>
            <a:r>
              <a:rPr lang="en-US" sz="950" dirty="0">
                <a:solidFill>
                  <a:srgbClr val="5B6870"/>
                </a:solidFill>
                <a:latin typeface="Meiryo" pitchFamily="34" charset="0"/>
                <a:ea typeface="Meiryo" pitchFamily="34" charset="-122"/>
                <a:cs typeface="Meiryo" pitchFamily="34" charset="-120"/>
              </a:rPr>
              <a:t>AI（デモで通したとき）</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960120" cy="256032"/>
          </a:xfrm>
          <a:prstGeom prst="roundRect">
            <a:avLst>
              <a:gd name="adj" fmla="val 50000"/>
            </a:avLst>
          </a:prstGeom>
          <a:solidFill>
            <a:srgbClr val="E3F3F2"/>
          </a:solidFill>
          <a:ln w="9525">
            <a:solidFill>
              <a:srgbClr val="E3F3F2"/>
            </a:solidFill>
            <a:prstDash val="solid"/>
          </a:ln>
        </p:spPr>
      </p:sp>
      <p:sp>
        <p:nvSpPr>
          <p:cNvPr id="3" name="Text 1"/>
          <p:cNvSpPr txBox="1"/>
          <p:nvPr/>
        </p:nvSpPr>
        <p:spPr>
          <a:xfrm>
            <a:off x="457200" y="310896"/>
            <a:ext cx="960120" cy="256032"/>
          </a:xfrm>
          <a:prstGeom prst="rect">
            <a:avLst/>
          </a:prstGeom>
          <a:noFill/>
          <a:ln/>
        </p:spPr>
        <p:txBody>
          <a:bodyPr wrap="square" lIns="0" tIns="0" rIns="0" bIns="0" rtlCol="0" anchor="ctr"/>
          <a:lstStyle/>
          <a:p>
            <a:pPr algn="ctr" indent="0" marL="0">
              <a:buNone/>
            </a:pPr>
            <a:r>
              <a:rPr lang="en-US" sz="1000" b="1" dirty="0">
                <a:solidFill>
                  <a:srgbClr val="0B6E6E"/>
                </a:solidFill>
                <a:latin typeface="Meiryo" pitchFamily="34" charset="0"/>
                <a:ea typeface="Meiryo" pitchFamily="34" charset="-122"/>
                <a:cs typeface="Meiryo" pitchFamily="34" charset="-120"/>
              </a:rPr>
              <a:t>できること</a:t>
            </a:r>
            <a:endParaRPr lang="en-US" sz="1000" dirty="0"/>
          </a:p>
        </p:txBody>
      </p:sp>
      <p:sp>
        <p:nvSpPr>
          <p:cNvPr id="4" name="Text 2"/>
          <p:cNvSpPr txBox="1"/>
          <p:nvPr/>
        </p:nvSpPr>
        <p:spPr>
          <a:xfrm>
            <a:off x="457200" y="603504"/>
            <a:ext cx="8229600" cy="502920"/>
          </a:xfrm>
          <a:prstGeom prst="rect">
            <a:avLst/>
          </a:prstGeom>
          <a:noFill/>
          <a:ln/>
        </p:spPr>
        <p:txBody>
          <a:bodyPr wrap="square" lIns="0" tIns="0" rIns="0" bIns="0" rtlCol="0" anchor="ctr"/>
          <a:lstStyle/>
          <a:p>
            <a:pPr indent="0" marL="0">
              <a:buNone/>
            </a:pPr>
            <a:r>
              <a:rPr lang="en-US" sz="2400" b="1" dirty="0">
                <a:solidFill>
                  <a:srgbClr val="1E2A30"/>
                </a:solidFill>
                <a:latin typeface="Meiryo" pitchFamily="34" charset="0"/>
                <a:ea typeface="Meiryo" pitchFamily="34" charset="-122"/>
                <a:cs typeface="Meiryo" pitchFamily="34" charset="-120"/>
              </a:rPr>
              <a:t>言ってはいけない表現は、相手に届く前に止める</a:t>
            </a:r>
            <a:endParaRPr lang="en-US" sz="2400" dirty="0"/>
          </a:p>
        </p:txBody>
      </p:sp>
      <p:sp>
        <p:nvSpPr>
          <p:cNvPr id="5" name="Text 3"/>
          <p:cNvSpPr txBox="1"/>
          <p:nvPr/>
        </p:nvSpPr>
        <p:spPr>
          <a:xfrm>
            <a:off x="7955280" y="4773168"/>
            <a:ext cx="731520" cy="228600"/>
          </a:xfrm>
          <a:prstGeom prst="rect">
            <a:avLst/>
          </a:prstGeom>
          <a:noFill/>
          <a:ln/>
        </p:spPr>
        <p:txBody>
          <a:bodyPr wrap="square" lIns="0" tIns="0" rIns="0" bIns="0" rtlCol="0" anchor="t"/>
          <a:lstStyle/>
          <a:p>
            <a:pPr algn="r" indent="0" marL="0">
              <a:buNone/>
            </a:pPr>
            <a:r>
              <a:rPr lang="en-US" sz="900" dirty="0">
                <a:solidFill>
                  <a:srgbClr val="5B6870"/>
                </a:solidFill>
                <a:latin typeface="Meiryo" pitchFamily="34" charset="0"/>
                <a:ea typeface="Meiryo" pitchFamily="34" charset="-122"/>
                <a:cs typeface="Meiryo" pitchFamily="34" charset="-120"/>
              </a:rPr>
              <a:t>10 / 17</a:t>
            </a:r>
            <a:endParaRPr lang="en-US" sz="900" dirty="0"/>
          </a:p>
        </p:txBody>
      </p:sp>
      <p:sp>
        <p:nvSpPr>
          <p:cNvPr id="6" name="Shape 4"/>
          <p:cNvSpPr/>
          <p:nvPr/>
        </p:nvSpPr>
        <p:spPr>
          <a:xfrm>
            <a:off x="457200" y="1216152"/>
            <a:ext cx="2377440" cy="640080"/>
          </a:xfrm>
          <a:prstGeom prst="roundRect">
            <a:avLst>
              <a:gd name="adj" fmla="val 11429"/>
            </a:avLst>
          </a:prstGeom>
          <a:solidFill>
            <a:srgbClr val="F3F6F7"/>
          </a:solidFill>
          <a:ln w="9525">
            <a:solidFill>
              <a:srgbClr val="F3F6F7"/>
            </a:solidFill>
            <a:prstDash val="solid"/>
          </a:ln>
        </p:spPr>
      </p:sp>
      <p:pic>
        <p:nvPicPr>
          <p:cNvPr id="7" name="Image 0" descr="preencoded.png">    </p:cNvPr>
          <p:cNvPicPr>
            <a:picLocks noChangeAspect="1"/>
          </p:cNvPicPr>
          <p:nvPr/>
        </p:nvPicPr>
        <p:blipFill>
          <a:blip r:embed="rId1"/>
          <a:stretch>
            <a:fillRect/>
          </a:stretch>
        </p:blipFill>
        <p:spPr>
          <a:xfrm>
            <a:off x="621792" y="1371600"/>
            <a:ext cx="329184" cy="329184"/>
          </a:xfrm>
          <a:prstGeom prst="rect">
            <a:avLst/>
          </a:prstGeom>
        </p:spPr>
      </p:pic>
      <p:sp>
        <p:nvSpPr>
          <p:cNvPr id="8" name="Text 5"/>
          <p:cNvSpPr txBox="1"/>
          <p:nvPr/>
        </p:nvSpPr>
        <p:spPr>
          <a:xfrm>
            <a:off x="1051560" y="1216152"/>
            <a:ext cx="1737360" cy="640080"/>
          </a:xfrm>
          <a:prstGeom prst="rect">
            <a:avLst/>
          </a:prstGeom>
          <a:noFill/>
          <a:ln/>
        </p:spPr>
        <p:txBody>
          <a:bodyPr wrap="square" lIns="0" tIns="0" rIns="0" bIns="0" rtlCol="0" anchor="ctr"/>
          <a:lstStyle/>
          <a:p>
            <a:pPr indent="0" marL="0">
              <a:buNone/>
            </a:pPr>
            <a:r>
              <a:rPr lang="en-US" sz="1200" b="1" dirty="0">
                <a:solidFill>
                  <a:srgbClr val="1E2A30"/>
                </a:solidFill>
                <a:latin typeface="Meiryo" pitchFamily="34" charset="0"/>
                <a:ea typeface="Meiryo" pitchFamily="34" charset="-122"/>
                <a:cs typeface="Meiryo" pitchFamily="34" charset="-120"/>
              </a:rPr>
              <a:t>話す内容</a:t>
            </a:r>
            <a:endParaRPr lang="en-US" sz="1200" dirty="0"/>
          </a:p>
        </p:txBody>
      </p:sp>
      <p:sp>
        <p:nvSpPr>
          <p:cNvPr id="9" name="Shape 6"/>
          <p:cNvSpPr/>
          <p:nvPr/>
        </p:nvSpPr>
        <p:spPr>
          <a:xfrm>
            <a:off x="2889504" y="1426464"/>
            <a:ext cx="438912" cy="219456"/>
          </a:xfrm>
          <a:prstGeom prst="rightArrow">
            <a:avLst/>
          </a:prstGeom>
          <a:solidFill>
            <a:srgbClr val="D5DDE0"/>
          </a:solidFill>
          <a:ln w="12700">
            <a:solidFill>
              <a:srgbClr val="D5DDE0"/>
            </a:solidFill>
            <a:prstDash val="solid"/>
          </a:ln>
        </p:spPr>
      </p:sp>
      <p:sp>
        <p:nvSpPr>
          <p:cNvPr id="10" name="Shape 7"/>
          <p:cNvSpPr/>
          <p:nvPr/>
        </p:nvSpPr>
        <p:spPr>
          <a:xfrm>
            <a:off x="3383280" y="1216152"/>
            <a:ext cx="2377440" cy="640080"/>
          </a:xfrm>
          <a:prstGeom prst="roundRect">
            <a:avLst>
              <a:gd name="adj" fmla="val 11429"/>
            </a:avLst>
          </a:prstGeom>
          <a:solidFill>
            <a:srgbClr val="E3F3F2"/>
          </a:solidFill>
          <a:ln w="9525">
            <a:solidFill>
              <a:srgbClr val="E3F3F2"/>
            </a:solidFill>
            <a:prstDash val="solid"/>
          </a:ln>
        </p:spPr>
      </p:sp>
      <p:pic>
        <p:nvPicPr>
          <p:cNvPr id="11" name="Image 1" descr="preencoded.png">    </p:cNvPr>
          <p:cNvPicPr>
            <a:picLocks noChangeAspect="1"/>
          </p:cNvPicPr>
          <p:nvPr/>
        </p:nvPicPr>
        <p:blipFill>
          <a:blip r:embed="rId2"/>
          <a:stretch>
            <a:fillRect/>
          </a:stretch>
        </p:blipFill>
        <p:spPr>
          <a:xfrm>
            <a:off x="3547872" y="1371600"/>
            <a:ext cx="329184" cy="329184"/>
          </a:xfrm>
          <a:prstGeom prst="rect">
            <a:avLst/>
          </a:prstGeom>
        </p:spPr>
      </p:pic>
      <p:sp>
        <p:nvSpPr>
          <p:cNvPr id="12" name="Text 8"/>
          <p:cNvSpPr txBox="1"/>
          <p:nvPr/>
        </p:nvSpPr>
        <p:spPr>
          <a:xfrm>
            <a:off x="3977640" y="1216152"/>
            <a:ext cx="1737360" cy="640080"/>
          </a:xfrm>
          <a:prstGeom prst="rect">
            <a:avLst/>
          </a:prstGeom>
          <a:noFill/>
          <a:ln/>
        </p:spPr>
        <p:txBody>
          <a:bodyPr wrap="square" lIns="0" tIns="0" rIns="0" bIns="0" rtlCol="0" anchor="ctr"/>
          <a:lstStyle/>
          <a:p>
            <a:pPr indent="0" marL="0">
              <a:buNone/>
            </a:pPr>
            <a:r>
              <a:rPr lang="en-US" sz="1200" b="1" dirty="0">
                <a:solidFill>
                  <a:srgbClr val="0B5563"/>
                </a:solidFill>
                <a:latin typeface="Meiryo" pitchFamily="34" charset="0"/>
                <a:ea typeface="Meiryo" pitchFamily="34" charset="-122"/>
                <a:cs typeface="Meiryo" pitchFamily="34" charset="-120"/>
              </a:rPr>
              <a:t>チェック：禁止表現リストと照合</a:t>
            </a:r>
            <a:endParaRPr lang="en-US" sz="1200" dirty="0"/>
          </a:p>
        </p:txBody>
      </p:sp>
      <p:sp>
        <p:nvSpPr>
          <p:cNvPr id="13" name="Shape 9"/>
          <p:cNvSpPr/>
          <p:nvPr/>
        </p:nvSpPr>
        <p:spPr>
          <a:xfrm>
            <a:off x="5815584" y="1426464"/>
            <a:ext cx="438912" cy="219456"/>
          </a:xfrm>
          <a:prstGeom prst="rightArrow">
            <a:avLst/>
          </a:prstGeom>
          <a:solidFill>
            <a:srgbClr val="D5DDE0"/>
          </a:solidFill>
          <a:ln w="12700">
            <a:solidFill>
              <a:srgbClr val="D5DDE0"/>
            </a:solidFill>
            <a:prstDash val="solid"/>
          </a:ln>
        </p:spPr>
      </p:sp>
      <p:sp>
        <p:nvSpPr>
          <p:cNvPr id="14" name="Shape 10"/>
          <p:cNvSpPr/>
          <p:nvPr/>
        </p:nvSpPr>
        <p:spPr>
          <a:xfrm>
            <a:off x="6309360" y="1216152"/>
            <a:ext cx="2377440" cy="640080"/>
          </a:xfrm>
          <a:prstGeom prst="roundRect">
            <a:avLst>
              <a:gd name="adj" fmla="val 11429"/>
            </a:avLst>
          </a:prstGeom>
          <a:solidFill>
            <a:srgbClr val="F3F6F7"/>
          </a:solidFill>
          <a:ln w="9525">
            <a:solidFill>
              <a:srgbClr val="F3F6F7"/>
            </a:solidFill>
            <a:prstDash val="solid"/>
          </a:ln>
        </p:spPr>
      </p:sp>
      <p:pic>
        <p:nvPicPr>
          <p:cNvPr id="15" name="Image 2" descr="preencoded.png">    </p:cNvPr>
          <p:cNvPicPr>
            <a:picLocks noChangeAspect="1"/>
          </p:cNvPicPr>
          <p:nvPr/>
        </p:nvPicPr>
        <p:blipFill>
          <a:blip r:embed="rId3"/>
          <a:stretch>
            <a:fillRect/>
          </a:stretch>
        </p:blipFill>
        <p:spPr>
          <a:xfrm>
            <a:off x="6473952" y="1371600"/>
            <a:ext cx="329184" cy="329184"/>
          </a:xfrm>
          <a:prstGeom prst="rect">
            <a:avLst/>
          </a:prstGeom>
        </p:spPr>
      </p:pic>
      <p:sp>
        <p:nvSpPr>
          <p:cNvPr id="16" name="Text 11"/>
          <p:cNvSpPr txBox="1"/>
          <p:nvPr/>
        </p:nvSpPr>
        <p:spPr>
          <a:xfrm>
            <a:off x="6903720" y="1216152"/>
            <a:ext cx="1737360" cy="640080"/>
          </a:xfrm>
          <a:prstGeom prst="rect">
            <a:avLst/>
          </a:prstGeom>
          <a:noFill/>
          <a:ln/>
        </p:spPr>
        <p:txBody>
          <a:bodyPr wrap="square" lIns="0" tIns="0" rIns="0" bIns="0" rtlCol="0" anchor="ctr"/>
          <a:lstStyle/>
          <a:p>
            <a:pPr indent="0" marL="0">
              <a:buNone/>
            </a:pPr>
            <a:r>
              <a:rPr lang="en-US" sz="1200" b="1" dirty="0">
                <a:solidFill>
                  <a:srgbClr val="1E2A30"/>
                </a:solidFill>
                <a:latin typeface="Meiryo" pitchFamily="34" charset="0"/>
                <a:ea typeface="Meiryo" pitchFamily="34" charset="-122"/>
                <a:cs typeface="Meiryo" pitchFamily="34" charset="-120"/>
              </a:rPr>
              <a:t>相手に届く</a:t>
            </a:r>
            <a:endParaRPr lang="en-US" sz="1200" dirty="0"/>
          </a:p>
        </p:txBody>
      </p:sp>
      <p:sp>
        <p:nvSpPr>
          <p:cNvPr id="17" name="Text 12"/>
          <p:cNvSpPr txBox="1"/>
          <p:nvPr/>
        </p:nvSpPr>
        <p:spPr>
          <a:xfrm>
            <a:off x="457200" y="1920240"/>
            <a:ext cx="8229600" cy="274320"/>
          </a:xfrm>
          <a:prstGeom prst="rect">
            <a:avLst/>
          </a:prstGeom>
          <a:noFill/>
          <a:ln/>
        </p:spPr>
        <p:txBody>
          <a:bodyPr wrap="square" lIns="0" tIns="0" rIns="0" bIns="0" rtlCol="0" anchor="t"/>
          <a:lstStyle/>
          <a:p>
            <a:pPr algn="ctr" indent="0" marL="0">
              <a:buNone/>
            </a:pPr>
            <a:r>
              <a:rPr lang="en-US" sz="1050" dirty="0">
                <a:solidFill>
                  <a:srgbClr val="0B6E6E"/>
                </a:solidFill>
                <a:latin typeface="Meiryo" pitchFamily="34" charset="0"/>
                <a:ea typeface="Meiryo" pitchFamily="34" charset="-122"/>
                <a:cs typeface="Meiryo" pitchFamily="34" charset="-120"/>
              </a:rPr>
              <a:t>見つかったら、安全な言い方に直してから話します（直せないときは決まった定型文に差し替え）</a:t>
            </a:r>
            <a:endParaRPr lang="en-US" sz="10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2286000"/>
          <a:ext cx="8229600" cy="914400"/>
        </p:xfrm>
        <a:graphic>
          <a:graphicData uri="http://schemas.openxmlformats.org/drawingml/2006/table">
            <a:tbl>
              <a:tblPr/>
              <a:tblGrid>
                <a:gridCol w="2514600"/>
                <a:gridCol w="3337560"/>
                <a:gridCol w="2377440"/>
              </a:tblGrid>
              <a:tr h="310896">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 言ってはいけない</a:t>
                      </a:r>
                      <a:endParaRPr lang="en-US" sz="1000" dirty="0">
                        <a:latin typeface="Meiryo" charset="0"/>
                        <a:ea typeface="Meiryo" charset="0"/>
                        <a:cs typeface="Meiryo" charset="0"/>
                      </a:endParaRPr>
                    </a:p>
                  </a:txBody>
                  <a:tcPr marL="91440" marR="91440" marT="36576" marB="36576"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0E2F36"/>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 こう言い換える</a:t>
                      </a:r>
                      <a:endParaRPr lang="en-US" sz="1000" dirty="0">
                        <a:latin typeface="Meiryo" charset="0"/>
                        <a:ea typeface="Meiryo" charset="0"/>
                        <a:cs typeface="Meiryo" charset="0"/>
                      </a:endParaRPr>
                    </a:p>
                  </a:txBody>
                  <a:tcPr marL="91440" marR="91440" marT="36576" marB="36576"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0E2F36"/>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理由</a:t>
                      </a:r>
                      <a:endParaRPr lang="en-US" sz="1000" dirty="0">
                        <a:latin typeface="Meiryo" charset="0"/>
                        <a:ea typeface="Meiryo" charset="0"/>
                        <a:cs typeface="Meiryo" charset="0"/>
                      </a:endParaRPr>
                    </a:p>
                  </a:txBody>
                  <a:tcPr marL="91440" marR="91440" marT="36576" marB="36576"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0E2F36"/>
                    </a:solidFill>
                  </a:tcPr>
                </a:tc>
              </a:tr>
              <a:tr h="365760">
                <a:tc>
                  <a:txBody>
                    <a:bodyPr/>
                    <a:lstStyle/>
                    <a:p>
                      <a:pPr indent="0" marL="0">
                        <a:buNone/>
                      </a:pPr>
                      <a:r>
                        <a:rPr lang="en-US" sz="1000" b="1" dirty="0">
                          <a:solidFill>
                            <a:srgbClr val="B3261E"/>
                          </a:solidFill>
                          <a:latin typeface="Meiryo" pitchFamily="34" charset="0"/>
                          <a:ea typeface="Meiryo" pitchFamily="34" charset="-122"/>
                          <a:cs typeface="Meiryo" pitchFamily="34" charset="-120"/>
                        </a:rPr>
                        <a:t>「社会保険料が下がります」</a:t>
                      </a:r>
                      <a:endParaRPr lang="en-US" sz="1000" dirty="0">
                        <a:latin typeface="Meiryo" charset="0"/>
                        <a:ea typeface="Meiryo" charset="0"/>
                        <a:cs typeface="Meiryo" charset="0"/>
                      </a:endParaRPr>
                    </a:p>
                  </a:txBody>
                  <a:tcPr marL="91440" marR="91440" marT="36576" marB="36576"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000" b="1" dirty="0">
                          <a:solidFill>
                            <a:srgbClr val="1B7F3B"/>
                          </a:solidFill>
                          <a:latin typeface="Meiryo" pitchFamily="34" charset="0"/>
                          <a:ea typeface="Meiryo" pitchFamily="34" charset="-122"/>
                          <a:cs typeface="Meiryo" pitchFamily="34" charset="-120"/>
                        </a:rPr>
                        <a:t>「社会保険料が下がる場合があります」</a:t>
                      </a:r>
                      <a:endParaRPr lang="en-US" sz="1000" dirty="0">
                        <a:latin typeface="Meiryo" charset="0"/>
                        <a:ea typeface="Meiryo" charset="0"/>
                        <a:cs typeface="Meiryo" charset="0"/>
                      </a:endParaRPr>
                    </a:p>
                  </a:txBody>
                  <a:tcPr marL="91440" marR="91440" marT="36576" marB="36576"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000" dirty="0">
                          <a:solidFill>
                            <a:srgbClr val="5B6870"/>
                          </a:solidFill>
                          <a:latin typeface="Meiryo" pitchFamily="34" charset="0"/>
                          <a:ea typeface="Meiryo" pitchFamily="34" charset="-122"/>
                          <a:cs typeface="Meiryo" pitchFamily="34" charset="-120"/>
                        </a:rPr>
                        <a:t>給与や等級によっては下がらないため</a:t>
                      </a:r>
                      <a:endParaRPr lang="en-US" sz="1000" dirty="0">
                        <a:latin typeface="Meiryo" charset="0"/>
                        <a:ea typeface="Meiryo" charset="0"/>
                        <a:cs typeface="Meiryo" charset="0"/>
                      </a:endParaRPr>
                    </a:p>
                  </a:txBody>
                  <a:tcPr marL="91440" marR="91440" marT="36576" marB="36576"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365760">
                <a:tc>
                  <a:txBody>
                    <a:bodyPr/>
                    <a:lstStyle/>
                    <a:p>
                      <a:pPr indent="0" marL="0">
                        <a:buNone/>
                      </a:pPr>
                      <a:r>
                        <a:rPr lang="en-US" sz="1000" b="1" dirty="0">
                          <a:solidFill>
                            <a:srgbClr val="B3261E"/>
                          </a:solidFill>
                          <a:latin typeface="Meiryo" pitchFamily="34" charset="0"/>
                          <a:ea typeface="Meiryo" pitchFamily="34" charset="-122"/>
                          <a:cs typeface="Meiryo" pitchFamily="34" charset="-120"/>
                        </a:rPr>
                        <a:t>「元本保証です」「必ず増えます」</a:t>
                      </a:r>
                      <a:endParaRPr lang="en-US" sz="1000" dirty="0">
                        <a:latin typeface="Meiryo" charset="0"/>
                        <a:ea typeface="Meiryo" charset="0"/>
                        <a:cs typeface="Meiryo" charset="0"/>
                      </a:endParaRPr>
                    </a:p>
                  </a:txBody>
                  <a:tcPr marL="91440" marR="91440" marT="36576" marB="36576"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000" b="1" dirty="0">
                          <a:solidFill>
                            <a:srgbClr val="1B7F3B"/>
                          </a:solidFill>
                          <a:latin typeface="Meiryo" pitchFamily="34" charset="0"/>
                          <a:ea typeface="Meiryo" pitchFamily="34" charset="-122"/>
                          <a:cs typeface="Meiryo" pitchFamily="34" charset="-120"/>
                        </a:rPr>
                        <a:t>「運用商品によって結果は変動します」</a:t>
                      </a:r>
                      <a:endParaRPr lang="en-US" sz="1000" dirty="0">
                        <a:latin typeface="Meiryo" charset="0"/>
                        <a:ea typeface="Meiryo" charset="0"/>
                        <a:cs typeface="Meiryo" charset="0"/>
                      </a:endParaRPr>
                    </a:p>
                  </a:txBody>
                  <a:tcPr marL="91440" marR="91440" marT="36576" marB="36576"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000" dirty="0">
                          <a:solidFill>
                            <a:srgbClr val="5B6870"/>
                          </a:solidFill>
                          <a:latin typeface="Meiryo" pitchFamily="34" charset="0"/>
                          <a:ea typeface="Meiryo" pitchFamily="34" charset="-122"/>
                          <a:cs typeface="Meiryo" pitchFamily="34" charset="-120"/>
                        </a:rPr>
                        <a:t>元本を下回ることもあるため</a:t>
                      </a:r>
                      <a:endParaRPr lang="en-US" sz="1000" dirty="0">
                        <a:latin typeface="Meiryo" charset="0"/>
                        <a:ea typeface="Meiryo" charset="0"/>
                        <a:cs typeface="Meiryo" charset="0"/>
                      </a:endParaRPr>
                    </a:p>
                  </a:txBody>
                  <a:tcPr marL="91440" marR="91440" marT="36576" marB="36576"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365760">
                <a:tc>
                  <a:txBody>
                    <a:bodyPr/>
                    <a:lstStyle/>
                    <a:p>
                      <a:pPr indent="0" marL="0">
                        <a:buNone/>
                      </a:pPr>
                      <a:r>
                        <a:rPr lang="en-US" sz="1000" b="1" dirty="0">
                          <a:solidFill>
                            <a:srgbClr val="B3261E"/>
                          </a:solidFill>
                          <a:latin typeface="Meiryo" pitchFamily="34" charset="0"/>
                          <a:ea typeface="Meiryo" pitchFamily="34" charset="-122"/>
                          <a:cs typeface="Meiryo" pitchFamily="34" charset="-120"/>
                        </a:rPr>
                        <a:t>提携している金融機関の社名</a:t>
                      </a:r>
                      <a:endParaRPr lang="en-US" sz="1000" dirty="0">
                        <a:latin typeface="Meiryo" charset="0"/>
                        <a:ea typeface="Meiryo" charset="0"/>
                        <a:cs typeface="Meiryo" charset="0"/>
                      </a:endParaRPr>
                    </a:p>
                  </a:txBody>
                  <a:tcPr marL="91440" marR="91440" marT="36576" marB="36576"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000" b="1" dirty="0">
                          <a:solidFill>
                            <a:srgbClr val="1B7F3B"/>
                          </a:solidFill>
                          <a:latin typeface="Meiryo" pitchFamily="34" charset="0"/>
                          <a:ea typeface="Meiryo" pitchFamily="34" charset="-122"/>
                          <a:cs typeface="Meiryo" pitchFamily="34" charset="-120"/>
                        </a:rPr>
                        <a:t>「提携先の金融機関」</a:t>
                      </a:r>
                      <a:endParaRPr lang="en-US" sz="1000" dirty="0">
                        <a:latin typeface="Meiryo" charset="0"/>
                        <a:ea typeface="Meiryo" charset="0"/>
                        <a:cs typeface="Meiryo" charset="0"/>
                      </a:endParaRPr>
                    </a:p>
                  </a:txBody>
                  <a:tcPr marL="91440" marR="91440" marT="36576" marB="36576"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000" dirty="0">
                          <a:solidFill>
                            <a:srgbClr val="5B6870"/>
                          </a:solidFill>
                          <a:latin typeface="Meiryo" pitchFamily="34" charset="0"/>
                          <a:ea typeface="Meiryo" pitchFamily="34" charset="-122"/>
                          <a:cs typeface="Meiryo" pitchFamily="34" charset="-120"/>
                        </a:rPr>
                        <a:t>提携の条件で社名を出せないため</a:t>
                      </a:r>
                      <a:endParaRPr lang="en-US" sz="1000" dirty="0">
                        <a:latin typeface="Meiryo" charset="0"/>
                        <a:ea typeface="Meiryo" charset="0"/>
                        <a:cs typeface="Meiryo" charset="0"/>
                      </a:endParaRPr>
                    </a:p>
                  </a:txBody>
                  <a:tcPr marL="91440" marR="91440" marT="36576" marB="36576"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365760">
                <a:tc>
                  <a:txBody>
                    <a:bodyPr/>
                    <a:lstStyle/>
                    <a:p>
                      <a:pPr indent="0" marL="0">
                        <a:buNone/>
                      </a:pPr>
                      <a:r>
                        <a:rPr lang="en-US" sz="1000" b="1" dirty="0">
                          <a:solidFill>
                            <a:srgbClr val="B3261E"/>
                          </a:solidFill>
                          <a:latin typeface="Meiryo" pitchFamily="34" charset="0"/>
                          <a:ea typeface="Meiryo" pitchFamily="34" charset="-122"/>
                          <a:cs typeface="Meiryo" pitchFamily="34" charset="-120"/>
                        </a:rPr>
                        <a:t>「厚労省の管轄です」だけ</a:t>
                      </a:r>
                      <a:endParaRPr lang="en-US" sz="1000" dirty="0">
                        <a:latin typeface="Meiryo" charset="0"/>
                        <a:ea typeface="Meiryo" charset="0"/>
                        <a:cs typeface="Meiryo" charset="0"/>
                      </a:endParaRPr>
                    </a:p>
                  </a:txBody>
                  <a:tcPr marL="91440" marR="91440" marT="36576" marB="36576"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000" b="1" dirty="0">
                          <a:solidFill>
                            <a:srgbClr val="1B7F3B"/>
                          </a:solidFill>
                          <a:latin typeface="Meiryo" pitchFamily="34" charset="0"/>
                          <a:ea typeface="Meiryo" pitchFamily="34" charset="-122"/>
                          <a:cs typeface="Meiryo" pitchFamily="34" charset="-120"/>
                        </a:rPr>
                        <a:t>「制度は厚労省の管轄、私どもは民間の事業者です」</a:t>
                      </a:r>
                      <a:endParaRPr lang="en-US" sz="1000" dirty="0">
                        <a:latin typeface="Meiryo" charset="0"/>
                        <a:ea typeface="Meiryo" charset="0"/>
                        <a:cs typeface="Meiryo" charset="0"/>
                      </a:endParaRPr>
                    </a:p>
                  </a:txBody>
                  <a:tcPr marL="91440" marR="91440" marT="36576" marB="36576"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000" dirty="0">
                          <a:solidFill>
                            <a:srgbClr val="5B6870"/>
                          </a:solidFill>
                          <a:latin typeface="Meiryo" pitchFamily="34" charset="0"/>
                          <a:ea typeface="Meiryo" pitchFamily="34" charset="-122"/>
                          <a:cs typeface="Meiryo" pitchFamily="34" charset="-120"/>
                        </a:rPr>
                        <a:t>国の機関と誤解されないため</a:t>
                      </a:r>
                      <a:endParaRPr lang="en-US" sz="1000" dirty="0">
                        <a:latin typeface="Meiryo" charset="0"/>
                        <a:ea typeface="Meiryo" charset="0"/>
                        <a:cs typeface="Meiryo" charset="0"/>
                      </a:endParaRPr>
                    </a:p>
                  </a:txBody>
                  <a:tcPr marL="91440" marR="91440" marT="36576" marB="36576"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365760">
                <a:tc>
                  <a:txBody>
                    <a:bodyPr/>
                    <a:lstStyle/>
                    <a:p>
                      <a:pPr indent="0" marL="0">
                        <a:buNone/>
                      </a:pPr>
                      <a:r>
                        <a:rPr lang="en-US" sz="1000" b="1" dirty="0">
                          <a:solidFill>
                            <a:srgbClr val="B3261E"/>
                          </a:solidFill>
                          <a:latin typeface="Meiryo" pitchFamily="34" charset="0"/>
                          <a:ea typeface="Meiryo" pitchFamily="34" charset="-122"/>
                          <a:cs typeface="Meiryo" pitchFamily="34" charset="-120"/>
                        </a:rPr>
                        <a:t>担当者の個人名を名乗る</a:t>
                      </a:r>
                      <a:endParaRPr lang="en-US" sz="1000" dirty="0">
                        <a:latin typeface="Meiryo" charset="0"/>
                        <a:ea typeface="Meiryo" charset="0"/>
                        <a:cs typeface="Meiryo" charset="0"/>
                      </a:endParaRPr>
                    </a:p>
                  </a:txBody>
                  <a:tcPr marL="91440" marR="91440" marT="36576" marB="36576"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000" b="1" dirty="0">
                          <a:solidFill>
                            <a:srgbClr val="1B7F3B"/>
                          </a:solidFill>
                          <a:latin typeface="Meiryo" pitchFamily="34" charset="0"/>
                          <a:ea typeface="Meiryo" pitchFamily="34" charset="-122"/>
                          <a:cs typeface="Meiryo" pitchFamily="34" charset="-120"/>
                        </a:rPr>
                        <a:t>団体名だけを名乗る</a:t>
                      </a:r>
                      <a:endParaRPr lang="en-US" sz="1000" dirty="0">
                        <a:latin typeface="Meiryo" charset="0"/>
                        <a:ea typeface="Meiryo" charset="0"/>
                        <a:cs typeface="Meiryo" charset="0"/>
                      </a:endParaRPr>
                    </a:p>
                  </a:txBody>
                  <a:tcPr marL="91440" marR="91440" marT="36576" marB="36576"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000" dirty="0">
                          <a:solidFill>
                            <a:srgbClr val="5B6870"/>
                          </a:solidFill>
                          <a:latin typeface="Meiryo" pitchFamily="34" charset="0"/>
                          <a:ea typeface="Meiryo" pitchFamily="34" charset="-122"/>
                          <a:cs typeface="Meiryo" pitchFamily="34" charset="-120"/>
                        </a:rPr>
                        <a:t>実在しない人名を作らないため</a:t>
                      </a:r>
                      <a:endParaRPr lang="en-US" sz="1000" dirty="0">
                        <a:latin typeface="Meiryo" charset="0"/>
                        <a:ea typeface="Meiryo" charset="0"/>
                        <a:cs typeface="Meiryo" charset="0"/>
                      </a:endParaRPr>
                    </a:p>
                  </a:txBody>
                  <a:tcPr marL="91440" marR="91440" marT="36576" marB="36576"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960120" cy="256032"/>
          </a:xfrm>
          <a:prstGeom prst="roundRect">
            <a:avLst>
              <a:gd name="adj" fmla="val 50000"/>
            </a:avLst>
          </a:prstGeom>
          <a:solidFill>
            <a:srgbClr val="E3F3F2"/>
          </a:solidFill>
          <a:ln w="9525">
            <a:solidFill>
              <a:srgbClr val="E3F3F2"/>
            </a:solidFill>
            <a:prstDash val="solid"/>
          </a:ln>
        </p:spPr>
      </p:sp>
      <p:sp>
        <p:nvSpPr>
          <p:cNvPr id="3" name="Text 1"/>
          <p:cNvSpPr txBox="1"/>
          <p:nvPr/>
        </p:nvSpPr>
        <p:spPr>
          <a:xfrm>
            <a:off x="457200" y="310896"/>
            <a:ext cx="960120" cy="256032"/>
          </a:xfrm>
          <a:prstGeom prst="rect">
            <a:avLst/>
          </a:prstGeom>
          <a:noFill/>
          <a:ln/>
        </p:spPr>
        <p:txBody>
          <a:bodyPr wrap="square" lIns="0" tIns="0" rIns="0" bIns="0" rtlCol="0" anchor="ctr"/>
          <a:lstStyle/>
          <a:p>
            <a:pPr algn="ctr" indent="0" marL="0">
              <a:buNone/>
            </a:pPr>
            <a:r>
              <a:rPr lang="en-US" sz="1000" b="1" dirty="0">
                <a:solidFill>
                  <a:srgbClr val="0B6E6E"/>
                </a:solidFill>
                <a:latin typeface="Meiryo" pitchFamily="34" charset="0"/>
                <a:ea typeface="Meiryo" pitchFamily="34" charset="-122"/>
                <a:cs typeface="Meiryo" pitchFamily="34" charset="-120"/>
              </a:rPr>
              <a:t>できること</a:t>
            </a:r>
            <a:endParaRPr lang="en-US" sz="1000" dirty="0"/>
          </a:p>
        </p:txBody>
      </p:sp>
      <p:sp>
        <p:nvSpPr>
          <p:cNvPr id="4" name="Text 2"/>
          <p:cNvSpPr txBox="1"/>
          <p:nvPr/>
        </p:nvSpPr>
        <p:spPr>
          <a:xfrm>
            <a:off x="457200" y="603504"/>
            <a:ext cx="8229600" cy="502920"/>
          </a:xfrm>
          <a:prstGeom prst="rect">
            <a:avLst/>
          </a:prstGeom>
          <a:noFill/>
          <a:ln/>
        </p:spPr>
        <p:txBody>
          <a:bodyPr wrap="square" lIns="0" tIns="0" rIns="0" bIns="0" rtlCol="0" anchor="ctr"/>
          <a:lstStyle/>
          <a:p>
            <a:pPr indent="0" marL="0">
              <a:buNone/>
            </a:pPr>
            <a:r>
              <a:rPr lang="en-US" sz="2400" b="1" dirty="0">
                <a:solidFill>
                  <a:srgbClr val="1E2A30"/>
                </a:solidFill>
                <a:latin typeface="Meiryo" pitchFamily="34" charset="0"/>
                <a:ea typeface="Meiryo" pitchFamily="34" charset="-122"/>
                <a:cs typeface="Meiryo" pitchFamily="34" charset="-120"/>
              </a:rPr>
              <a:t>タイプB：受付を突破したら、人にバトンタッチ</a:t>
            </a:r>
            <a:endParaRPr lang="en-US" sz="2400" dirty="0"/>
          </a:p>
        </p:txBody>
      </p:sp>
      <p:sp>
        <p:nvSpPr>
          <p:cNvPr id="5" name="Text 3"/>
          <p:cNvSpPr txBox="1"/>
          <p:nvPr/>
        </p:nvSpPr>
        <p:spPr>
          <a:xfrm>
            <a:off x="7955280" y="4773168"/>
            <a:ext cx="731520" cy="228600"/>
          </a:xfrm>
          <a:prstGeom prst="rect">
            <a:avLst/>
          </a:prstGeom>
          <a:noFill/>
          <a:ln/>
        </p:spPr>
        <p:txBody>
          <a:bodyPr wrap="square" lIns="0" tIns="0" rIns="0" bIns="0" rtlCol="0" anchor="t"/>
          <a:lstStyle/>
          <a:p>
            <a:pPr algn="r" indent="0" marL="0">
              <a:buNone/>
            </a:pPr>
            <a:r>
              <a:rPr lang="en-US" sz="900" dirty="0">
                <a:solidFill>
                  <a:srgbClr val="5B6870"/>
                </a:solidFill>
                <a:latin typeface="Meiryo" pitchFamily="34" charset="0"/>
                <a:ea typeface="Meiryo" pitchFamily="34" charset="-122"/>
                <a:cs typeface="Meiryo" pitchFamily="34" charset="-120"/>
              </a:rPr>
              <a:t>11 / 17</a:t>
            </a:r>
            <a:endParaRPr lang="en-US" sz="900" dirty="0"/>
          </a:p>
        </p:txBody>
      </p:sp>
      <p:sp>
        <p:nvSpPr>
          <p:cNvPr id="6" name="Shape 4"/>
          <p:cNvSpPr/>
          <p:nvPr/>
        </p:nvSpPr>
        <p:spPr>
          <a:xfrm>
            <a:off x="457200" y="1554480"/>
            <a:ext cx="1005840" cy="1005840"/>
          </a:xfrm>
          <a:prstGeom prst="ellipse">
            <a:avLst/>
          </a:prstGeom>
          <a:solidFill>
            <a:srgbClr val="0B6E6E"/>
          </a:solidFill>
          <a:ln w="9525">
            <a:solidFill>
              <a:srgbClr val="0B6E6E"/>
            </a:solidFill>
            <a:prstDash val="solid"/>
          </a:ln>
        </p:spPr>
      </p:sp>
      <p:pic>
        <p:nvPicPr>
          <p:cNvPr id="7" name="Image 0" descr="preencoded.png">    </p:cNvPr>
          <p:cNvPicPr>
            <a:picLocks noChangeAspect="1"/>
          </p:cNvPicPr>
          <p:nvPr/>
        </p:nvPicPr>
        <p:blipFill>
          <a:blip r:embed="rId1"/>
          <a:stretch>
            <a:fillRect/>
          </a:stretch>
        </p:blipFill>
        <p:spPr>
          <a:xfrm>
            <a:off x="708660" y="1805940"/>
            <a:ext cx="502920" cy="502920"/>
          </a:xfrm>
          <a:prstGeom prst="rect">
            <a:avLst/>
          </a:prstGeom>
        </p:spPr>
      </p:pic>
      <p:sp>
        <p:nvSpPr>
          <p:cNvPr id="8" name="Text 5"/>
          <p:cNvSpPr txBox="1"/>
          <p:nvPr/>
        </p:nvSpPr>
        <p:spPr>
          <a:xfrm>
            <a:off x="274320" y="2633472"/>
            <a:ext cx="1371600" cy="502920"/>
          </a:xfrm>
          <a:prstGeom prst="rect">
            <a:avLst/>
          </a:prstGeom>
          <a:noFill/>
          <a:ln/>
        </p:spPr>
        <p:txBody>
          <a:bodyPr wrap="square" lIns="0" tIns="0" rIns="0" bIns="0" rtlCol="0" anchor="t"/>
          <a:lstStyle/>
          <a:p>
            <a:pPr algn="ctr" indent="0" marL="0">
              <a:buNone/>
            </a:pPr>
            <a:r>
              <a:rPr lang="en-US" sz="1100" b="1" dirty="0">
                <a:solidFill>
                  <a:srgbClr val="1E2A30"/>
                </a:solidFill>
                <a:latin typeface="Meiryo" pitchFamily="34" charset="0"/>
                <a:ea typeface="Meiryo" pitchFamily="34" charset="-122"/>
                <a:cs typeface="Meiryo" pitchFamily="34" charset="-120"/>
              </a:rPr>
              <a:t>AI が</a:t>
            </a:r>
            <a:endParaRPr lang="en-US" sz="1100" dirty="0"/>
          </a:p>
          <a:p>
            <a:pPr algn="ctr" indent="0" marL="0">
              <a:buNone/>
            </a:pPr>
            <a:r>
              <a:rPr lang="en-US" sz="1100" b="1" dirty="0">
                <a:solidFill>
                  <a:srgbClr val="1E2A30"/>
                </a:solidFill>
                <a:latin typeface="Meiryo" pitchFamily="34" charset="0"/>
                <a:ea typeface="Meiryo" pitchFamily="34" charset="-122"/>
                <a:cs typeface="Meiryo" pitchFamily="34" charset="-120"/>
              </a:rPr>
              <a:t>受付と話す</a:t>
            </a:r>
            <a:endParaRPr lang="en-US" sz="1100" dirty="0"/>
          </a:p>
        </p:txBody>
      </p:sp>
      <p:sp>
        <p:nvSpPr>
          <p:cNvPr id="9" name="Shape 6"/>
          <p:cNvSpPr/>
          <p:nvPr/>
        </p:nvSpPr>
        <p:spPr>
          <a:xfrm flipV="1">
            <a:off x="1463040" y="1499616"/>
            <a:ext cx="457200" cy="557784"/>
          </a:xfrm>
          <a:prstGeom prst="line">
            <a:avLst/>
          </a:prstGeom>
          <a:noFill/>
          <a:ln w="19050">
            <a:solidFill>
              <a:srgbClr val="D5DDE0"/>
            </a:solidFill>
            <a:prstDash val="solid"/>
          </a:ln>
        </p:spPr>
      </p:sp>
      <p:sp>
        <p:nvSpPr>
          <p:cNvPr id="10" name="Shape 7"/>
          <p:cNvSpPr/>
          <p:nvPr/>
        </p:nvSpPr>
        <p:spPr>
          <a:xfrm>
            <a:off x="1463040" y="2057400"/>
            <a:ext cx="457200" cy="128016"/>
          </a:xfrm>
          <a:prstGeom prst="line">
            <a:avLst/>
          </a:prstGeom>
          <a:noFill/>
          <a:ln w="19050">
            <a:solidFill>
              <a:srgbClr val="D5DDE0"/>
            </a:solidFill>
            <a:prstDash val="solid"/>
          </a:ln>
        </p:spPr>
      </p:sp>
      <p:sp>
        <p:nvSpPr>
          <p:cNvPr id="11" name="Shape 8"/>
          <p:cNvSpPr/>
          <p:nvPr/>
        </p:nvSpPr>
        <p:spPr>
          <a:xfrm>
            <a:off x="1463040" y="2057400"/>
            <a:ext cx="457200" cy="813816"/>
          </a:xfrm>
          <a:prstGeom prst="line">
            <a:avLst/>
          </a:prstGeom>
          <a:noFill/>
          <a:ln w="19050">
            <a:solidFill>
              <a:srgbClr val="D5DDE0"/>
            </a:solidFill>
            <a:prstDash val="solid"/>
          </a:ln>
        </p:spPr>
      </p:sp>
      <p:sp>
        <p:nvSpPr>
          <p:cNvPr id="12" name="Shape 9"/>
          <p:cNvSpPr/>
          <p:nvPr/>
        </p:nvSpPr>
        <p:spPr>
          <a:xfrm>
            <a:off x="1920240" y="1216152"/>
            <a:ext cx="2514600" cy="566928"/>
          </a:xfrm>
          <a:prstGeom prst="roundRect">
            <a:avLst>
              <a:gd name="adj" fmla="val 16129"/>
            </a:avLst>
          </a:prstGeom>
          <a:solidFill>
            <a:srgbClr val="FDF1DC"/>
          </a:solidFill>
          <a:ln w="9525">
            <a:solidFill>
              <a:srgbClr val="FDF1DC"/>
            </a:solidFill>
            <a:prstDash val="solid"/>
          </a:ln>
        </p:spPr>
      </p:sp>
      <p:sp>
        <p:nvSpPr>
          <p:cNvPr id="13" name="Text 10"/>
          <p:cNvSpPr txBox="1"/>
          <p:nvPr/>
        </p:nvSpPr>
        <p:spPr>
          <a:xfrm>
            <a:off x="2011680" y="1216152"/>
            <a:ext cx="2377440" cy="566928"/>
          </a:xfrm>
          <a:prstGeom prst="rect">
            <a:avLst/>
          </a:prstGeom>
          <a:noFill/>
          <a:ln/>
        </p:spPr>
        <p:txBody>
          <a:bodyPr wrap="square" lIns="0" tIns="0" rIns="0" bIns="0" rtlCol="0" anchor="ctr"/>
          <a:lstStyle/>
          <a:p>
            <a:pPr indent="0" marL="0">
              <a:buNone/>
            </a:pPr>
            <a:r>
              <a:rPr lang="en-US" sz="1100" b="1" dirty="0">
                <a:solidFill>
                  <a:srgbClr val="8A5A00"/>
                </a:solidFill>
                <a:latin typeface="Meiryo" pitchFamily="34" charset="0"/>
                <a:ea typeface="Meiryo" pitchFamily="34" charset="-122"/>
                <a:cs typeface="Meiryo" pitchFamily="34" charset="-120"/>
              </a:rPr>
              <a:t>「少々お待ちください」</a:t>
            </a:r>
            <a:endParaRPr lang="en-US" sz="1100" dirty="0"/>
          </a:p>
          <a:p>
            <a:pPr indent="0" marL="0">
              <a:buNone/>
            </a:pPr>
            <a:r>
              <a:rPr lang="en-US" sz="1100" b="1" dirty="0">
                <a:solidFill>
                  <a:srgbClr val="8A5A00"/>
                </a:solidFill>
                <a:latin typeface="Meiryo" pitchFamily="34" charset="0"/>
                <a:ea typeface="Meiryo" pitchFamily="34" charset="-122"/>
                <a:cs typeface="Meiryo" pitchFamily="34" charset="-120"/>
              </a:rPr>
              <a:t>「私です」</a:t>
            </a:r>
            <a:endParaRPr lang="en-US" sz="1100" dirty="0"/>
          </a:p>
        </p:txBody>
      </p:sp>
      <p:sp>
        <p:nvSpPr>
          <p:cNvPr id="14" name="Shape 11"/>
          <p:cNvSpPr/>
          <p:nvPr/>
        </p:nvSpPr>
        <p:spPr>
          <a:xfrm>
            <a:off x="4507992" y="1399032"/>
            <a:ext cx="347472" cy="201168"/>
          </a:xfrm>
          <a:prstGeom prst="rightArrow">
            <a:avLst/>
          </a:prstGeom>
          <a:solidFill>
            <a:srgbClr val="D5DDE0"/>
          </a:solidFill>
          <a:ln w="12700">
            <a:solidFill>
              <a:srgbClr val="D5DDE0"/>
            </a:solidFill>
            <a:prstDash val="solid"/>
          </a:ln>
        </p:spPr>
      </p:sp>
      <p:sp>
        <p:nvSpPr>
          <p:cNvPr id="15" name="Shape 12"/>
          <p:cNvSpPr/>
          <p:nvPr/>
        </p:nvSpPr>
        <p:spPr>
          <a:xfrm>
            <a:off x="4937760" y="1216152"/>
            <a:ext cx="3749040" cy="566928"/>
          </a:xfrm>
          <a:prstGeom prst="roundRect">
            <a:avLst>
              <a:gd name="adj" fmla="val 12903"/>
            </a:avLst>
          </a:prstGeom>
          <a:solidFill>
            <a:srgbClr val="E6F4EA"/>
          </a:solidFill>
          <a:ln w="9525">
            <a:solidFill>
              <a:srgbClr val="1B7F3B"/>
            </a:solidFill>
            <a:prstDash val="solid"/>
          </a:ln>
        </p:spPr>
      </p:sp>
      <p:pic>
        <p:nvPicPr>
          <p:cNvPr id="16" name="Image 1" descr="preencoded.png">    </p:cNvPr>
          <p:cNvPicPr>
            <a:picLocks noChangeAspect="1"/>
          </p:cNvPicPr>
          <p:nvPr/>
        </p:nvPicPr>
        <p:blipFill>
          <a:blip r:embed="rId2"/>
          <a:stretch>
            <a:fillRect/>
          </a:stretch>
        </p:blipFill>
        <p:spPr>
          <a:xfrm>
            <a:off x="5074920" y="1362456"/>
            <a:ext cx="274320" cy="274320"/>
          </a:xfrm>
          <a:prstGeom prst="rect">
            <a:avLst/>
          </a:prstGeom>
        </p:spPr>
      </p:pic>
      <p:sp>
        <p:nvSpPr>
          <p:cNvPr id="17" name="Text 13"/>
          <p:cNvSpPr txBox="1"/>
          <p:nvPr/>
        </p:nvSpPr>
        <p:spPr>
          <a:xfrm>
            <a:off x="5440680" y="1216152"/>
            <a:ext cx="3200400" cy="566928"/>
          </a:xfrm>
          <a:prstGeom prst="rect">
            <a:avLst/>
          </a:prstGeom>
          <a:noFill/>
          <a:ln/>
        </p:spPr>
        <p:txBody>
          <a:bodyPr wrap="square" lIns="0" tIns="0" rIns="0" bIns="0" rtlCol="0" anchor="ctr"/>
          <a:lstStyle/>
          <a:p>
            <a:pPr indent="0" marL="0">
              <a:buNone/>
            </a:pPr>
            <a:r>
              <a:rPr lang="en-US" sz="1100" b="1" dirty="0">
                <a:solidFill>
                  <a:srgbClr val="1B7F3B"/>
                </a:solidFill>
                <a:latin typeface="Meiryo" pitchFamily="34" charset="0"/>
                <a:ea typeface="Meiryo" pitchFamily="34" charset="-122"/>
                <a:cs typeface="Meiryo" pitchFamily="34" charset="-120"/>
              </a:rPr>
              <a:t>AI はすぐに話すのをやめ、画面に合図。人が会話を引き継ぐ</a:t>
            </a:r>
            <a:endParaRPr lang="en-US" sz="1100" dirty="0"/>
          </a:p>
        </p:txBody>
      </p:sp>
      <p:sp>
        <p:nvSpPr>
          <p:cNvPr id="18" name="Shape 14"/>
          <p:cNvSpPr/>
          <p:nvPr/>
        </p:nvSpPr>
        <p:spPr>
          <a:xfrm>
            <a:off x="1920240" y="1901952"/>
            <a:ext cx="2514600" cy="566928"/>
          </a:xfrm>
          <a:prstGeom prst="roundRect">
            <a:avLst>
              <a:gd name="adj" fmla="val 16129"/>
            </a:avLst>
          </a:prstGeom>
          <a:solidFill>
            <a:srgbClr val="FDF1DC"/>
          </a:solidFill>
          <a:ln w="9525">
            <a:solidFill>
              <a:srgbClr val="FDF1DC"/>
            </a:solidFill>
            <a:prstDash val="solid"/>
          </a:ln>
        </p:spPr>
      </p:sp>
      <p:sp>
        <p:nvSpPr>
          <p:cNvPr id="19" name="Text 15"/>
          <p:cNvSpPr txBox="1"/>
          <p:nvPr/>
        </p:nvSpPr>
        <p:spPr>
          <a:xfrm>
            <a:off x="2011680" y="1901952"/>
            <a:ext cx="2377440" cy="566928"/>
          </a:xfrm>
          <a:prstGeom prst="rect">
            <a:avLst/>
          </a:prstGeom>
          <a:noFill/>
          <a:ln/>
        </p:spPr>
        <p:txBody>
          <a:bodyPr wrap="square" lIns="0" tIns="0" rIns="0" bIns="0" rtlCol="0" anchor="ctr"/>
          <a:lstStyle/>
          <a:p>
            <a:pPr indent="0" marL="0">
              <a:buNone/>
            </a:pPr>
            <a:r>
              <a:rPr lang="en-US" sz="1100" b="1" dirty="0">
                <a:solidFill>
                  <a:srgbClr val="8A5A00"/>
                </a:solidFill>
                <a:latin typeface="Meiryo" pitchFamily="34" charset="0"/>
                <a:ea typeface="Meiryo" pitchFamily="34" charset="-122"/>
                <a:cs typeface="Meiryo" pitchFamily="34" charset="-120"/>
              </a:rPr>
              <a:t>「担当は不在です」</a:t>
            </a:r>
            <a:endParaRPr lang="en-US" sz="1100" dirty="0"/>
          </a:p>
        </p:txBody>
      </p:sp>
      <p:sp>
        <p:nvSpPr>
          <p:cNvPr id="20" name="Shape 16"/>
          <p:cNvSpPr/>
          <p:nvPr/>
        </p:nvSpPr>
        <p:spPr>
          <a:xfrm>
            <a:off x="4507992" y="2084832"/>
            <a:ext cx="347472" cy="201168"/>
          </a:xfrm>
          <a:prstGeom prst="rightArrow">
            <a:avLst/>
          </a:prstGeom>
          <a:solidFill>
            <a:srgbClr val="D5DDE0"/>
          </a:solidFill>
          <a:ln w="12700">
            <a:solidFill>
              <a:srgbClr val="D5DDE0"/>
            </a:solidFill>
            <a:prstDash val="solid"/>
          </a:ln>
        </p:spPr>
      </p:sp>
      <p:sp>
        <p:nvSpPr>
          <p:cNvPr id="21" name="Shape 17"/>
          <p:cNvSpPr/>
          <p:nvPr/>
        </p:nvSpPr>
        <p:spPr>
          <a:xfrm>
            <a:off x="4937760" y="1901952"/>
            <a:ext cx="3749040" cy="566928"/>
          </a:xfrm>
          <a:prstGeom prst="roundRect">
            <a:avLst>
              <a:gd name="adj" fmla="val 12903"/>
            </a:avLst>
          </a:prstGeom>
          <a:solidFill>
            <a:srgbClr val="F3F6F7"/>
          </a:solidFill>
          <a:ln w="9525">
            <a:solidFill>
              <a:srgbClr val="F3F6F7"/>
            </a:solidFill>
            <a:prstDash val="solid"/>
          </a:ln>
        </p:spPr>
      </p:sp>
      <p:pic>
        <p:nvPicPr>
          <p:cNvPr id="22" name="Image 2" descr="preencoded.png">    </p:cNvPr>
          <p:cNvPicPr>
            <a:picLocks noChangeAspect="1"/>
          </p:cNvPicPr>
          <p:nvPr/>
        </p:nvPicPr>
        <p:blipFill>
          <a:blip r:embed="rId3"/>
          <a:stretch>
            <a:fillRect/>
          </a:stretch>
        </p:blipFill>
        <p:spPr>
          <a:xfrm>
            <a:off x="5074920" y="2048256"/>
            <a:ext cx="274320" cy="274320"/>
          </a:xfrm>
          <a:prstGeom prst="rect">
            <a:avLst/>
          </a:prstGeom>
        </p:spPr>
      </p:pic>
      <p:sp>
        <p:nvSpPr>
          <p:cNvPr id="23" name="Text 18"/>
          <p:cNvSpPr txBox="1"/>
          <p:nvPr/>
        </p:nvSpPr>
        <p:spPr>
          <a:xfrm>
            <a:off x="5440680" y="1901952"/>
            <a:ext cx="3200400" cy="566928"/>
          </a:xfrm>
          <a:prstGeom prst="rect">
            <a:avLst/>
          </a:prstGeom>
          <a:noFill/>
          <a:ln/>
        </p:spPr>
        <p:txBody>
          <a:bodyPr wrap="square" lIns="0" tIns="0" rIns="0" bIns="0" rtlCol="0" anchor="ctr"/>
          <a:lstStyle/>
          <a:p>
            <a:pPr indent="0" marL="0">
              <a:buNone/>
            </a:pPr>
            <a:r>
              <a:rPr lang="en-US" sz="1100" dirty="0">
                <a:solidFill>
                  <a:srgbClr val="1E2A30"/>
                </a:solidFill>
                <a:latin typeface="Meiryo" pitchFamily="34" charset="0"/>
                <a:ea typeface="Meiryo" pitchFamily="34" charset="-122"/>
                <a:cs typeface="Meiryo" pitchFamily="34" charset="-120"/>
              </a:rPr>
              <a:t>戻る時間を聞いて記録し、ていねいに終える</a:t>
            </a:r>
            <a:endParaRPr lang="en-US" sz="1100" dirty="0"/>
          </a:p>
        </p:txBody>
      </p:sp>
      <p:sp>
        <p:nvSpPr>
          <p:cNvPr id="24" name="Shape 19"/>
          <p:cNvSpPr/>
          <p:nvPr/>
        </p:nvSpPr>
        <p:spPr>
          <a:xfrm>
            <a:off x="1920240" y="2587752"/>
            <a:ext cx="2514600" cy="566928"/>
          </a:xfrm>
          <a:prstGeom prst="roundRect">
            <a:avLst>
              <a:gd name="adj" fmla="val 16129"/>
            </a:avLst>
          </a:prstGeom>
          <a:solidFill>
            <a:srgbClr val="FDF1DC"/>
          </a:solidFill>
          <a:ln w="9525">
            <a:solidFill>
              <a:srgbClr val="FDF1DC"/>
            </a:solidFill>
            <a:prstDash val="solid"/>
          </a:ln>
        </p:spPr>
      </p:sp>
      <p:sp>
        <p:nvSpPr>
          <p:cNvPr id="25" name="Text 20"/>
          <p:cNvSpPr txBox="1"/>
          <p:nvPr/>
        </p:nvSpPr>
        <p:spPr>
          <a:xfrm>
            <a:off x="2011680" y="2587752"/>
            <a:ext cx="2377440" cy="566928"/>
          </a:xfrm>
          <a:prstGeom prst="rect">
            <a:avLst/>
          </a:prstGeom>
          <a:noFill/>
          <a:ln/>
        </p:spPr>
        <p:txBody>
          <a:bodyPr wrap="square" lIns="0" tIns="0" rIns="0" bIns="0" rtlCol="0" anchor="ctr"/>
          <a:lstStyle/>
          <a:p>
            <a:pPr indent="0" marL="0">
              <a:buNone/>
            </a:pPr>
            <a:r>
              <a:rPr lang="en-US" sz="1100" b="1" dirty="0">
                <a:solidFill>
                  <a:srgbClr val="8A5A00"/>
                </a:solidFill>
                <a:latin typeface="Meiryo" pitchFamily="34" charset="0"/>
                <a:ea typeface="Meiryo" pitchFamily="34" charset="-122"/>
                <a:cs typeface="Meiryo" pitchFamily="34" charset="-120"/>
              </a:rPr>
              <a:t>「営業電話はお断りです」</a:t>
            </a:r>
            <a:endParaRPr lang="en-US" sz="1100" dirty="0"/>
          </a:p>
        </p:txBody>
      </p:sp>
      <p:sp>
        <p:nvSpPr>
          <p:cNvPr id="26" name="Shape 21"/>
          <p:cNvSpPr/>
          <p:nvPr/>
        </p:nvSpPr>
        <p:spPr>
          <a:xfrm>
            <a:off x="4507992" y="2770632"/>
            <a:ext cx="347472" cy="201168"/>
          </a:xfrm>
          <a:prstGeom prst="rightArrow">
            <a:avLst/>
          </a:prstGeom>
          <a:solidFill>
            <a:srgbClr val="D5DDE0"/>
          </a:solidFill>
          <a:ln w="12700">
            <a:solidFill>
              <a:srgbClr val="D5DDE0"/>
            </a:solidFill>
            <a:prstDash val="solid"/>
          </a:ln>
        </p:spPr>
      </p:sp>
      <p:sp>
        <p:nvSpPr>
          <p:cNvPr id="27" name="Shape 22"/>
          <p:cNvSpPr/>
          <p:nvPr/>
        </p:nvSpPr>
        <p:spPr>
          <a:xfrm>
            <a:off x="4937760" y="2587752"/>
            <a:ext cx="3749040" cy="566928"/>
          </a:xfrm>
          <a:prstGeom prst="roundRect">
            <a:avLst>
              <a:gd name="adj" fmla="val 12903"/>
            </a:avLst>
          </a:prstGeom>
          <a:solidFill>
            <a:srgbClr val="F3F6F7"/>
          </a:solidFill>
          <a:ln w="9525">
            <a:solidFill>
              <a:srgbClr val="F3F6F7"/>
            </a:solidFill>
            <a:prstDash val="solid"/>
          </a:ln>
        </p:spPr>
      </p:sp>
      <p:pic>
        <p:nvPicPr>
          <p:cNvPr id="28" name="Image 3" descr="preencoded.png">    </p:cNvPr>
          <p:cNvPicPr>
            <a:picLocks noChangeAspect="1"/>
          </p:cNvPicPr>
          <p:nvPr/>
        </p:nvPicPr>
        <p:blipFill>
          <a:blip r:embed="rId4"/>
          <a:stretch>
            <a:fillRect/>
          </a:stretch>
        </p:blipFill>
        <p:spPr>
          <a:xfrm>
            <a:off x="5074920" y="2734056"/>
            <a:ext cx="274320" cy="274320"/>
          </a:xfrm>
          <a:prstGeom prst="rect">
            <a:avLst/>
          </a:prstGeom>
        </p:spPr>
      </p:pic>
      <p:sp>
        <p:nvSpPr>
          <p:cNvPr id="29" name="Text 23"/>
          <p:cNvSpPr txBox="1"/>
          <p:nvPr/>
        </p:nvSpPr>
        <p:spPr>
          <a:xfrm>
            <a:off x="5440680" y="2587752"/>
            <a:ext cx="3200400" cy="566928"/>
          </a:xfrm>
          <a:prstGeom prst="rect">
            <a:avLst/>
          </a:prstGeom>
          <a:noFill/>
          <a:ln/>
        </p:spPr>
        <p:txBody>
          <a:bodyPr wrap="square" lIns="0" tIns="0" rIns="0" bIns="0" rtlCol="0" anchor="ctr"/>
          <a:lstStyle/>
          <a:p>
            <a:pPr indent="0" marL="0">
              <a:buNone/>
            </a:pPr>
            <a:r>
              <a:rPr lang="en-US" sz="1100" dirty="0">
                <a:solidFill>
                  <a:srgbClr val="1E2A30"/>
                </a:solidFill>
                <a:latin typeface="Meiryo" pitchFamily="34" charset="0"/>
                <a:ea typeface="Meiryo" pitchFamily="34" charset="-122"/>
                <a:cs typeface="Meiryo" pitchFamily="34" charset="-120"/>
              </a:rPr>
              <a:t>食い下がらず、ていねいに終える</a:t>
            </a:r>
            <a:endParaRPr lang="en-US" sz="1100" dirty="0"/>
          </a:p>
        </p:txBody>
      </p:sp>
      <p:sp>
        <p:nvSpPr>
          <p:cNvPr id="30" name="Text 24"/>
          <p:cNvSpPr txBox="1"/>
          <p:nvPr/>
        </p:nvSpPr>
        <p:spPr>
          <a:xfrm>
            <a:off x="457200" y="3383280"/>
            <a:ext cx="5486400" cy="256032"/>
          </a:xfrm>
          <a:prstGeom prst="rect">
            <a:avLst/>
          </a:prstGeom>
          <a:noFill/>
          <a:ln/>
        </p:spPr>
        <p:txBody>
          <a:bodyPr wrap="square" lIns="0" tIns="0" rIns="0" bIns="0" rtlCol="0" anchor="t"/>
          <a:lstStyle/>
          <a:p>
            <a:pPr indent="0" marL="0">
              <a:buNone/>
            </a:pPr>
            <a:r>
              <a:rPr lang="en-US" sz="1000" dirty="0">
                <a:solidFill>
                  <a:srgbClr val="5B6870"/>
                </a:solidFill>
                <a:latin typeface="Meiryo" pitchFamily="34" charset="0"/>
                <a:ea typeface="Meiryo" pitchFamily="34" charset="-122"/>
                <a:cs typeface="Meiryo" pitchFamily="34" charset="-120"/>
              </a:rPr>
              <a:t>実際の画面（担当者につながった瞬間）</a:t>
            </a:r>
            <a:endParaRPr lang="en-US" sz="1000" dirty="0"/>
          </a:p>
        </p:txBody>
      </p:sp>
      <p:pic>
        <p:nvPicPr>
          <p:cNvPr id="31" name="Image 4" descr="preencoded.png">    </p:cNvPr>
          <p:cNvPicPr>
            <a:picLocks noChangeAspect="1"/>
          </p:cNvPicPr>
          <p:nvPr/>
        </p:nvPicPr>
        <p:blipFill>
          <a:blip r:embed="rId5"/>
          <a:stretch>
            <a:fillRect/>
          </a:stretch>
        </p:blipFill>
        <p:spPr>
          <a:xfrm>
            <a:off x="457200" y="3657600"/>
            <a:ext cx="8229600" cy="496111"/>
          </a:xfrm>
          <a:prstGeom prst="rect">
            <a:avLst/>
          </a:prstGeom>
        </p:spPr>
      </p:pic>
      <p:sp>
        <p:nvSpPr>
          <p:cNvPr id="32" name="Text 25"/>
          <p:cNvSpPr txBox="1"/>
          <p:nvPr/>
        </p:nvSpPr>
        <p:spPr>
          <a:xfrm>
            <a:off x="457200" y="4297680"/>
            <a:ext cx="8229600" cy="274320"/>
          </a:xfrm>
          <a:prstGeom prst="rect">
            <a:avLst/>
          </a:prstGeom>
          <a:noFill/>
          <a:ln/>
        </p:spPr>
        <p:txBody>
          <a:bodyPr wrap="square" lIns="0" tIns="0" rIns="0" bIns="0" rtlCol="0" anchor="t"/>
          <a:lstStyle/>
          <a:p>
            <a:pPr indent="0" marL="0">
              <a:buNone/>
            </a:pPr>
            <a:r>
              <a:rPr lang="en-US" sz="1050" dirty="0">
                <a:solidFill>
                  <a:srgbClr val="1E2A30"/>
                </a:solidFill>
                <a:latin typeface="Meiryo" pitchFamily="34" charset="0"/>
                <a:ea typeface="Meiryo" pitchFamily="34" charset="-122"/>
                <a:cs typeface="Meiryo" pitchFamily="34" charset="-120"/>
              </a:rPr>
              <a:t>AI と人の声が重ならないよう、つながった瞬間に AI は話すのをやめます</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685800" cy="256032"/>
          </a:xfrm>
          <a:prstGeom prst="roundRect">
            <a:avLst>
              <a:gd name="adj" fmla="val 50000"/>
            </a:avLst>
          </a:prstGeom>
          <a:solidFill>
            <a:srgbClr val="E3F3F2"/>
          </a:solidFill>
          <a:ln w="9525">
            <a:solidFill>
              <a:srgbClr val="E3F3F2"/>
            </a:solidFill>
            <a:prstDash val="solid"/>
          </a:ln>
        </p:spPr>
      </p:sp>
      <p:sp>
        <p:nvSpPr>
          <p:cNvPr id="3" name="Text 1"/>
          <p:cNvSpPr txBox="1"/>
          <p:nvPr/>
        </p:nvSpPr>
        <p:spPr>
          <a:xfrm>
            <a:off x="457200" y="310896"/>
            <a:ext cx="685800" cy="256032"/>
          </a:xfrm>
          <a:prstGeom prst="rect">
            <a:avLst/>
          </a:prstGeom>
          <a:noFill/>
          <a:ln/>
        </p:spPr>
        <p:txBody>
          <a:bodyPr wrap="square" lIns="0" tIns="0" rIns="0" bIns="0" rtlCol="0" anchor="ctr"/>
          <a:lstStyle/>
          <a:p>
            <a:pPr algn="ctr" indent="0" marL="0">
              <a:buNone/>
            </a:pPr>
            <a:r>
              <a:rPr lang="en-US" sz="1000" b="1" dirty="0">
                <a:solidFill>
                  <a:srgbClr val="0B6E6E"/>
                </a:solidFill>
                <a:latin typeface="Meiryo" pitchFamily="34" charset="0"/>
                <a:ea typeface="Meiryo" pitchFamily="34" charset="-122"/>
                <a:cs typeface="Meiryo" pitchFamily="34" charset="-120"/>
              </a:rPr>
              <a:t>使い方</a:t>
            </a:r>
            <a:endParaRPr lang="en-US" sz="1000" dirty="0"/>
          </a:p>
        </p:txBody>
      </p:sp>
      <p:sp>
        <p:nvSpPr>
          <p:cNvPr id="4" name="Text 2"/>
          <p:cNvSpPr txBox="1"/>
          <p:nvPr/>
        </p:nvSpPr>
        <p:spPr>
          <a:xfrm>
            <a:off x="457200" y="603504"/>
            <a:ext cx="8229600" cy="502920"/>
          </a:xfrm>
          <a:prstGeom prst="rect">
            <a:avLst/>
          </a:prstGeom>
          <a:noFill/>
          <a:ln/>
        </p:spPr>
        <p:txBody>
          <a:bodyPr wrap="square" lIns="0" tIns="0" rIns="0" bIns="0" rtlCol="0" anchor="ctr"/>
          <a:lstStyle/>
          <a:p>
            <a:pPr indent="0" marL="0">
              <a:buNone/>
            </a:pPr>
            <a:r>
              <a:rPr lang="en-US" sz="2400" b="1" dirty="0">
                <a:solidFill>
                  <a:srgbClr val="1E2A30"/>
                </a:solidFill>
                <a:latin typeface="Meiryo" pitchFamily="34" charset="0"/>
                <a:ea typeface="Meiryo" pitchFamily="34" charset="-122"/>
                <a:cs typeface="Meiryo" pitchFamily="34" charset="-120"/>
              </a:rPr>
              <a:t>デモ画面の見方</a:t>
            </a:r>
            <a:endParaRPr lang="en-US" sz="2400" dirty="0"/>
          </a:p>
        </p:txBody>
      </p:sp>
      <p:sp>
        <p:nvSpPr>
          <p:cNvPr id="5" name="Text 3"/>
          <p:cNvSpPr txBox="1"/>
          <p:nvPr/>
        </p:nvSpPr>
        <p:spPr>
          <a:xfrm>
            <a:off x="7955280" y="4773168"/>
            <a:ext cx="731520" cy="228600"/>
          </a:xfrm>
          <a:prstGeom prst="rect">
            <a:avLst/>
          </a:prstGeom>
          <a:noFill/>
          <a:ln/>
        </p:spPr>
        <p:txBody>
          <a:bodyPr wrap="square" lIns="0" tIns="0" rIns="0" bIns="0" rtlCol="0" anchor="t"/>
          <a:lstStyle/>
          <a:p>
            <a:pPr algn="r" indent="0" marL="0">
              <a:buNone/>
            </a:pPr>
            <a:r>
              <a:rPr lang="en-US" sz="900" dirty="0">
                <a:solidFill>
                  <a:srgbClr val="5B6870"/>
                </a:solidFill>
                <a:latin typeface="Meiryo" pitchFamily="34" charset="0"/>
                <a:ea typeface="Meiryo" pitchFamily="34" charset="-122"/>
                <a:cs typeface="Meiryo" pitchFamily="34" charset="-120"/>
              </a:rPr>
              <a:t>12 / 17</a:t>
            </a:r>
            <a:endParaRPr lang="en-US" sz="900" dirty="0"/>
          </a:p>
        </p:txBody>
      </p:sp>
      <p:pic>
        <p:nvPicPr>
          <p:cNvPr id="6" name="Image 0" descr="/private/tmp/claude-501/-Users-yobi-Library-Application-Support-Claude-scratch-workspaces-29465965-2f03-4e81-863e-b7d986ac8045-a348629c-b708-41f3-b05e-6c26349c2414-scratch-2026-09-11-312b50/a37084cd-5e75-454a-9db6-402fcdcf99ba/scratchpad/deck/shots3/a_done_top.png">    </p:cNvPr>
          <p:cNvPicPr>
            <a:picLocks noChangeAspect="1"/>
          </p:cNvPicPr>
          <p:nvPr/>
        </p:nvPicPr>
        <p:blipFill>
          <a:blip r:embed="rId1"/>
          <a:stretch>
            <a:fillRect/>
          </a:stretch>
        </p:blipFill>
        <p:spPr>
          <a:xfrm>
            <a:off x="457200" y="1234440"/>
            <a:ext cx="5303520" cy="3314700"/>
          </a:xfrm>
          <a:prstGeom prst="rect">
            <a:avLst/>
          </a:prstGeom>
        </p:spPr>
      </p:pic>
      <p:sp>
        <p:nvSpPr>
          <p:cNvPr id="7" name="Shape 4"/>
          <p:cNvSpPr/>
          <p:nvPr/>
        </p:nvSpPr>
        <p:spPr>
          <a:xfrm>
            <a:off x="457200" y="1234440"/>
            <a:ext cx="5303520" cy="3314700"/>
          </a:xfrm>
          <a:prstGeom prst="rect">
            <a:avLst/>
          </a:prstGeom>
          <a:ln w="9525">
            <a:solidFill>
              <a:srgbClr val="D5DDE0"/>
            </a:solidFill>
            <a:prstDash val="solid"/>
          </a:ln>
        </p:spPr>
      </p:sp>
      <p:sp>
        <p:nvSpPr>
          <p:cNvPr id="8" name="Shape 5"/>
          <p:cNvSpPr/>
          <p:nvPr/>
        </p:nvSpPr>
        <p:spPr>
          <a:xfrm>
            <a:off x="5490972" y="1163574"/>
            <a:ext cx="274320" cy="274320"/>
          </a:xfrm>
          <a:prstGeom prst="ellipse">
            <a:avLst/>
          </a:prstGeom>
          <a:solidFill>
            <a:srgbClr val="D98A1E"/>
          </a:solidFill>
          <a:ln w="19050">
            <a:solidFill>
              <a:srgbClr val="FFFFFF"/>
            </a:solidFill>
            <a:prstDash val="solid"/>
          </a:ln>
        </p:spPr>
      </p:sp>
      <p:sp>
        <p:nvSpPr>
          <p:cNvPr id="9" name="Text 6"/>
          <p:cNvSpPr txBox="1"/>
          <p:nvPr/>
        </p:nvSpPr>
        <p:spPr>
          <a:xfrm>
            <a:off x="5490972" y="116357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1</a:t>
            </a:r>
            <a:endParaRPr lang="en-US" sz="1100" dirty="0"/>
          </a:p>
        </p:txBody>
      </p:sp>
      <p:sp>
        <p:nvSpPr>
          <p:cNvPr id="10" name="Shape 7"/>
          <p:cNvSpPr/>
          <p:nvPr/>
        </p:nvSpPr>
        <p:spPr>
          <a:xfrm>
            <a:off x="1359530" y="1422121"/>
            <a:ext cx="274320" cy="274320"/>
          </a:xfrm>
          <a:prstGeom prst="ellipse">
            <a:avLst/>
          </a:prstGeom>
          <a:solidFill>
            <a:srgbClr val="D98A1E"/>
          </a:solidFill>
          <a:ln w="19050">
            <a:solidFill>
              <a:srgbClr val="FFFFFF"/>
            </a:solidFill>
            <a:prstDash val="solid"/>
          </a:ln>
        </p:spPr>
      </p:sp>
      <p:sp>
        <p:nvSpPr>
          <p:cNvPr id="11" name="Text 8"/>
          <p:cNvSpPr txBox="1"/>
          <p:nvPr/>
        </p:nvSpPr>
        <p:spPr>
          <a:xfrm>
            <a:off x="1359530" y="14221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2</a:t>
            </a:r>
            <a:endParaRPr lang="en-US" sz="1100" dirty="0"/>
          </a:p>
        </p:txBody>
      </p:sp>
      <p:sp>
        <p:nvSpPr>
          <p:cNvPr id="12" name="Shape 9"/>
          <p:cNvSpPr/>
          <p:nvPr/>
        </p:nvSpPr>
        <p:spPr>
          <a:xfrm>
            <a:off x="1683045" y="1422121"/>
            <a:ext cx="274320" cy="274320"/>
          </a:xfrm>
          <a:prstGeom prst="ellipse">
            <a:avLst/>
          </a:prstGeom>
          <a:solidFill>
            <a:srgbClr val="D98A1E"/>
          </a:solidFill>
          <a:ln w="19050">
            <a:solidFill>
              <a:srgbClr val="FFFFFF"/>
            </a:solidFill>
            <a:prstDash val="solid"/>
          </a:ln>
        </p:spPr>
      </p:sp>
      <p:sp>
        <p:nvSpPr>
          <p:cNvPr id="13" name="Text 10"/>
          <p:cNvSpPr txBox="1"/>
          <p:nvPr/>
        </p:nvSpPr>
        <p:spPr>
          <a:xfrm>
            <a:off x="1683045" y="14221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3</a:t>
            </a:r>
            <a:endParaRPr lang="en-US" sz="1100" dirty="0"/>
          </a:p>
        </p:txBody>
      </p:sp>
      <p:sp>
        <p:nvSpPr>
          <p:cNvPr id="14" name="Shape 11"/>
          <p:cNvSpPr/>
          <p:nvPr/>
        </p:nvSpPr>
        <p:spPr>
          <a:xfrm>
            <a:off x="4032504" y="2257425"/>
            <a:ext cx="274320" cy="274320"/>
          </a:xfrm>
          <a:prstGeom prst="ellipse">
            <a:avLst/>
          </a:prstGeom>
          <a:solidFill>
            <a:srgbClr val="D98A1E"/>
          </a:solidFill>
          <a:ln w="19050">
            <a:solidFill>
              <a:srgbClr val="FFFFFF"/>
            </a:solidFill>
            <a:prstDash val="solid"/>
          </a:ln>
        </p:spPr>
      </p:sp>
      <p:sp>
        <p:nvSpPr>
          <p:cNvPr id="15" name="Text 12"/>
          <p:cNvSpPr txBox="1"/>
          <p:nvPr/>
        </p:nvSpPr>
        <p:spPr>
          <a:xfrm>
            <a:off x="4032504" y="225742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4</a:t>
            </a:r>
            <a:endParaRPr lang="en-US" sz="1100" dirty="0"/>
          </a:p>
        </p:txBody>
      </p:sp>
      <p:sp>
        <p:nvSpPr>
          <p:cNvPr id="16" name="Shape 13"/>
          <p:cNvSpPr/>
          <p:nvPr/>
        </p:nvSpPr>
        <p:spPr>
          <a:xfrm>
            <a:off x="1964131" y="2688336"/>
            <a:ext cx="274320" cy="274320"/>
          </a:xfrm>
          <a:prstGeom prst="ellipse">
            <a:avLst/>
          </a:prstGeom>
          <a:solidFill>
            <a:srgbClr val="D98A1E"/>
          </a:solidFill>
          <a:ln w="19050">
            <a:solidFill>
              <a:srgbClr val="FFFFFF"/>
            </a:solidFill>
            <a:prstDash val="solid"/>
          </a:ln>
        </p:spPr>
      </p:sp>
      <p:sp>
        <p:nvSpPr>
          <p:cNvPr id="17" name="Text 14"/>
          <p:cNvSpPr txBox="1"/>
          <p:nvPr/>
        </p:nvSpPr>
        <p:spPr>
          <a:xfrm>
            <a:off x="1964131" y="268833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5</a:t>
            </a:r>
            <a:endParaRPr lang="en-US" sz="1100" dirty="0"/>
          </a:p>
        </p:txBody>
      </p:sp>
      <p:sp>
        <p:nvSpPr>
          <p:cNvPr id="18" name="Shape 15"/>
          <p:cNvSpPr/>
          <p:nvPr/>
        </p:nvSpPr>
        <p:spPr>
          <a:xfrm>
            <a:off x="5490972" y="1859661"/>
            <a:ext cx="274320" cy="274320"/>
          </a:xfrm>
          <a:prstGeom prst="ellipse">
            <a:avLst/>
          </a:prstGeom>
          <a:solidFill>
            <a:srgbClr val="D98A1E"/>
          </a:solidFill>
          <a:ln w="19050">
            <a:solidFill>
              <a:srgbClr val="FFFFFF"/>
            </a:solidFill>
            <a:prstDash val="solid"/>
          </a:ln>
        </p:spPr>
      </p:sp>
      <p:sp>
        <p:nvSpPr>
          <p:cNvPr id="19" name="Text 16"/>
          <p:cNvSpPr txBox="1"/>
          <p:nvPr/>
        </p:nvSpPr>
        <p:spPr>
          <a:xfrm>
            <a:off x="5490972" y="185966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6</a:t>
            </a:r>
            <a:endParaRPr lang="en-US" sz="1100" dirty="0"/>
          </a:p>
        </p:txBody>
      </p:sp>
      <p:sp>
        <p:nvSpPr>
          <p:cNvPr id="20" name="Shape 17"/>
          <p:cNvSpPr/>
          <p:nvPr/>
        </p:nvSpPr>
        <p:spPr>
          <a:xfrm>
            <a:off x="5490972" y="3298241"/>
            <a:ext cx="274320" cy="274320"/>
          </a:xfrm>
          <a:prstGeom prst="ellipse">
            <a:avLst/>
          </a:prstGeom>
          <a:solidFill>
            <a:srgbClr val="D98A1E"/>
          </a:solidFill>
          <a:ln w="19050">
            <a:solidFill>
              <a:srgbClr val="FFFFFF"/>
            </a:solidFill>
            <a:prstDash val="solid"/>
          </a:ln>
        </p:spPr>
      </p:sp>
      <p:sp>
        <p:nvSpPr>
          <p:cNvPr id="21" name="Text 18"/>
          <p:cNvSpPr txBox="1"/>
          <p:nvPr/>
        </p:nvSpPr>
        <p:spPr>
          <a:xfrm>
            <a:off x="5490972" y="329824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7</a:t>
            </a:r>
            <a:endParaRPr lang="en-US" sz="1100" dirty="0"/>
          </a:p>
        </p:txBody>
      </p:sp>
      <p:sp>
        <p:nvSpPr>
          <p:cNvPr id="22" name="Shape 19"/>
          <p:cNvSpPr/>
          <p:nvPr/>
        </p:nvSpPr>
        <p:spPr>
          <a:xfrm>
            <a:off x="6035040" y="1325880"/>
            <a:ext cx="274320" cy="274320"/>
          </a:xfrm>
          <a:prstGeom prst="ellipse">
            <a:avLst/>
          </a:prstGeom>
          <a:solidFill>
            <a:srgbClr val="D98A1E"/>
          </a:solidFill>
          <a:ln w="19050">
            <a:solidFill>
              <a:srgbClr val="FFFFFF"/>
            </a:solidFill>
            <a:prstDash val="solid"/>
          </a:ln>
        </p:spPr>
      </p:sp>
      <p:sp>
        <p:nvSpPr>
          <p:cNvPr id="23" name="Text 20"/>
          <p:cNvSpPr txBox="1"/>
          <p:nvPr/>
        </p:nvSpPr>
        <p:spPr>
          <a:xfrm>
            <a:off x="6035040" y="132588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1</a:t>
            </a:r>
            <a:endParaRPr lang="en-US" sz="1100" dirty="0"/>
          </a:p>
        </p:txBody>
      </p:sp>
      <p:sp>
        <p:nvSpPr>
          <p:cNvPr id="24" name="Text 21"/>
          <p:cNvSpPr txBox="1"/>
          <p:nvPr/>
        </p:nvSpPr>
        <p:spPr>
          <a:xfrm>
            <a:off x="6446520" y="1234440"/>
            <a:ext cx="2240280" cy="457200"/>
          </a:xfrm>
          <a:prstGeom prst="rect">
            <a:avLst/>
          </a:prstGeom>
          <a:noFill/>
          <a:ln/>
        </p:spPr>
        <p:txBody>
          <a:bodyPr wrap="square" lIns="0" tIns="0" rIns="0" bIns="0" rtlCol="0" anchor="ctr"/>
          <a:lstStyle/>
          <a:p>
            <a:pPr indent="0" marL="0">
              <a:buNone/>
            </a:pPr>
            <a:r>
              <a:rPr lang="en-US" sz="1000" dirty="0">
                <a:solidFill>
                  <a:srgbClr val="1E2A30"/>
                </a:solidFill>
                <a:latin typeface="Meiryo" pitchFamily="34" charset="0"/>
                <a:ea typeface="Meiryo" pitchFamily="34" charset="-122"/>
                <a:cs typeface="Meiryo" pitchFamily="34" charset="-120"/>
              </a:rPr>
              <a:t>表示の切り替え（通話デモ／架電履歴）</a:t>
            </a:r>
            <a:endParaRPr lang="en-US" sz="1000" dirty="0"/>
          </a:p>
        </p:txBody>
      </p:sp>
      <p:sp>
        <p:nvSpPr>
          <p:cNvPr id="25" name="Shape 22"/>
          <p:cNvSpPr/>
          <p:nvPr/>
        </p:nvSpPr>
        <p:spPr>
          <a:xfrm>
            <a:off x="6035040" y="1801368"/>
            <a:ext cx="274320" cy="274320"/>
          </a:xfrm>
          <a:prstGeom prst="ellipse">
            <a:avLst/>
          </a:prstGeom>
          <a:solidFill>
            <a:srgbClr val="D98A1E"/>
          </a:solidFill>
          <a:ln w="19050">
            <a:solidFill>
              <a:srgbClr val="FFFFFF"/>
            </a:solidFill>
            <a:prstDash val="solid"/>
          </a:ln>
        </p:spPr>
      </p:sp>
      <p:sp>
        <p:nvSpPr>
          <p:cNvPr id="26" name="Text 23"/>
          <p:cNvSpPr txBox="1"/>
          <p:nvPr/>
        </p:nvSpPr>
        <p:spPr>
          <a:xfrm>
            <a:off x="6035040" y="180136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2</a:t>
            </a:r>
            <a:endParaRPr lang="en-US" sz="1100" dirty="0"/>
          </a:p>
        </p:txBody>
      </p:sp>
      <p:sp>
        <p:nvSpPr>
          <p:cNvPr id="27" name="Text 24"/>
          <p:cNvSpPr txBox="1"/>
          <p:nvPr/>
        </p:nvSpPr>
        <p:spPr>
          <a:xfrm>
            <a:off x="6446520" y="1709928"/>
            <a:ext cx="2240280" cy="457200"/>
          </a:xfrm>
          <a:prstGeom prst="rect">
            <a:avLst/>
          </a:prstGeom>
          <a:noFill/>
          <a:ln/>
        </p:spPr>
        <p:txBody>
          <a:bodyPr wrap="square" lIns="0" tIns="0" rIns="0" bIns="0" rtlCol="0" anchor="ctr"/>
          <a:lstStyle/>
          <a:p>
            <a:pPr indent="0" marL="0">
              <a:buNone/>
            </a:pPr>
            <a:r>
              <a:rPr lang="en-US" sz="1000" dirty="0">
                <a:solidFill>
                  <a:srgbClr val="1E2A30"/>
                </a:solidFill>
                <a:latin typeface="Meiryo" pitchFamily="34" charset="0"/>
                <a:ea typeface="Meiryo" pitchFamily="34" charset="-122"/>
                <a:cs typeface="Meiryo" pitchFamily="34" charset="-120"/>
              </a:rPr>
              <a:t>タイプの切り替え（A：アポ獲得／B：受付突破）</a:t>
            </a:r>
            <a:endParaRPr lang="en-US" sz="1000" dirty="0"/>
          </a:p>
        </p:txBody>
      </p:sp>
      <p:sp>
        <p:nvSpPr>
          <p:cNvPr id="28" name="Shape 25"/>
          <p:cNvSpPr/>
          <p:nvPr/>
        </p:nvSpPr>
        <p:spPr>
          <a:xfrm>
            <a:off x="6035040" y="2276856"/>
            <a:ext cx="274320" cy="274320"/>
          </a:xfrm>
          <a:prstGeom prst="ellipse">
            <a:avLst/>
          </a:prstGeom>
          <a:solidFill>
            <a:srgbClr val="D98A1E"/>
          </a:solidFill>
          <a:ln w="19050">
            <a:solidFill>
              <a:srgbClr val="FFFFFF"/>
            </a:solidFill>
            <a:prstDash val="solid"/>
          </a:ln>
        </p:spPr>
      </p:sp>
      <p:sp>
        <p:nvSpPr>
          <p:cNvPr id="29" name="Text 26"/>
          <p:cNvSpPr txBox="1"/>
          <p:nvPr/>
        </p:nvSpPr>
        <p:spPr>
          <a:xfrm>
            <a:off x="6035040" y="227685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3</a:t>
            </a:r>
            <a:endParaRPr lang="en-US" sz="1100" dirty="0"/>
          </a:p>
        </p:txBody>
      </p:sp>
      <p:sp>
        <p:nvSpPr>
          <p:cNvPr id="30" name="Text 27"/>
          <p:cNvSpPr txBox="1"/>
          <p:nvPr/>
        </p:nvSpPr>
        <p:spPr>
          <a:xfrm>
            <a:off x="6446520" y="2185416"/>
            <a:ext cx="2240280" cy="457200"/>
          </a:xfrm>
          <a:prstGeom prst="rect">
            <a:avLst/>
          </a:prstGeom>
          <a:noFill/>
          <a:ln/>
        </p:spPr>
        <p:txBody>
          <a:bodyPr wrap="square" lIns="0" tIns="0" rIns="0" bIns="0" rtlCol="0" anchor="ctr"/>
          <a:lstStyle/>
          <a:p>
            <a:pPr indent="0" marL="0">
              <a:buNone/>
            </a:pPr>
            <a:r>
              <a:rPr lang="en-US" sz="1000" dirty="0">
                <a:solidFill>
                  <a:srgbClr val="1E2A30"/>
                </a:solidFill>
                <a:latin typeface="Meiryo" pitchFamily="34" charset="0"/>
                <a:ea typeface="Meiryo" pitchFamily="34" charset="-122"/>
                <a:cs typeface="Meiryo" pitchFamily="34" charset="-120"/>
              </a:rPr>
              <a:t>通話開始・話すボタン</a:t>
            </a:r>
            <a:endParaRPr lang="en-US" sz="1000" dirty="0"/>
          </a:p>
        </p:txBody>
      </p:sp>
      <p:sp>
        <p:nvSpPr>
          <p:cNvPr id="31" name="Shape 28"/>
          <p:cNvSpPr/>
          <p:nvPr/>
        </p:nvSpPr>
        <p:spPr>
          <a:xfrm>
            <a:off x="6035040" y="2752344"/>
            <a:ext cx="274320" cy="274320"/>
          </a:xfrm>
          <a:prstGeom prst="ellipse">
            <a:avLst/>
          </a:prstGeom>
          <a:solidFill>
            <a:srgbClr val="D98A1E"/>
          </a:solidFill>
          <a:ln w="19050">
            <a:solidFill>
              <a:srgbClr val="FFFFFF"/>
            </a:solidFill>
            <a:prstDash val="solid"/>
          </a:ln>
        </p:spPr>
      </p:sp>
      <p:sp>
        <p:nvSpPr>
          <p:cNvPr id="32" name="Text 29"/>
          <p:cNvSpPr txBox="1"/>
          <p:nvPr/>
        </p:nvSpPr>
        <p:spPr>
          <a:xfrm>
            <a:off x="6035040" y="275234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4</a:t>
            </a:r>
            <a:endParaRPr lang="en-US" sz="1100" dirty="0"/>
          </a:p>
        </p:txBody>
      </p:sp>
      <p:sp>
        <p:nvSpPr>
          <p:cNvPr id="33" name="Text 30"/>
          <p:cNvSpPr txBox="1"/>
          <p:nvPr/>
        </p:nvSpPr>
        <p:spPr>
          <a:xfrm>
            <a:off x="6446520" y="2660904"/>
            <a:ext cx="2240280" cy="457200"/>
          </a:xfrm>
          <a:prstGeom prst="rect">
            <a:avLst/>
          </a:prstGeom>
          <a:noFill/>
          <a:ln/>
        </p:spPr>
        <p:txBody>
          <a:bodyPr wrap="square" lIns="0" tIns="0" rIns="0" bIns="0" rtlCol="0" anchor="ctr"/>
          <a:lstStyle/>
          <a:p>
            <a:pPr indent="0" marL="0">
              <a:buNone/>
            </a:pPr>
            <a:r>
              <a:rPr lang="en-US" sz="1000" dirty="0">
                <a:solidFill>
                  <a:srgbClr val="1E2A30"/>
                </a:solidFill>
                <a:latin typeface="Meiryo" pitchFamily="34" charset="0"/>
                <a:ea typeface="Meiryo" pitchFamily="34" charset="-122"/>
                <a:cs typeface="Meiryo" pitchFamily="34" charset="-120"/>
              </a:rPr>
              <a:t>会話の記録（緑＝AI、黄＝相手）</a:t>
            </a:r>
            <a:endParaRPr lang="en-US" sz="1000" dirty="0"/>
          </a:p>
        </p:txBody>
      </p:sp>
      <p:sp>
        <p:nvSpPr>
          <p:cNvPr id="34" name="Shape 31"/>
          <p:cNvSpPr/>
          <p:nvPr/>
        </p:nvSpPr>
        <p:spPr>
          <a:xfrm>
            <a:off x="6035040" y="3227832"/>
            <a:ext cx="274320" cy="274320"/>
          </a:xfrm>
          <a:prstGeom prst="ellipse">
            <a:avLst/>
          </a:prstGeom>
          <a:solidFill>
            <a:srgbClr val="D98A1E"/>
          </a:solidFill>
          <a:ln w="19050">
            <a:solidFill>
              <a:srgbClr val="FFFFFF"/>
            </a:solidFill>
            <a:prstDash val="solid"/>
          </a:ln>
        </p:spPr>
      </p:sp>
      <p:sp>
        <p:nvSpPr>
          <p:cNvPr id="35" name="Text 32"/>
          <p:cNvSpPr txBox="1"/>
          <p:nvPr/>
        </p:nvSpPr>
        <p:spPr>
          <a:xfrm>
            <a:off x="6035040" y="322783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5</a:t>
            </a:r>
            <a:endParaRPr lang="en-US" sz="1100" dirty="0"/>
          </a:p>
        </p:txBody>
      </p:sp>
      <p:sp>
        <p:nvSpPr>
          <p:cNvPr id="36" name="Text 33"/>
          <p:cNvSpPr txBox="1"/>
          <p:nvPr/>
        </p:nvSpPr>
        <p:spPr>
          <a:xfrm>
            <a:off x="6446520" y="3136392"/>
            <a:ext cx="2240280" cy="457200"/>
          </a:xfrm>
          <a:prstGeom prst="rect">
            <a:avLst/>
          </a:prstGeom>
          <a:noFill/>
          <a:ln/>
        </p:spPr>
        <p:txBody>
          <a:bodyPr wrap="square" lIns="0" tIns="0" rIns="0" bIns="0" rtlCol="0" anchor="ctr"/>
          <a:lstStyle/>
          <a:p>
            <a:pPr indent="0" marL="0">
              <a:buNone/>
            </a:pPr>
            <a:r>
              <a:rPr lang="en-US" sz="1000" dirty="0">
                <a:solidFill>
                  <a:srgbClr val="1E2A30"/>
                </a:solidFill>
                <a:latin typeface="Meiryo" pitchFamily="34" charset="0"/>
                <a:ea typeface="Meiryo" pitchFamily="34" charset="-122"/>
                <a:cs typeface="Meiryo" pitchFamily="34" charset="-120"/>
              </a:rPr>
              <a:t>AI が判断した理由（なぜそう返したか）</a:t>
            </a:r>
            <a:endParaRPr lang="en-US" sz="1000" dirty="0"/>
          </a:p>
        </p:txBody>
      </p:sp>
      <p:sp>
        <p:nvSpPr>
          <p:cNvPr id="37" name="Shape 34"/>
          <p:cNvSpPr/>
          <p:nvPr/>
        </p:nvSpPr>
        <p:spPr>
          <a:xfrm>
            <a:off x="6035040" y="3703320"/>
            <a:ext cx="274320" cy="274320"/>
          </a:xfrm>
          <a:prstGeom prst="ellipse">
            <a:avLst/>
          </a:prstGeom>
          <a:solidFill>
            <a:srgbClr val="D98A1E"/>
          </a:solidFill>
          <a:ln w="19050">
            <a:solidFill>
              <a:srgbClr val="FFFFFF"/>
            </a:solidFill>
            <a:prstDash val="solid"/>
          </a:ln>
        </p:spPr>
      </p:sp>
      <p:sp>
        <p:nvSpPr>
          <p:cNvPr id="38" name="Text 35"/>
          <p:cNvSpPr txBox="1"/>
          <p:nvPr/>
        </p:nvSpPr>
        <p:spPr>
          <a:xfrm>
            <a:off x="6035040" y="370332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6</a:t>
            </a:r>
            <a:endParaRPr lang="en-US" sz="1100" dirty="0"/>
          </a:p>
        </p:txBody>
      </p:sp>
      <p:sp>
        <p:nvSpPr>
          <p:cNvPr id="39" name="Text 36"/>
          <p:cNvSpPr txBox="1"/>
          <p:nvPr/>
        </p:nvSpPr>
        <p:spPr>
          <a:xfrm>
            <a:off x="6446520" y="3611880"/>
            <a:ext cx="2240280" cy="457200"/>
          </a:xfrm>
          <a:prstGeom prst="rect">
            <a:avLst/>
          </a:prstGeom>
          <a:noFill/>
          <a:ln/>
        </p:spPr>
        <p:txBody>
          <a:bodyPr wrap="square" lIns="0" tIns="0" rIns="0" bIns="0" rtlCol="0" anchor="ctr"/>
          <a:lstStyle/>
          <a:p>
            <a:pPr indent="0" marL="0">
              <a:buNone/>
            </a:pPr>
            <a:r>
              <a:rPr lang="en-US" sz="1000" dirty="0">
                <a:solidFill>
                  <a:srgbClr val="1E2A30"/>
                </a:solidFill>
                <a:latin typeface="Meiryo" pitchFamily="34" charset="0"/>
                <a:ea typeface="Meiryo" pitchFamily="34" charset="-122"/>
                <a:cs typeface="Meiryo" pitchFamily="34" charset="-120"/>
              </a:rPr>
              <a:t>いま電話のどの段階か</a:t>
            </a:r>
            <a:endParaRPr lang="en-US" sz="1000" dirty="0"/>
          </a:p>
        </p:txBody>
      </p:sp>
      <p:sp>
        <p:nvSpPr>
          <p:cNvPr id="40" name="Shape 37"/>
          <p:cNvSpPr/>
          <p:nvPr/>
        </p:nvSpPr>
        <p:spPr>
          <a:xfrm>
            <a:off x="6035040" y="4178808"/>
            <a:ext cx="274320" cy="274320"/>
          </a:xfrm>
          <a:prstGeom prst="ellipse">
            <a:avLst/>
          </a:prstGeom>
          <a:solidFill>
            <a:srgbClr val="D98A1E"/>
          </a:solidFill>
          <a:ln w="19050">
            <a:solidFill>
              <a:srgbClr val="FFFFFF"/>
            </a:solidFill>
            <a:prstDash val="solid"/>
          </a:ln>
        </p:spPr>
      </p:sp>
      <p:sp>
        <p:nvSpPr>
          <p:cNvPr id="41" name="Text 38"/>
          <p:cNvSpPr txBox="1"/>
          <p:nvPr/>
        </p:nvSpPr>
        <p:spPr>
          <a:xfrm>
            <a:off x="6035040" y="417880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7</a:t>
            </a:r>
            <a:endParaRPr lang="en-US" sz="1100" dirty="0"/>
          </a:p>
        </p:txBody>
      </p:sp>
      <p:sp>
        <p:nvSpPr>
          <p:cNvPr id="42" name="Text 39"/>
          <p:cNvSpPr txBox="1"/>
          <p:nvPr/>
        </p:nvSpPr>
        <p:spPr>
          <a:xfrm>
            <a:off x="6446520" y="4087368"/>
            <a:ext cx="2240280" cy="457200"/>
          </a:xfrm>
          <a:prstGeom prst="rect">
            <a:avLst/>
          </a:prstGeom>
          <a:noFill/>
          <a:ln/>
        </p:spPr>
        <p:txBody>
          <a:bodyPr wrap="square" lIns="0" tIns="0" rIns="0" bIns="0" rtlCol="0" anchor="ctr"/>
          <a:lstStyle/>
          <a:p>
            <a:pPr indent="0" marL="0">
              <a:buNone/>
            </a:pPr>
            <a:r>
              <a:rPr lang="en-US" sz="1000" dirty="0">
                <a:solidFill>
                  <a:srgbClr val="1E2A30"/>
                </a:solidFill>
                <a:latin typeface="Meiryo" pitchFamily="34" charset="0"/>
                <a:ea typeface="Meiryo" pitchFamily="34" charset="-122"/>
                <a:cs typeface="Meiryo" pitchFamily="34" charset="-120"/>
              </a:rPr>
              <a:t>7つの質問の聞き取り状況（○＝聞けた）</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685800" cy="256032"/>
          </a:xfrm>
          <a:prstGeom prst="roundRect">
            <a:avLst>
              <a:gd name="adj" fmla="val 50000"/>
            </a:avLst>
          </a:prstGeom>
          <a:solidFill>
            <a:srgbClr val="E3F3F2"/>
          </a:solidFill>
          <a:ln w="9525">
            <a:solidFill>
              <a:srgbClr val="E3F3F2"/>
            </a:solidFill>
            <a:prstDash val="solid"/>
          </a:ln>
        </p:spPr>
      </p:sp>
      <p:sp>
        <p:nvSpPr>
          <p:cNvPr id="3" name="Text 1"/>
          <p:cNvSpPr txBox="1"/>
          <p:nvPr/>
        </p:nvSpPr>
        <p:spPr>
          <a:xfrm>
            <a:off x="457200" y="310896"/>
            <a:ext cx="685800" cy="256032"/>
          </a:xfrm>
          <a:prstGeom prst="rect">
            <a:avLst/>
          </a:prstGeom>
          <a:noFill/>
          <a:ln/>
        </p:spPr>
        <p:txBody>
          <a:bodyPr wrap="square" lIns="0" tIns="0" rIns="0" bIns="0" rtlCol="0" anchor="ctr"/>
          <a:lstStyle/>
          <a:p>
            <a:pPr algn="ctr" indent="0" marL="0">
              <a:buNone/>
            </a:pPr>
            <a:r>
              <a:rPr lang="en-US" sz="1000" b="1" dirty="0">
                <a:solidFill>
                  <a:srgbClr val="0B6E6E"/>
                </a:solidFill>
                <a:latin typeface="Meiryo" pitchFamily="34" charset="0"/>
                <a:ea typeface="Meiryo" pitchFamily="34" charset="-122"/>
                <a:cs typeface="Meiryo" pitchFamily="34" charset="-120"/>
              </a:rPr>
              <a:t>使い方</a:t>
            </a:r>
            <a:endParaRPr lang="en-US" sz="1000" dirty="0"/>
          </a:p>
        </p:txBody>
      </p:sp>
      <p:sp>
        <p:nvSpPr>
          <p:cNvPr id="4" name="Text 2"/>
          <p:cNvSpPr txBox="1"/>
          <p:nvPr/>
        </p:nvSpPr>
        <p:spPr>
          <a:xfrm>
            <a:off x="457200" y="603504"/>
            <a:ext cx="8229600" cy="502920"/>
          </a:xfrm>
          <a:prstGeom prst="rect">
            <a:avLst/>
          </a:prstGeom>
          <a:noFill/>
          <a:ln/>
        </p:spPr>
        <p:txBody>
          <a:bodyPr wrap="square" lIns="0" tIns="0" rIns="0" bIns="0" rtlCol="0" anchor="ctr"/>
          <a:lstStyle/>
          <a:p>
            <a:pPr indent="0" marL="0">
              <a:buNone/>
            </a:pPr>
            <a:r>
              <a:rPr lang="en-US" sz="2400" b="1" dirty="0">
                <a:solidFill>
                  <a:srgbClr val="1E2A30"/>
                </a:solidFill>
                <a:latin typeface="Meiryo" pitchFamily="34" charset="0"/>
                <a:ea typeface="Meiryo" pitchFamily="34" charset="-122"/>
                <a:cs typeface="Meiryo" pitchFamily="34" charset="-120"/>
              </a:rPr>
              <a:t>操作は3つだけ：押すと何が起こるか</a:t>
            </a:r>
            <a:endParaRPr lang="en-US" sz="2400" dirty="0"/>
          </a:p>
        </p:txBody>
      </p:sp>
      <p:sp>
        <p:nvSpPr>
          <p:cNvPr id="5" name="Text 3"/>
          <p:cNvSpPr txBox="1"/>
          <p:nvPr/>
        </p:nvSpPr>
        <p:spPr>
          <a:xfrm>
            <a:off x="7955280" y="4773168"/>
            <a:ext cx="731520" cy="228600"/>
          </a:xfrm>
          <a:prstGeom prst="rect">
            <a:avLst/>
          </a:prstGeom>
          <a:noFill/>
          <a:ln/>
        </p:spPr>
        <p:txBody>
          <a:bodyPr wrap="square" lIns="0" tIns="0" rIns="0" bIns="0" rtlCol="0" anchor="t"/>
          <a:lstStyle/>
          <a:p>
            <a:pPr algn="r" indent="0" marL="0">
              <a:buNone/>
            </a:pPr>
            <a:r>
              <a:rPr lang="en-US" sz="900" dirty="0">
                <a:solidFill>
                  <a:srgbClr val="5B6870"/>
                </a:solidFill>
                <a:latin typeface="Meiryo" pitchFamily="34" charset="0"/>
                <a:ea typeface="Meiryo" pitchFamily="34" charset="-122"/>
                <a:cs typeface="Meiryo" pitchFamily="34" charset="-120"/>
              </a:rPr>
              <a:t>13 / 17</a:t>
            </a:r>
            <a:endParaRPr lang="en-US" sz="900" dirty="0"/>
          </a:p>
        </p:txBody>
      </p:sp>
      <p:sp>
        <p:nvSpPr>
          <p:cNvPr id="6" name="Shape 4"/>
          <p:cNvSpPr/>
          <p:nvPr/>
        </p:nvSpPr>
        <p:spPr>
          <a:xfrm>
            <a:off x="457200" y="1234440"/>
            <a:ext cx="2560320" cy="2788920"/>
          </a:xfrm>
          <a:prstGeom prst="roundRect">
            <a:avLst>
              <a:gd name="adj" fmla="val 2857"/>
            </a:avLst>
          </a:prstGeom>
          <a:solidFill>
            <a:srgbClr val="FFFFFF"/>
          </a:solidFill>
          <a:ln w="9525">
            <a:solidFill>
              <a:srgbClr val="D5DDE0"/>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640080" y="1353312"/>
            <a:ext cx="2194560" cy="256032"/>
          </a:xfrm>
          <a:prstGeom prst="rect">
            <a:avLst/>
          </a:prstGeom>
          <a:noFill/>
          <a:ln/>
        </p:spPr>
        <p:txBody>
          <a:bodyPr wrap="square" lIns="0" tIns="0" rIns="0" bIns="0" rtlCol="0" anchor="t"/>
          <a:lstStyle/>
          <a:p>
            <a:pPr indent="0" marL="0">
              <a:buNone/>
            </a:pPr>
            <a:r>
              <a:rPr lang="en-US" sz="1050" b="1" dirty="0">
                <a:solidFill>
                  <a:srgbClr val="0B6E6E"/>
                </a:solidFill>
                <a:latin typeface="Meiryo" pitchFamily="34" charset="0"/>
                <a:ea typeface="Meiryo" pitchFamily="34" charset="-122"/>
                <a:cs typeface="Meiryo" pitchFamily="34" charset="-120"/>
              </a:rPr>
              <a:t>ステップ 1</a:t>
            </a:r>
            <a:endParaRPr lang="en-US" sz="1050" dirty="0"/>
          </a:p>
        </p:txBody>
      </p:sp>
      <p:sp>
        <p:nvSpPr>
          <p:cNvPr id="8" name="Text 6"/>
          <p:cNvSpPr txBox="1"/>
          <p:nvPr/>
        </p:nvSpPr>
        <p:spPr>
          <a:xfrm>
            <a:off x="640080" y="1609344"/>
            <a:ext cx="2240280" cy="292608"/>
          </a:xfrm>
          <a:prstGeom prst="rect">
            <a:avLst/>
          </a:prstGeom>
          <a:noFill/>
          <a:ln/>
        </p:spPr>
        <p:txBody>
          <a:bodyPr wrap="square" lIns="0" tIns="0" rIns="0" bIns="0" rtlCol="0" anchor="t"/>
          <a:lstStyle/>
          <a:p>
            <a:pPr indent="0" marL="0">
              <a:buNone/>
            </a:pPr>
            <a:r>
              <a:rPr lang="en-US" sz="1250" b="1" dirty="0">
                <a:solidFill>
                  <a:srgbClr val="1E2A30"/>
                </a:solidFill>
                <a:latin typeface="Meiryo" pitchFamily="34" charset="0"/>
                <a:ea typeface="Meiryo" pitchFamily="34" charset="-122"/>
                <a:cs typeface="Meiryo" pitchFamily="34" charset="-120"/>
              </a:rPr>
              <a:t>タイプを選ぶ</a:t>
            </a:r>
            <a:endParaRPr lang="en-US" sz="1250" dirty="0"/>
          </a:p>
        </p:txBody>
      </p:sp>
      <p:sp>
        <p:nvSpPr>
          <p:cNvPr id="9" name="Shape 7"/>
          <p:cNvSpPr/>
          <p:nvPr/>
        </p:nvSpPr>
        <p:spPr>
          <a:xfrm>
            <a:off x="777240" y="2011680"/>
            <a:ext cx="960120" cy="457200"/>
          </a:xfrm>
          <a:prstGeom prst="roundRect">
            <a:avLst>
              <a:gd name="adj" fmla="val 12000"/>
            </a:avLst>
          </a:prstGeom>
          <a:solidFill>
            <a:srgbClr val="1F4FD8"/>
          </a:solidFill>
          <a:ln w="9525">
            <a:solidFill>
              <a:srgbClr val="1F4FD8"/>
            </a:solidFill>
            <a:prstDash val="solid"/>
          </a:ln>
        </p:spPr>
      </p:sp>
      <p:sp>
        <p:nvSpPr>
          <p:cNvPr id="10" name="Text 8"/>
          <p:cNvSpPr txBox="1"/>
          <p:nvPr/>
        </p:nvSpPr>
        <p:spPr>
          <a:xfrm>
            <a:off x="777240" y="2011680"/>
            <a:ext cx="96012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タイプA</a:t>
            </a:r>
            <a:endParaRPr lang="en-US" sz="1200" dirty="0"/>
          </a:p>
        </p:txBody>
      </p:sp>
      <p:sp>
        <p:nvSpPr>
          <p:cNvPr id="11" name="Shape 9"/>
          <p:cNvSpPr/>
          <p:nvPr/>
        </p:nvSpPr>
        <p:spPr>
          <a:xfrm>
            <a:off x="1737360" y="2011680"/>
            <a:ext cx="960120" cy="457200"/>
          </a:xfrm>
          <a:prstGeom prst="roundRect">
            <a:avLst>
              <a:gd name="adj" fmla="val 12000"/>
            </a:avLst>
          </a:prstGeom>
          <a:solidFill>
            <a:srgbClr val="FFFFFF"/>
          </a:solidFill>
          <a:ln w="9525">
            <a:solidFill>
              <a:srgbClr val="D5DDE0"/>
            </a:solidFill>
            <a:prstDash val="solid"/>
          </a:ln>
        </p:spPr>
      </p:sp>
      <p:sp>
        <p:nvSpPr>
          <p:cNvPr id="12" name="Text 10"/>
          <p:cNvSpPr txBox="1"/>
          <p:nvPr/>
        </p:nvSpPr>
        <p:spPr>
          <a:xfrm>
            <a:off x="1737360" y="2011680"/>
            <a:ext cx="960120" cy="457200"/>
          </a:xfrm>
          <a:prstGeom prst="rect">
            <a:avLst/>
          </a:prstGeom>
          <a:noFill/>
          <a:ln/>
        </p:spPr>
        <p:txBody>
          <a:bodyPr wrap="square" lIns="0" tIns="0" rIns="0" bIns="0" rtlCol="0" anchor="ctr"/>
          <a:lstStyle/>
          <a:p>
            <a:pPr algn="ctr" indent="0" marL="0">
              <a:buNone/>
            </a:pPr>
            <a:r>
              <a:rPr lang="en-US" sz="1200" dirty="0">
                <a:solidFill>
                  <a:srgbClr val="5B6870"/>
                </a:solidFill>
                <a:latin typeface="Meiryo" pitchFamily="34" charset="0"/>
                <a:ea typeface="Meiryo" pitchFamily="34" charset="-122"/>
                <a:cs typeface="Meiryo" pitchFamily="34" charset="-120"/>
              </a:rPr>
              <a:t>タイプB</a:t>
            </a:r>
            <a:endParaRPr lang="en-US" sz="1200" dirty="0"/>
          </a:p>
        </p:txBody>
      </p:sp>
      <p:sp>
        <p:nvSpPr>
          <p:cNvPr id="13" name="Shape 11"/>
          <p:cNvSpPr/>
          <p:nvPr/>
        </p:nvSpPr>
        <p:spPr>
          <a:xfrm>
            <a:off x="1600200" y="2578608"/>
            <a:ext cx="274320" cy="292608"/>
          </a:xfrm>
          <a:prstGeom prst="downArrow">
            <a:avLst/>
          </a:prstGeom>
          <a:solidFill>
            <a:srgbClr val="D5DDE0"/>
          </a:solidFill>
          <a:ln w="12700">
            <a:solidFill>
              <a:srgbClr val="D5DDE0"/>
            </a:solidFill>
            <a:prstDash val="solid"/>
          </a:ln>
        </p:spPr>
      </p:sp>
      <p:sp>
        <p:nvSpPr>
          <p:cNvPr id="14" name="Text 12"/>
          <p:cNvSpPr txBox="1"/>
          <p:nvPr/>
        </p:nvSpPr>
        <p:spPr>
          <a:xfrm>
            <a:off x="640080" y="2926080"/>
            <a:ext cx="2194560" cy="219456"/>
          </a:xfrm>
          <a:prstGeom prst="rect">
            <a:avLst/>
          </a:prstGeom>
          <a:noFill/>
          <a:ln/>
        </p:spPr>
        <p:txBody>
          <a:bodyPr wrap="square" lIns="0" tIns="0" rIns="0" bIns="0" rtlCol="0" anchor="t"/>
          <a:lstStyle/>
          <a:p>
            <a:pPr indent="0" marL="0">
              <a:buNone/>
            </a:pPr>
            <a:r>
              <a:rPr lang="en-US" sz="950" b="1" dirty="0">
                <a:solidFill>
                  <a:srgbClr val="5B6870"/>
                </a:solidFill>
                <a:latin typeface="Meiryo" pitchFamily="34" charset="0"/>
                <a:ea typeface="Meiryo" pitchFamily="34" charset="-122"/>
                <a:cs typeface="Meiryo" pitchFamily="34" charset="-120"/>
              </a:rPr>
              <a:t>起こること</a:t>
            </a:r>
            <a:endParaRPr lang="en-US" sz="950" dirty="0"/>
          </a:p>
        </p:txBody>
      </p:sp>
      <p:sp>
        <p:nvSpPr>
          <p:cNvPr id="15" name="Text 13"/>
          <p:cNvSpPr txBox="1"/>
          <p:nvPr/>
        </p:nvSpPr>
        <p:spPr>
          <a:xfrm>
            <a:off x="640080" y="3154680"/>
            <a:ext cx="2240280" cy="822960"/>
          </a:xfrm>
          <a:prstGeom prst="rect">
            <a:avLst/>
          </a:prstGeom>
          <a:noFill/>
          <a:ln/>
        </p:spPr>
        <p:txBody>
          <a:bodyPr wrap="square" lIns="0" tIns="0" rIns="0" bIns="0" rtlCol="0" anchor="t"/>
          <a:lstStyle/>
          <a:p>
            <a:pPr indent="0" marL="0">
              <a:buNone/>
            </a:pPr>
            <a:r>
              <a:rPr lang="en-US" sz="1100" dirty="0">
                <a:solidFill>
                  <a:srgbClr val="1E2A30"/>
                </a:solidFill>
                <a:latin typeface="Meiryo" pitchFamily="34" charset="0"/>
                <a:ea typeface="Meiryo" pitchFamily="34" charset="-122"/>
                <a:cs typeface="Meiryo" pitchFamily="34" charset="-120"/>
              </a:rPr>
              <a:t>画面の右側が、選んだタイプ用の表示に切り替わります</a:t>
            </a:r>
            <a:endParaRPr lang="en-US" sz="1100" dirty="0"/>
          </a:p>
        </p:txBody>
      </p:sp>
      <p:sp>
        <p:nvSpPr>
          <p:cNvPr id="16" name="Shape 14"/>
          <p:cNvSpPr/>
          <p:nvPr/>
        </p:nvSpPr>
        <p:spPr>
          <a:xfrm>
            <a:off x="3291840" y="1234440"/>
            <a:ext cx="2560320" cy="2788920"/>
          </a:xfrm>
          <a:prstGeom prst="roundRect">
            <a:avLst>
              <a:gd name="adj" fmla="val 2857"/>
            </a:avLst>
          </a:prstGeom>
          <a:solidFill>
            <a:srgbClr val="FFFFFF"/>
          </a:solidFill>
          <a:ln w="9525">
            <a:solidFill>
              <a:srgbClr val="D5DDE0"/>
            </a:solidFill>
            <a:prstDash val="solid"/>
          </a:ln>
          <a:effectLst>
            <a:outerShdw sx="100000" sy="100000" kx="0" ky="0" algn="bl" rotWithShape="0" blurRad="76200" dist="25400" dir="5400000">
              <a:srgbClr val="000000">
                <a:alpha val="12000"/>
              </a:srgbClr>
            </a:outerShdw>
          </a:effectLst>
        </p:spPr>
      </p:sp>
      <p:sp>
        <p:nvSpPr>
          <p:cNvPr id="17" name="Text 15"/>
          <p:cNvSpPr txBox="1"/>
          <p:nvPr/>
        </p:nvSpPr>
        <p:spPr>
          <a:xfrm>
            <a:off x="3474720" y="1353312"/>
            <a:ext cx="2194560" cy="256032"/>
          </a:xfrm>
          <a:prstGeom prst="rect">
            <a:avLst/>
          </a:prstGeom>
          <a:noFill/>
          <a:ln/>
        </p:spPr>
        <p:txBody>
          <a:bodyPr wrap="square" lIns="0" tIns="0" rIns="0" bIns="0" rtlCol="0" anchor="t"/>
          <a:lstStyle/>
          <a:p>
            <a:pPr indent="0" marL="0">
              <a:buNone/>
            </a:pPr>
            <a:r>
              <a:rPr lang="en-US" sz="1050" b="1" dirty="0">
                <a:solidFill>
                  <a:srgbClr val="0B6E6E"/>
                </a:solidFill>
                <a:latin typeface="Meiryo" pitchFamily="34" charset="0"/>
                <a:ea typeface="Meiryo" pitchFamily="34" charset="-122"/>
                <a:cs typeface="Meiryo" pitchFamily="34" charset="-120"/>
              </a:rPr>
              <a:t>ステップ 2</a:t>
            </a:r>
            <a:endParaRPr lang="en-US" sz="1050" dirty="0"/>
          </a:p>
        </p:txBody>
      </p:sp>
      <p:sp>
        <p:nvSpPr>
          <p:cNvPr id="18" name="Text 16"/>
          <p:cNvSpPr txBox="1"/>
          <p:nvPr/>
        </p:nvSpPr>
        <p:spPr>
          <a:xfrm>
            <a:off x="3474720" y="1609344"/>
            <a:ext cx="2240280" cy="292608"/>
          </a:xfrm>
          <a:prstGeom prst="rect">
            <a:avLst/>
          </a:prstGeom>
          <a:noFill/>
          <a:ln/>
        </p:spPr>
        <p:txBody>
          <a:bodyPr wrap="square" lIns="0" tIns="0" rIns="0" bIns="0" rtlCol="0" anchor="t"/>
          <a:lstStyle/>
          <a:p>
            <a:pPr indent="0" marL="0">
              <a:buNone/>
            </a:pPr>
            <a:r>
              <a:rPr lang="en-US" sz="1250" b="1" dirty="0">
                <a:solidFill>
                  <a:srgbClr val="1E2A30"/>
                </a:solidFill>
                <a:latin typeface="Meiryo" pitchFamily="34" charset="0"/>
                <a:ea typeface="Meiryo" pitchFamily="34" charset="-122"/>
                <a:cs typeface="Meiryo" pitchFamily="34" charset="-120"/>
              </a:rPr>
              <a:t>「通話開始」を押す</a:t>
            </a:r>
            <a:endParaRPr lang="en-US" sz="1250" dirty="0"/>
          </a:p>
        </p:txBody>
      </p:sp>
      <p:sp>
        <p:nvSpPr>
          <p:cNvPr id="19" name="Shape 17"/>
          <p:cNvSpPr/>
          <p:nvPr/>
        </p:nvSpPr>
        <p:spPr>
          <a:xfrm>
            <a:off x="3703320" y="2011680"/>
            <a:ext cx="1737360" cy="457200"/>
          </a:xfrm>
          <a:prstGeom prst="roundRect">
            <a:avLst>
              <a:gd name="adj" fmla="val 12000"/>
            </a:avLst>
          </a:prstGeom>
          <a:solidFill>
            <a:srgbClr val="1F4FD8"/>
          </a:solidFill>
          <a:ln w="9525">
            <a:solidFill>
              <a:srgbClr val="1F4FD8"/>
            </a:solidFill>
            <a:prstDash val="solid"/>
          </a:ln>
        </p:spPr>
      </p:sp>
      <p:pic>
        <p:nvPicPr>
          <p:cNvPr id="20" name="Image 0" descr="preencoded.png">    </p:cNvPr>
          <p:cNvPicPr>
            <a:picLocks noChangeAspect="1"/>
          </p:cNvPicPr>
          <p:nvPr/>
        </p:nvPicPr>
        <p:blipFill>
          <a:blip r:embed="rId1"/>
          <a:stretch>
            <a:fillRect/>
          </a:stretch>
        </p:blipFill>
        <p:spPr>
          <a:xfrm>
            <a:off x="3931920" y="2112264"/>
            <a:ext cx="256032" cy="256032"/>
          </a:xfrm>
          <a:prstGeom prst="rect">
            <a:avLst/>
          </a:prstGeom>
        </p:spPr>
      </p:pic>
      <p:sp>
        <p:nvSpPr>
          <p:cNvPr id="21" name="Text 18"/>
          <p:cNvSpPr txBox="1"/>
          <p:nvPr/>
        </p:nvSpPr>
        <p:spPr>
          <a:xfrm>
            <a:off x="4251960" y="2011680"/>
            <a:ext cx="1097280" cy="457200"/>
          </a:xfrm>
          <a:prstGeom prst="rect">
            <a:avLst/>
          </a:prstGeom>
          <a:noFill/>
          <a:ln/>
        </p:spPr>
        <p:txBody>
          <a:bodyPr wrap="square" lIns="0" tIns="0" rIns="0" bIns="0" rtlCol="0" anchor="ctr"/>
          <a:lstStyle/>
          <a:p>
            <a:pPr indent="0" marL="0">
              <a:buNone/>
            </a:pPr>
            <a:r>
              <a:rPr lang="en-US" sz="1300" b="1" dirty="0">
                <a:solidFill>
                  <a:srgbClr val="FFFFFF"/>
                </a:solidFill>
                <a:latin typeface="Meiryo" pitchFamily="34" charset="0"/>
                <a:ea typeface="Meiryo" pitchFamily="34" charset="-122"/>
                <a:cs typeface="Meiryo" pitchFamily="34" charset="-120"/>
              </a:rPr>
              <a:t>通話開始</a:t>
            </a:r>
            <a:endParaRPr lang="en-US" sz="1300" dirty="0"/>
          </a:p>
        </p:txBody>
      </p:sp>
      <p:sp>
        <p:nvSpPr>
          <p:cNvPr id="22" name="Shape 19"/>
          <p:cNvSpPr/>
          <p:nvPr/>
        </p:nvSpPr>
        <p:spPr>
          <a:xfrm>
            <a:off x="4434840" y="2578608"/>
            <a:ext cx="274320" cy="292608"/>
          </a:xfrm>
          <a:prstGeom prst="downArrow">
            <a:avLst/>
          </a:prstGeom>
          <a:solidFill>
            <a:srgbClr val="D5DDE0"/>
          </a:solidFill>
          <a:ln w="12700">
            <a:solidFill>
              <a:srgbClr val="D5DDE0"/>
            </a:solidFill>
            <a:prstDash val="solid"/>
          </a:ln>
        </p:spPr>
      </p:sp>
      <p:sp>
        <p:nvSpPr>
          <p:cNvPr id="23" name="Text 20"/>
          <p:cNvSpPr txBox="1"/>
          <p:nvPr/>
        </p:nvSpPr>
        <p:spPr>
          <a:xfrm>
            <a:off x="3474720" y="2926080"/>
            <a:ext cx="2194560" cy="219456"/>
          </a:xfrm>
          <a:prstGeom prst="rect">
            <a:avLst/>
          </a:prstGeom>
          <a:noFill/>
          <a:ln/>
        </p:spPr>
        <p:txBody>
          <a:bodyPr wrap="square" lIns="0" tIns="0" rIns="0" bIns="0" rtlCol="0" anchor="t"/>
          <a:lstStyle/>
          <a:p>
            <a:pPr indent="0" marL="0">
              <a:buNone/>
            </a:pPr>
            <a:r>
              <a:rPr lang="en-US" sz="950" b="1" dirty="0">
                <a:solidFill>
                  <a:srgbClr val="5B6870"/>
                </a:solidFill>
                <a:latin typeface="Meiryo" pitchFamily="34" charset="0"/>
                <a:ea typeface="Meiryo" pitchFamily="34" charset="-122"/>
                <a:cs typeface="Meiryo" pitchFamily="34" charset="-120"/>
              </a:rPr>
              <a:t>起こること</a:t>
            </a:r>
            <a:endParaRPr lang="en-US" sz="950" dirty="0"/>
          </a:p>
        </p:txBody>
      </p:sp>
      <p:sp>
        <p:nvSpPr>
          <p:cNvPr id="24" name="Text 21"/>
          <p:cNvSpPr txBox="1"/>
          <p:nvPr/>
        </p:nvSpPr>
        <p:spPr>
          <a:xfrm>
            <a:off x="3474720" y="3154680"/>
            <a:ext cx="2240280" cy="822960"/>
          </a:xfrm>
          <a:prstGeom prst="rect">
            <a:avLst/>
          </a:prstGeom>
          <a:noFill/>
          <a:ln/>
        </p:spPr>
        <p:txBody>
          <a:bodyPr wrap="square" lIns="0" tIns="0" rIns="0" bIns="0" rtlCol="0" anchor="t"/>
          <a:lstStyle/>
          <a:p>
            <a:pPr indent="0" marL="0">
              <a:buNone/>
            </a:pPr>
            <a:r>
              <a:rPr lang="en-US" sz="1100" dirty="0">
                <a:solidFill>
                  <a:srgbClr val="1E2A30"/>
                </a:solidFill>
                <a:latin typeface="Meiryo" pitchFamily="34" charset="0"/>
                <a:ea typeface="Meiryo" pitchFamily="34" charset="-122"/>
                <a:cs typeface="Meiryo" pitchFamily="34" charset="-120"/>
              </a:rPr>
              <a:t>AI が最初のあいさつ（取次ぎのお願い）を話し始めます</a:t>
            </a:r>
            <a:endParaRPr lang="en-US" sz="1100" dirty="0"/>
          </a:p>
        </p:txBody>
      </p:sp>
      <p:sp>
        <p:nvSpPr>
          <p:cNvPr id="25" name="Shape 22"/>
          <p:cNvSpPr/>
          <p:nvPr/>
        </p:nvSpPr>
        <p:spPr>
          <a:xfrm>
            <a:off x="6126480" y="1234440"/>
            <a:ext cx="2560320" cy="2788920"/>
          </a:xfrm>
          <a:prstGeom prst="roundRect">
            <a:avLst>
              <a:gd name="adj" fmla="val 2857"/>
            </a:avLst>
          </a:prstGeom>
          <a:solidFill>
            <a:srgbClr val="FFFFFF"/>
          </a:solidFill>
          <a:ln w="9525">
            <a:solidFill>
              <a:srgbClr val="D5DDE0"/>
            </a:solidFill>
            <a:prstDash val="solid"/>
          </a:ln>
          <a:effectLst>
            <a:outerShdw sx="100000" sy="100000" kx="0" ky="0" algn="bl" rotWithShape="0" blurRad="76200" dist="25400" dir="5400000">
              <a:srgbClr val="000000">
                <a:alpha val="12000"/>
              </a:srgbClr>
            </a:outerShdw>
          </a:effectLst>
        </p:spPr>
      </p:sp>
      <p:sp>
        <p:nvSpPr>
          <p:cNvPr id="26" name="Text 23"/>
          <p:cNvSpPr txBox="1"/>
          <p:nvPr/>
        </p:nvSpPr>
        <p:spPr>
          <a:xfrm>
            <a:off x="6309360" y="1353312"/>
            <a:ext cx="2194560" cy="256032"/>
          </a:xfrm>
          <a:prstGeom prst="rect">
            <a:avLst/>
          </a:prstGeom>
          <a:noFill/>
          <a:ln/>
        </p:spPr>
        <p:txBody>
          <a:bodyPr wrap="square" lIns="0" tIns="0" rIns="0" bIns="0" rtlCol="0" anchor="t"/>
          <a:lstStyle/>
          <a:p>
            <a:pPr indent="0" marL="0">
              <a:buNone/>
            </a:pPr>
            <a:r>
              <a:rPr lang="en-US" sz="1050" b="1" dirty="0">
                <a:solidFill>
                  <a:srgbClr val="0B6E6E"/>
                </a:solidFill>
                <a:latin typeface="Meiryo" pitchFamily="34" charset="0"/>
                <a:ea typeface="Meiryo" pitchFamily="34" charset="-122"/>
                <a:cs typeface="Meiryo" pitchFamily="34" charset="-120"/>
              </a:rPr>
              <a:t>ステップ 3</a:t>
            </a:r>
            <a:endParaRPr lang="en-US" sz="1050" dirty="0"/>
          </a:p>
        </p:txBody>
      </p:sp>
      <p:sp>
        <p:nvSpPr>
          <p:cNvPr id="27" name="Text 24"/>
          <p:cNvSpPr txBox="1"/>
          <p:nvPr/>
        </p:nvSpPr>
        <p:spPr>
          <a:xfrm>
            <a:off x="6309360" y="1609344"/>
            <a:ext cx="2240280" cy="292608"/>
          </a:xfrm>
          <a:prstGeom prst="rect">
            <a:avLst/>
          </a:prstGeom>
          <a:noFill/>
          <a:ln/>
        </p:spPr>
        <p:txBody>
          <a:bodyPr wrap="square" lIns="0" tIns="0" rIns="0" bIns="0" rtlCol="0" anchor="t"/>
          <a:lstStyle/>
          <a:p>
            <a:pPr indent="0" marL="0">
              <a:buNone/>
            </a:pPr>
            <a:r>
              <a:rPr lang="en-US" sz="1250" b="1" dirty="0">
                <a:solidFill>
                  <a:srgbClr val="1E2A30"/>
                </a:solidFill>
                <a:latin typeface="Meiryo" pitchFamily="34" charset="0"/>
                <a:ea typeface="Meiryo" pitchFamily="34" charset="-122"/>
                <a:cs typeface="Meiryo" pitchFamily="34" charset="-120"/>
              </a:rPr>
              <a:t>「話す」を押して話しかける</a:t>
            </a:r>
            <a:endParaRPr lang="en-US" sz="1250" dirty="0"/>
          </a:p>
        </p:txBody>
      </p:sp>
      <p:sp>
        <p:nvSpPr>
          <p:cNvPr id="28" name="Shape 25"/>
          <p:cNvSpPr/>
          <p:nvPr/>
        </p:nvSpPr>
        <p:spPr>
          <a:xfrm>
            <a:off x="6537960" y="2011680"/>
            <a:ext cx="1737360" cy="457200"/>
          </a:xfrm>
          <a:prstGeom prst="roundRect">
            <a:avLst>
              <a:gd name="adj" fmla="val 12000"/>
            </a:avLst>
          </a:prstGeom>
          <a:solidFill>
            <a:srgbClr val="1F4FD8"/>
          </a:solidFill>
          <a:ln w="9525">
            <a:solidFill>
              <a:srgbClr val="1F4FD8"/>
            </a:solidFill>
            <a:prstDash val="solid"/>
          </a:ln>
        </p:spPr>
      </p:sp>
      <p:pic>
        <p:nvPicPr>
          <p:cNvPr id="29" name="Image 1" descr="preencoded.png">    </p:cNvPr>
          <p:cNvPicPr>
            <a:picLocks noChangeAspect="1"/>
          </p:cNvPicPr>
          <p:nvPr/>
        </p:nvPicPr>
        <p:blipFill>
          <a:blip r:embed="rId2"/>
          <a:stretch>
            <a:fillRect/>
          </a:stretch>
        </p:blipFill>
        <p:spPr>
          <a:xfrm>
            <a:off x="6766560" y="2112264"/>
            <a:ext cx="256032" cy="256032"/>
          </a:xfrm>
          <a:prstGeom prst="rect">
            <a:avLst/>
          </a:prstGeom>
        </p:spPr>
      </p:pic>
      <p:sp>
        <p:nvSpPr>
          <p:cNvPr id="30" name="Text 26"/>
          <p:cNvSpPr txBox="1"/>
          <p:nvPr/>
        </p:nvSpPr>
        <p:spPr>
          <a:xfrm>
            <a:off x="7086600" y="2011680"/>
            <a:ext cx="1097280" cy="457200"/>
          </a:xfrm>
          <a:prstGeom prst="rect">
            <a:avLst/>
          </a:prstGeom>
          <a:noFill/>
          <a:ln/>
        </p:spPr>
        <p:txBody>
          <a:bodyPr wrap="square" lIns="0" tIns="0" rIns="0" bIns="0" rtlCol="0" anchor="ctr"/>
          <a:lstStyle/>
          <a:p>
            <a:pPr indent="0" marL="0">
              <a:buNone/>
            </a:pPr>
            <a:r>
              <a:rPr lang="en-US" sz="1300" b="1" dirty="0">
                <a:solidFill>
                  <a:srgbClr val="FFFFFF"/>
                </a:solidFill>
                <a:latin typeface="Meiryo" pitchFamily="34" charset="0"/>
                <a:ea typeface="Meiryo" pitchFamily="34" charset="-122"/>
                <a:cs typeface="Meiryo" pitchFamily="34" charset="-120"/>
              </a:rPr>
              <a:t>話す</a:t>
            </a:r>
            <a:endParaRPr lang="en-US" sz="1300" dirty="0"/>
          </a:p>
        </p:txBody>
      </p:sp>
      <p:sp>
        <p:nvSpPr>
          <p:cNvPr id="31" name="Shape 27"/>
          <p:cNvSpPr/>
          <p:nvPr/>
        </p:nvSpPr>
        <p:spPr>
          <a:xfrm>
            <a:off x="7269480" y="2578608"/>
            <a:ext cx="274320" cy="292608"/>
          </a:xfrm>
          <a:prstGeom prst="downArrow">
            <a:avLst/>
          </a:prstGeom>
          <a:solidFill>
            <a:srgbClr val="D5DDE0"/>
          </a:solidFill>
          <a:ln w="12700">
            <a:solidFill>
              <a:srgbClr val="D5DDE0"/>
            </a:solidFill>
            <a:prstDash val="solid"/>
          </a:ln>
        </p:spPr>
      </p:sp>
      <p:sp>
        <p:nvSpPr>
          <p:cNvPr id="32" name="Text 28"/>
          <p:cNvSpPr txBox="1"/>
          <p:nvPr/>
        </p:nvSpPr>
        <p:spPr>
          <a:xfrm>
            <a:off x="6309360" y="2926080"/>
            <a:ext cx="2194560" cy="219456"/>
          </a:xfrm>
          <a:prstGeom prst="rect">
            <a:avLst/>
          </a:prstGeom>
          <a:noFill/>
          <a:ln/>
        </p:spPr>
        <p:txBody>
          <a:bodyPr wrap="square" lIns="0" tIns="0" rIns="0" bIns="0" rtlCol="0" anchor="t"/>
          <a:lstStyle/>
          <a:p>
            <a:pPr indent="0" marL="0">
              <a:buNone/>
            </a:pPr>
            <a:r>
              <a:rPr lang="en-US" sz="950" b="1" dirty="0">
                <a:solidFill>
                  <a:srgbClr val="5B6870"/>
                </a:solidFill>
                <a:latin typeface="Meiryo" pitchFamily="34" charset="0"/>
                <a:ea typeface="Meiryo" pitchFamily="34" charset="-122"/>
                <a:cs typeface="Meiryo" pitchFamily="34" charset="-120"/>
              </a:rPr>
              <a:t>起こること</a:t>
            </a:r>
            <a:endParaRPr lang="en-US" sz="950" dirty="0"/>
          </a:p>
        </p:txBody>
      </p:sp>
      <p:sp>
        <p:nvSpPr>
          <p:cNvPr id="33" name="Text 29"/>
          <p:cNvSpPr txBox="1"/>
          <p:nvPr/>
        </p:nvSpPr>
        <p:spPr>
          <a:xfrm>
            <a:off x="6309360" y="3154680"/>
            <a:ext cx="2240280" cy="822960"/>
          </a:xfrm>
          <a:prstGeom prst="rect">
            <a:avLst/>
          </a:prstGeom>
          <a:noFill/>
          <a:ln/>
        </p:spPr>
        <p:txBody>
          <a:bodyPr wrap="square" lIns="0" tIns="0" rIns="0" bIns="0" rtlCol="0" anchor="t"/>
          <a:lstStyle/>
          <a:p>
            <a:pPr indent="0" marL="0">
              <a:buNone/>
            </a:pPr>
            <a:r>
              <a:rPr lang="en-US" sz="1100" dirty="0">
                <a:solidFill>
                  <a:srgbClr val="1E2A30"/>
                </a:solidFill>
                <a:latin typeface="Meiryo" pitchFamily="34" charset="0"/>
                <a:ea typeface="Meiryo" pitchFamily="34" charset="-122"/>
                <a:cs typeface="Meiryo" pitchFamily="34" charset="-120"/>
              </a:rPr>
              <a:t>話しかけると AI が聞き取って返事をします。右側のチェックが埋まっていきます</a:t>
            </a:r>
            <a:endParaRPr lang="en-US" sz="1100" dirty="0"/>
          </a:p>
        </p:txBody>
      </p:sp>
      <p:sp>
        <p:nvSpPr>
          <p:cNvPr id="34" name="Shape 30"/>
          <p:cNvSpPr/>
          <p:nvPr/>
        </p:nvSpPr>
        <p:spPr>
          <a:xfrm>
            <a:off x="457200" y="4160520"/>
            <a:ext cx="8229600" cy="502920"/>
          </a:xfrm>
          <a:prstGeom prst="roundRect">
            <a:avLst>
              <a:gd name="adj" fmla="val 14545"/>
            </a:avLst>
          </a:prstGeom>
          <a:solidFill>
            <a:srgbClr val="F3F6F7"/>
          </a:solidFill>
          <a:ln w="9525">
            <a:solidFill>
              <a:srgbClr val="F3F6F7"/>
            </a:solidFill>
            <a:prstDash val="solid"/>
          </a:ln>
        </p:spPr>
      </p:sp>
      <p:pic>
        <p:nvPicPr>
          <p:cNvPr id="35" name="Image 2" descr="preencoded.png">    </p:cNvPr>
          <p:cNvPicPr>
            <a:picLocks noChangeAspect="1"/>
          </p:cNvPicPr>
          <p:nvPr/>
        </p:nvPicPr>
        <p:blipFill>
          <a:blip r:embed="rId3"/>
          <a:stretch>
            <a:fillRect/>
          </a:stretch>
        </p:blipFill>
        <p:spPr>
          <a:xfrm>
            <a:off x="640080" y="4261104"/>
            <a:ext cx="292608" cy="292608"/>
          </a:xfrm>
          <a:prstGeom prst="rect">
            <a:avLst/>
          </a:prstGeom>
        </p:spPr>
      </p:pic>
      <p:sp>
        <p:nvSpPr>
          <p:cNvPr id="36" name="Text 31"/>
          <p:cNvSpPr txBox="1"/>
          <p:nvPr/>
        </p:nvSpPr>
        <p:spPr>
          <a:xfrm>
            <a:off x="1051560" y="4160520"/>
            <a:ext cx="7498080" cy="502920"/>
          </a:xfrm>
          <a:prstGeom prst="rect">
            <a:avLst/>
          </a:prstGeom>
          <a:noFill/>
          <a:ln/>
        </p:spPr>
        <p:txBody>
          <a:bodyPr wrap="square" lIns="0" tIns="0" rIns="0" bIns="0" rtlCol="0" anchor="ctr"/>
          <a:lstStyle/>
          <a:p>
            <a:pPr indent="0" marL="0">
              <a:buNone/>
            </a:pPr>
            <a:r>
              <a:rPr lang="en-US" sz="1050" dirty="0">
                <a:solidFill>
                  <a:srgbClr val="1E2A30"/>
                </a:solidFill>
                <a:latin typeface="Meiryo" pitchFamily="34" charset="0"/>
                <a:ea typeface="Meiryo" pitchFamily="34" charset="-122"/>
                <a:cs typeface="Meiryo" pitchFamily="34" charset="-120"/>
              </a:rPr>
              <a:t>準備：Chrome・Edge・Safari で開き、マイクを「許可」。終わった通話は「架電履歴」で見返せます</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685800" cy="256032"/>
          </a:xfrm>
          <a:prstGeom prst="roundRect">
            <a:avLst>
              <a:gd name="adj" fmla="val 50000"/>
            </a:avLst>
          </a:prstGeom>
          <a:solidFill>
            <a:srgbClr val="E3F3F2"/>
          </a:solidFill>
          <a:ln w="9525">
            <a:solidFill>
              <a:srgbClr val="E3F3F2"/>
            </a:solidFill>
            <a:prstDash val="solid"/>
          </a:ln>
        </p:spPr>
      </p:sp>
      <p:sp>
        <p:nvSpPr>
          <p:cNvPr id="3" name="Text 1"/>
          <p:cNvSpPr txBox="1"/>
          <p:nvPr/>
        </p:nvSpPr>
        <p:spPr>
          <a:xfrm>
            <a:off x="457200" y="310896"/>
            <a:ext cx="685800" cy="256032"/>
          </a:xfrm>
          <a:prstGeom prst="rect">
            <a:avLst/>
          </a:prstGeom>
          <a:noFill/>
          <a:ln/>
        </p:spPr>
        <p:txBody>
          <a:bodyPr wrap="square" lIns="0" tIns="0" rIns="0" bIns="0" rtlCol="0" anchor="ctr"/>
          <a:lstStyle/>
          <a:p>
            <a:pPr algn="ctr" indent="0" marL="0">
              <a:buNone/>
            </a:pPr>
            <a:r>
              <a:rPr lang="en-US" sz="1000" b="1" dirty="0">
                <a:solidFill>
                  <a:srgbClr val="0B6E6E"/>
                </a:solidFill>
                <a:latin typeface="Meiryo" pitchFamily="34" charset="0"/>
                <a:ea typeface="Meiryo" pitchFamily="34" charset="-122"/>
                <a:cs typeface="Meiryo" pitchFamily="34" charset="-120"/>
              </a:rPr>
              <a:t>使い方</a:t>
            </a:r>
            <a:endParaRPr lang="en-US" sz="1000" dirty="0"/>
          </a:p>
        </p:txBody>
      </p:sp>
      <p:sp>
        <p:nvSpPr>
          <p:cNvPr id="4" name="Text 2"/>
          <p:cNvSpPr txBox="1"/>
          <p:nvPr/>
        </p:nvSpPr>
        <p:spPr>
          <a:xfrm>
            <a:off x="457200" y="603504"/>
            <a:ext cx="8229600" cy="502920"/>
          </a:xfrm>
          <a:prstGeom prst="rect">
            <a:avLst/>
          </a:prstGeom>
          <a:noFill/>
          <a:ln/>
        </p:spPr>
        <p:txBody>
          <a:bodyPr wrap="square" lIns="0" tIns="0" rIns="0" bIns="0" rtlCol="0" anchor="ctr"/>
          <a:lstStyle/>
          <a:p>
            <a:pPr indent="0" marL="0">
              <a:buNone/>
            </a:pPr>
            <a:r>
              <a:rPr lang="en-US" sz="2400" b="1" dirty="0">
                <a:solidFill>
                  <a:srgbClr val="1E2A30"/>
                </a:solidFill>
                <a:latin typeface="Meiryo" pitchFamily="34" charset="0"/>
                <a:ea typeface="Meiryo" pitchFamily="34" charset="-122"/>
                <a:cs typeface="Meiryo" pitchFamily="34" charset="-120"/>
              </a:rPr>
              <a:t>電話が終わると、こうなっています</a:t>
            </a:r>
            <a:endParaRPr lang="en-US" sz="2400" dirty="0"/>
          </a:p>
        </p:txBody>
      </p:sp>
      <p:sp>
        <p:nvSpPr>
          <p:cNvPr id="5" name="Text 3"/>
          <p:cNvSpPr txBox="1"/>
          <p:nvPr/>
        </p:nvSpPr>
        <p:spPr>
          <a:xfrm>
            <a:off x="7955280" y="4773168"/>
            <a:ext cx="731520" cy="228600"/>
          </a:xfrm>
          <a:prstGeom prst="rect">
            <a:avLst/>
          </a:prstGeom>
          <a:noFill/>
          <a:ln/>
        </p:spPr>
        <p:txBody>
          <a:bodyPr wrap="square" lIns="0" tIns="0" rIns="0" bIns="0" rtlCol="0" anchor="t"/>
          <a:lstStyle/>
          <a:p>
            <a:pPr algn="r" indent="0" marL="0">
              <a:buNone/>
            </a:pPr>
            <a:r>
              <a:rPr lang="en-US" sz="900" dirty="0">
                <a:solidFill>
                  <a:srgbClr val="5B6870"/>
                </a:solidFill>
                <a:latin typeface="Meiryo" pitchFamily="34" charset="0"/>
                <a:ea typeface="Meiryo" pitchFamily="34" charset="-122"/>
                <a:cs typeface="Meiryo" pitchFamily="34" charset="-120"/>
              </a:rPr>
              <a:t>14 / 17</a:t>
            </a:r>
            <a:endParaRPr lang="en-US" sz="900" dirty="0"/>
          </a:p>
        </p:txBody>
      </p:sp>
      <p:sp>
        <p:nvSpPr>
          <p:cNvPr id="6" name="Shape 4"/>
          <p:cNvSpPr/>
          <p:nvPr/>
        </p:nvSpPr>
        <p:spPr>
          <a:xfrm>
            <a:off x="457200" y="1234440"/>
            <a:ext cx="4160520" cy="3401568"/>
          </a:xfrm>
          <a:prstGeom prst="roundRect">
            <a:avLst>
              <a:gd name="adj" fmla="val 2151"/>
            </a:avLst>
          </a:prstGeom>
          <a:solidFill>
            <a:srgbClr val="F3F6F7"/>
          </a:solidFill>
          <a:ln w="9525">
            <a:solidFill>
              <a:srgbClr val="F3F6F7"/>
            </a:solidFill>
            <a:prstDash val="solid"/>
          </a:ln>
        </p:spPr>
      </p:sp>
      <p:sp>
        <p:nvSpPr>
          <p:cNvPr id="7" name="Text 5"/>
          <p:cNvSpPr txBox="1"/>
          <p:nvPr/>
        </p:nvSpPr>
        <p:spPr>
          <a:xfrm>
            <a:off x="658368" y="1344168"/>
            <a:ext cx="3657600" cy="292608"/>
          </a:xfrm>
          <a:prstGeom prst="rect">
            <a:avLst/>
          </a:prstGeom>
          <a:noFill/>
          <a:ln/>
        </p:spPr>
        <p:txBody>
          <a:bodyPr wrap="square" lIns="0" tIns="0" rIns="0" bIns="0" rtlCol="0" anchor="t"/>
          <a:lstStyle/>
          <a:p>
            <a:pPr indent="0" marL="0">
              <a:buNone/>
            </a:pPr>
            <a:r>
              <a:rPr lang="en-US" sz="1300" b="1" dirty="0">
                <a:solidFill>
                  <a:srgbClr val="1E2A30"/>
                </a:solidFill>
                <a:latin typeface="Meiryo" pitchFamily="34" charset="0"/>
                <a:ea typeface="Meiryo" pitchFamily="34" charset="-122"/>
                <a:cs typeface="Meiryo" pitchFamily="34" charset="-120"/>
              </a:rPr>
              <a:t>アポ成立チェック</a:t>
            </a:r>
            <a:endParaRPr lang="en-US" sz="1300" dirty="0"/>
          </a:p>
        </p:txBody>
      </p:sp>
      <p:pic>
        <p:nvPicPr>
          <p:cNvPr id="8" name="Image 0" descr="preencoded.png">    </p:cNvPr>
          <p:cNvPicPr>
            <a:picLocks noChangeAspect="1"/>
          </p:cNvPicPr>
          <p:nvPr/>
        </p:nvPicPr>
        <p:blipFill>
          <a:blip r:embed="rId1"/>
          <a:stretch>
            <a:fillRect/>
          </a:stretch>
        </p:blipFill>
        <p:spPr>
          <a:xfrm>
            <a:off x="685800" y="1792224"/>
            <a:ext cx="201168" cy="201168"/>
          </a:xfrm>
          <a:prstGeom prst="rect">
            <a:avLst/>
          </a:prstGeom>
        </p:spPr>
      </p:pic>
      <p:sp>
        <p:nvSpPr>
          <p:cNvPr id="9" name="Text 6"/>
          <p:cNvSpPr txBox="1"/>
          <p:nvPr/>
        </p:nvSpPr>
        <p:spPr>
          <a:xfrm>
            <a:off x="987552" y="1737360"/>
            <a:ext cx="3474720" cy="310896"/>
          </a:xfrm>
          <a:prstGeom prst="rect">
            <a:avLst/>
          </a:prstGeom>
          <a:noFill/>
          <a:ln/>
        </p:spPr>
        <p:txBody>
          <a:bodyPr wrap="square" lIns="0" tIns="0" rIns="0" bIns="0" rtlCol="0" anchor="ctr"/>
          <a:lstStyle/>
          <a:p>
            <a:pPr indent="0" marL="0">
              <a:buNone/>
            </a:pPr>
            <a:r>
              <a:rPr lang="en-US" sz="1100" dirty="0">
                <a:solidFill>
                  <a:srgbClr val="1E2A30"/>
                </a:solidFill>
                <a:latin typeface="Meiryo" pitchFamily="34" charset="0"/>
                <a:ea typeface="Meiryo" pitchFamily="34" charset="-122"/>
                <a:cs typeface="Meiryo" pitchFamily="34" charset="-120"/>
              </a:rPr>
              <a:t>商談の日時が決まっている</a:t>
            </a:r>
            <a:endParaRPr lang="en-US" sz="1100" dirty="0"/>
          </a:p>
        </p:txBody>
      </p:sp>
      <p:pic>
        <p:nvPicPr>
          <p:cNvPr id="10" name="Image 1" descr="preencoded.png">    </p:cNvPr>
          <p:cNvPicPr>
            <a:picLocks noChangeAspect="1"/>
          </p:cNvPicPr>
          <p:nvPr/>
        </p:nvPicPr>
        <p:blipFill>
          <a:blip r:embed="rId2"/>
          <a:stretch>
            <a:fillRect/>
          </a:stretch>
        </p:blipFill>
        <p:spPr>
          <a:xfrm>
            <a:off x="685800" y="2121408"/>
            <a:ext cx="201168" cy="201168"/>
          </a:xfrm>
          <a:prstGeom prst="rect">
            <a:avLst/>
          </a:prstGeom>
        </p:spPr>
      </p:pic>
      <p:sp>
        <p:nvSpPr>
          <p:cNvPr id="11" name="Text 7"/>
          <p:cNvSpPr txBox="1"/>
          <p:nvPr/>
        </p:nvSpPr>
        <p:spPr>
          <a:xfrm>
            <a:off x="987552" y="2066544"/>
            <a:ext cx="3474720" cy="310896"/>
          </a:xfrm>
          <a:prstGeom prst="rect">
            <a:avLst/>
          </a:prstGeom>
          <a:noFill/>
          <a:ln/>
        </p:spPr>
        <p:txBody>
          <a:bodyPr wrap="square" lIns="0" tIns="0" rIns="0" bIns="0" rtlCol="0" anchor="ctr"/>
          <a:lstStyle/>
          <a:p>
            <a:pPr indent="0" marL="0">
              <a:buNone/>
            </a:pPr>
            <a:r>
              <a:rPr lang="en-US" sz="1100" dirty="0">
                <a:solidFill>
                  <a:srgbClr val="1E2A30"/>
                </a:solidFill>
                <a:latin typeface="Meiryo" pitchFamily="34" charset="0"/>
                <a:ea typeface="Meiryo" pitchFamily="34" charset="-122"/>
                <a:cs typeface="Meiryo" pitchFamily="34" charset="-120"/>
              </a:rPr>
              <a:t>オンライン商談に同意をもらっている</a:t>
            </a:r>
            <a:endParaRPr lang="en-US" sz="1100" dirty="0"/>
          </a:p>
        </p:txBody>
      </p:sp>
      <p:pic>
        <p:nvPicPr>
          <p:cNvPr id="12" name="Image 2" descr="preencoded.png">    </p:cNvPr>
          <p:cNvPicPr>
            <a:picLocks noChangeAspect="1"/>
          </p:cNvPicPr>
          <p:nvPr/>
        </p:nvPicPr>
        <p:blipFill>
          <a:blip r:embed="rId3"/>
          <a:stretch>
            <a:fillRect/>
          </a:stretch>
        </p:blipFill>
        <p:spPr>
          <a:xfrm>
            <a:off x="685800" y="2450592"/>
            <a:ext cx="201168" cy="201168"/>
          </a:xfrm>
          <a:prstGeom prst="rect">
            <a:avLst/>
          </a:prstGeom>
        </p:spPr>
      </p:pic>
      <p:sp>
        <p:nvSpPr>
          <p:cNvPr id="13" name="Text 8"/>
          <p:cNvSpPr txBox="1"/>
          <p:nvPr/>
        </p:nvSpPr>
        <p:spPr>
          <a:xfrm>
            <a:off x="987552" y="2395728"/>
            <a:ext cx="3474720" cy="310896"/>
          </a:xfrm>
          <a:prstGeom prst="rect">
            <a:avLst/>
          </a:prstGeom>
          <a:noFill/>
          <a:ln/>
        </p:spPr>
        <p:txBody>
          <a:bodyPr wrap="square" lIns="0" tIns="0" rIns="0" bIns="0" rtlCol="0" anchor="ctr"/>
          <a:lstStyle/>
          <a:p>
            <a:pPr indent="0" marL="0">
              <a:buNone/>
            </a:pPr>
            <a:r>
              <a:rPr lang="en-US" sz="1100" dirty="0">
                <a:solidFill>
                  <a:srgbClr val="1E2A30"/>
                </a:solidFill>
                <a:latin typeface="Meiryo" pitchFamily="34" charset="0"/>
                <a:ea typeface="Meiryo" pitchFamily="34" charset="-122"/>
                <a:cs typeface="Meiryo" pitchFamily="34" charset="-120"/>
              </a:rPr>
              <a:t>7つの質問をすべて聞けている</a:t>
            </a:r>
            <a:endParaRPr lang="en-US" sz="1100" dirty="0"/>
          </a:p>
        </p:txBody>
      </p:sp>
      <p:pic>
        <p:nvPicPr>
          <p:cNvPr id="14" name="Image 3" descr="preencoded.png">    </p:cNvPr>
          <p:cNvPicPr>
            <a:picLocks noChangeAspect="1"/>
          </p:cNvPicPr>
          <p:nvPr/>
        </p:nvPicPr>
        <p:blipFill>
          <a:blip r:embed="rId4"/>
          <a:stretch>
            <a:fillRect/>
          </a:stretch>
        </p:blipFill>
        <p:spPr>
          <a:xfrm>
            <a:off x="685800" y="2779776"/>
            <a:ext cx="201168" cy="201168"/>
          </a:xfrm>
          <a:prstGeom prst="rect">
            <a:avLst/>
          </a:prstGeom>
        </p:spPr>
      </p:pic>
      <p:sp>
        <p:nvSpPr>
          <p:cNvPr id="15" name="Text 9"/>
          <p:cNvSpPr txBox="1"/>
          <p:nvPr/>
        </p:nvSpPr>
        <p:spPr>
          <a:xfrm>
            <a:off x="987552" y="2724912"/>
            <a:ext cx="3474720" cy="310896"/>
          </a:xfrm>
          <a:prstGeom prst="rect">
            <a:avLst/>
          </a:prstGeom>
          <a:noFill/>
          <a:ln/>
        </p:spPr>
        <p:txBody>
          <a:bodyPr wrap="square" lIns="0" tIns="0" rIns="0" bIns="0" rtlCol="0" anchor="ctr"/>
          <a:lstStyle/>
          <a:p>
            <a:pPr indent="0" marL="0">
              <a:buNone/>
            </a:pPr>
            <a:r>
              <a:rPr lang="en-US" sz="1100" dirty="0">
                <a:solidFill>
                  <a:srgbClr val="1E2A30"/>
                </a:solidFill>
                <a:latin typeface="Meiryo" pitchFamily="34" charset="0"/>
                <a:ea typeface="Meiryo" pitchFamily="34" charset="-122"/>
                <a:cs typeface="Meiryo" pitchFamily="34" charset="-120"/>
              </a:rPr>
              <a:t>メールアドレスを復唱して確認した</a:t>
            </a:r>
            <a:endParaRPr lang="en-US" sz="1100" dirty="0"/>
          </a:p>
        </p:txBody>
      </p:sp>
      <p:pic>
        <p:nvPicPr>
          <p:cNvPr id="16" name="Image 4" descr="preencoded.png">    </p:cNvPr>
          <p:cNvPicPr>
            <a:picLocks noChangeAspect="1"/>
          </p:cNvPicPr>
          <p:nvPr/>
        </p:nvPicPr>
        <p:blipFill>
          <a:blip r:embed="rId5"/>
          <a:stretch>
            <a:fillRect/>
          </a:stretch>
        </p:blipFill>
        <p:spPr>
          <a:xfrm>
            <a:off x="685800" y="3108960"/>
            <a:ext cx="201168" cy="201168"/>
          </a:xfrm>
          <a:prstGeom prst="rect">
            <a:avLst/>
          </a:prstGeom>
        </p:spPr>
      </p:pic>
      <p:sp>
        <p:nvSpPr>
          <p:cNvPr id="17" name="Text 10"/>
          <p:cNvSpPr txBox="1"/>
          <p:nvPr/>
        </p:nvSpPr>
        <p:spPr>
          <a:xfrm>
            <a:off x="987552" y="3054096"/>
            <a:ext cx="3474720" cy="310896"/>
          </a:xfrm>
          <a:prstGeom prst="rect">
            <a:avLst/>
          </a:prstGeom>
          <a:noFill/>
          <a:ln/>
        </p:spPr>
        <p:txBody>
          <a:bodyPr wrap="square" lIns="0" tIns="0" rIns="0" bIns="0" rtlCol="0" anchor="ctr"/>
          <a:lstStyle/>
          <a:p>
            <a:pPr indent="0" marL="0">
              <a:buNone/>
            </a:pPr>
            <a:r>
              <a:rPr lang="en-US" sz="1100" dirty="0">
                <a:solidFill>
                  <a:srgbClr val="1E2A30"/>
                </a:solidFill>
                <a:latin typeface="Meiryo" pitchFamily="34" charset="0"/>
                <a:ea typeface="Meiryo" pitchFamily="34" charset="-122"/>
                <a:cs typeface="Meiryo" pitchFamily="34" charset="-120"/>
              </a:rPr>
              <a:t>前日連絡の番号と時間帯を聞けている</a:t>
            </a:r>
            <a:endParaRPr lang="en-US" sz="1100" dirty="0"/>
          </a:p>
        </p:txBody>
      </p:sp>
      <p:pic>
        <p:nvPicPr>
          <p:cNvPr id="18" name="Image 5" descr="preencoded.png">    </p:cNvPr>
          <p:cNvPicPr>
            <a:picLocks noChangeAspect="1"/>
          </p:cNvPicPr>
          <p:nvPr/>
        </p:nvPicPr>
        <p:blipFill>
          <a:blip r:embed="rId6"/>
          <a:stretch>
            <a:fillRect/>
          </a:stretch>
        </p:blipFill>
        <p:spPr>
          <a:xfrm>
            <a:off x="685800" y="3438144"/>
            <a:ext cx="201168" cy="201168"/>
          </a:xfrm>
          <a:prstGeom prst="rect">
            <a:avLst/>
          </a:prstGeom>
        </p:spPr>
      </p:pic>
      <p:sp>
        <p:nvSpPr>
          <p:cNvPr id="19" name="Text 11"/>
          <p:cNvSpPr txBox="1"/>
          <p:nvPr/>
        </p:nvSpPr>
        <p:spPr>
          <a:xfrm>
            <a:off x="987552" y="3383280"/>
            <a:ext cx="3474720" cy="310896"/>
          </a:xfrm>
          <a:prstGeom prst="rect">
            <a:avLst/>
          </a:prstGeom>
          <a:noFill/>
          <a:ln/>
        </p:spPr>
        <p:txBody>
          <a:bodyPr wrap="square" lIns="0" tIns="0" rIns="0" bIns="0" rtlCol="0" anchor="ctr"/>
          <a:lstStyle/>
          <a:p>
            <a:pPr indent="0" marL="0">
              <a:buNone/>
            </a:pPr>
            <a:r>
              <a:rPr lang="en-US" sz="1100" dirty="0">
                <a:solidFill>
                  <a:srgbClr val="1E2A30"/>
                </a:solidFill>
                <a:latin typeface="Meiryo" pitchFamily="34" charset="0"/>
                <a:ea typeface="Meiryo" pitchFamily="34" charset="-122"/>
                <a:cs typeface="Meiryo" pitchFamily="34" charset="-120"/>
              </a:rPr>
              <a:t>カレンダー登録をお願いした</a:t>
            </a:r>
            <a:endParaRPr lang="en-US" sz="1100" dirty="0"/>
          </a:p>
        </p:txBody>
      </p:sp>
      <p:pic>
        <p:nvPicPr>
          <p:cNvPr id="20" name="Image 6" descr="preencoded.png">    </p:cNvPr>
          <p:cNvPicPr>
            <a:picLocks noChangeAspect="1"/>
          </p:cNvPicPr>
          <p:nvPr/>
        </p:nvPicPr>
        <p:blipFill>
          <a:blip r:embed="rId7"/>
          <a:stretch>
            <a:fillRect/>
          </a:stretch>
        </p:blipFill>
        <p:spPr>
          <a:xfrm>
            <a:off x="685800" y="3767328"/>
            <a:ext cx="201168" cy="201168"/>
          </a:xfrm>
          <a:prstGeom prst="rect">
            <a:avLst/>
          </a:prstGeom>
        </p:spPr>
      </p:pic>
      <p:sp>
        <p:nvSpPr>
          <p:cNvPr id="21" name="Text 12"/>
          <p:cNvSpPr txBox="1"/>
          <p:nvPr/>
        </p:nvSpPr>
        <p:spPr>
          <a:xfrm>
            <a:off x="987552" y="3712464"/>
            <a:ext cx="3474720" cy="310896"/>
          </a:xfrm>
          <a:prstGeom prst="rect">
            <a:avLst/>
          </a:prstGeom>
          <a:noFill/>
          <a:ln/>
        </p:spPr>
        <p:txBody>
          <a:bodyPr wrap="square" lIns="0" tIns="0" rIns="0" bIns="0" rtlCol="0" anchor="ctr"/>
          <a:lstStyle/>
          <a:p>
            <a:pPr indent="0" marL="0">
              <a:buNone/>
            </a:pPr>
            <a:r>
              <a:rPr lang="en-US" sz="1100" dirty="0">
                <a:solidFill>
                  <a:srgbClr val="1E2A30"/>
                </a:solidFill>
                <a:latin typeface="Meiryo" pitchFamily="34" charset="0"/>
                <a:ea typeface="Meiryo" pitchFamily="34" charset="-122"/>
                <a:cs typeface="Meiryo" pitchFamily="34" charset="-120"/>
              </a:rPr>
              <a:t>言ってはいけない表現がゼロ</a:t>
            </a:r>
            <a:endParaRPr lang="en-US" sz="1100" dirty="0"/>
          </a:p>
        </p:txBody>
      </p:sp>
      <p:sp>
        <p:nvSpPr>
          <p:cNvPr id="22" name="Shape 13"/>
          <p:cNvSpPr/>
          <p:nvPr/>
        </p:nvSpPr>
        <p:spPr>
          <a:xfrm>
            <a:off x="658368" y="4114800"/>
            <a:ext cx="3758184" cy="384048"/>
          </a:xfrm>
          <a:prstGeom prst="roundRect">
            <a:avLst>
              <a:gd name="adj" fmla="val 19048"/>
            </a:avLst>
          </a:prstGeom>
          <a:solidFill>
            <a:srgbClr val="1B7F3B"/>
          </a:solidFill>
          <a:ln w="9525">
            <a:solidFill>
              <a:srgbClr val="1B7F3B"/>
            </a:solidFill>
            <a:prstDash val="solid"/>
          </a:ln>
        </p:spPr>
      </p:sp>
      <p:sp>
        <p:nvSpPr>
          <p:cNvPr id="23" name="Text 14"/>
          <p:cNvSpPr txBox="1"/>
          <p:nvPr/>
        </p:nvSpPr>
        <p:spPr>
          <a:xfrm>
            <a:off x="658368" y="4114800"/>
            <a:ext cx="3758184"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pitchFamily="34" charset="0"/>
                <a:ea typeface="Meiryo" pitchFamily="34" charset="-122"/>
                <a:cs typeface="Meiryo" pitchFamily="34" charset="-120"/>
              </a:rPr>
              <a:t>判定：アポ成立（すべて○）</a:t>
            </a:r>
            <a:endParaRPr lang="en-US" sz="1250" dirty="0"/>
          </a:p>
        </p:txBody>
      </p:sp>
      <p:sp>
        <p:nvSpPr>
          <p:cNvPr id="24" name="Shape 15"/>
          <p:cNvSpPr/>
          <p:nvPr/>
        </p:nvSpPr>
        <p:spPr>
          <a:xfrm>
            <a:off x="4846320" y="1234440"/>
            <a:ext cx="3840480" cy="3401568"/>
          </a:xfrm>
          <a:prstGeom prst="roundRect">
            <a:avLst>
              <a:gd name="adj" fmla="val 2151"/>
            </a:avLst>
          </a:prstGeom>
          <a:solidFill>
            <a:srgbClr val="FFFFFF"/>
          </a:solidFill>
          <a:ln w="9525">
            <a:solidFill>
              <a:srgbClr val="D5DDE0"/>
            </a:solidFill>
            <a:prstDash val="solid"/>
          </a:ln>
          <a:effectLst>
            <a:outerShdw sx="100000" sy="100000" kx="0" ky="0" algn="bl" rotWithShape="0" blurRad="76200" dist="25400" dir="5400000">
              <a:srgbClr val="000000">
                <a:alpha val="12000"/>
              </a:srgbClr>
            </a:outerShdw>
          </a:effectLst>
        </p:spPr>
      </p:sp>
      <p:sp>
        <p:nvSpPr>
          <p:cNvPr id="25" name="Text 16"/>
          <p:cNvSpPr txBox="1"/>
          <p:nvPr/>
        </p:nvSpPr>
        <p:spPr>
          <a:xfrm>
            <a:off x="5029200" y="1344168"/>
            <a:ext cx="3474720" cy="292608"/>
          </a:xfrm>
          <a:prstGeom prst="rect">
            <a:avLst/>
          </a:prstGeom>
          <a:noFill/>
          <a:ln/>
        </p:spPr>
        <p:txBody>
          <a:bodyPr wrap="square" lIns="0" tIns="0" rIns="0" bIns="0" rtlCol="0" anchor="t"/>
          <a:lstStyle/>
          <a:p>
            <a:pPr indent="0" marL="0">
              <a:buNone/>
            </a:pPr>
            <a:r>
              <a:rPr lang="en-US" sz="1300" b="1" dirty="0">
                <a:solidFill>
                  <a:srgbClr val="1E2A30"/>
                </a:solidFill>
                <a:latin typeface="Meiryo" pitchFamily="34" charset="0"/>
                <a:ea typeface="Meiryo" pitchFamily="34" charset="-122"/>
                <a:cs typeface="Meiryo" pitchFamily="34" charset="-120"/>
              </a:rPr>
              <a:t>聞き取りメモ（例）</a:t>
            </a:r>
            <a:endParaRPr lang="en-US" sz="1300" dirty="0"/>
          </a:p>
        </p:txBody>
      </p:sp>
      <p:sp>
        <p:nvSpPr>
          <p:cNvPr id="26" name="Text 17"/>
          <p:cNvSpPr txBox="1"/>
          <p:nvPr/>
        </p:nvSpPr>
        <p:spPr>
          <a:xfrm>
            <a:off x="5029200" y="1719072"/>
            <a:ext cx="1325880" cy="237744"/>
          </a:xfrm>
          <a:prstGeom prst="rect">
            <a:avLst/>
          </a:prstGeom>
          <a:noFill/>
          <a:ln/>
        </p:spPr>
        <p:txBody>
          <a:bodyPr wrap="square" lIns="0" tIns="0" rIns="0" bIns="0" rtlCol="0" anchor="ctr"/>
          <a:lstStyle/>
          <a:p>
            <a:pPr indent="0" marL="0">
              <a:buNone/>
            </a:pPr>
            <a:r>
              <a:rPr lang="en-US" sz="950" dirty="0">
                <a:solidFill>
                  <a:srgbClr val="5B6870"/>
                </a:solidFill>
                <a:latin typeface="Meiryo" pitchFamily="34" charset="0"/>
                <a:ea typeface="Meiryo" pitchFamily="34" charset="-122"/>
                <a:cs typeface="Meiryo" pitchFamily="34" charset="-120"/>
              </a:rPr>
              <a:t>会社名</a:t>
            </a:r>
            <a:endParaRPr lang="en-US" sz="950" dirty="0"/>
          </a:p>
        </p:txBody>
      </p:sp>
      <p:sp>
        <p:nvSpPr>
          <p:cNvPr id="27" name="Text 18"/>
          <p:cNvSpPr txBox="1"/>
          <p:nvPr/>
        </p:nvSpPr>
        <p:spPr>
          <a:xfrm>
            <a:off x="6355080" y="1719072"/>
            <a:ext cx="2240280" cy="237744"/>
          </a:xfrm>
          <a:prstGeom prst="rect">
            <a:avLst/>
          </a:prstGeom>
          <a:noFill/>
          <a:ln/>
        </p:spPr>
        <p:txBody>
          <a:bodyPr wrap="square" lIns="0" tIns="0" rIns="0" bIns="0" rtlCol="0" anchor="ctr"/>
          <a:lstStyle/>
          <a:p>
            <a:pPr indent="0" marL="0">
              <a:buNone/>
            </a:pPr>
            <a:r>
              <a:rPr lang="en-US" sz="1000" b="1" dirty="0">
                <a:solidFill>
                  <a:srgbClr val="1E2A30"/>
                </a:solidFill>
                <a:latin typeface="Meiryo" pitchFamily="34" charset="0"/>
                <a:ea typeface="Meiryo" pitchFamily="34" charset="-122"/>
                <a:cs typeface="Meiryo" pitchFamily="34" charset="-120"/>
              </a:rPr>
              <a:t>株式会社サンプル工業</a:t>
            </a:r>
            <a:endParaRPr lang="en-US" sz="1000" dirty="0"/>
          </a:p>
        </p:txBody>
      </p:sp>
      <p:sp>
        <p:nvSpPr>
          <p:cNvPr id="28" name="Text 19"/>
          <p:cNvSpPr txBox="1"/>
          <p:nvPr/>
        </p:nvSpPr>
        <p:spPr>
          <a:xfrm>
            <a:off x="5029200" y="1956816"/>
            <a:ext cx="1325880" cy="237744"/>
          </a:xfrm>
          <a:prstGeom prst="rect">
            <a:avLst/>
          </a:prstGeom>
          <a:noFill/>
          <a:ln/>
        </p:spPr>
        <p:txBody>
          <a:bodyPr wrap="square" lIns="0" tIns="0" rIns="0" bIns="0" rtlCol="0" anchor="ctr"/>
          <a:lstStyle/>
          <a:p>
            <a:pPr indent="0" marL="0">
              <a:buNone/>
            </a:pPr>
            <a:r>
              <a:rPr lang="en-US" sz="950" dirty="0">
                <a:solidFill>
                  <a:srgbClr val="5B6870"/>
                </a:solidFill>
                <a:latin typeface="Meiryo" pitchFamily="34" charset="0"/>
                <a:ea typeface="Meiryo" pitchFamily="34" charset="-122"/>
                <a:cs typeface="Meiryo" pitchFamily="34" charset="-120"/>
              </a:rPr>
              <a:t>商談</a:t>
            </a:r>
            <a:endParaRPr lang="en-US" sz="950" dirty="0"/>
          </a:p>
        </p:txBody>
      </p:sp>
      <p:sp>
        <p:nvSpPr>
          <p:cNvPr id="29" name="Text 20"/>
          <p:cNvSpPr txBox="1"/>
          <p:nvPr/>
        </p:nvSpPr>
        <p:spPr>
          <a:xfrm>
            <a:off x="6355080" y="1956816"/>
            <a:ext cx="2240280" cy="237744"/>
          </a:xfrm>
          <a:prstGeom prst="rect">
            <a:avLst/>
          </a:prstGeom>
          <a:noFill/>
          <a:ln/>
        </p:spPr>
        <p:txBody>
          <a:bodyPr wrap="square" lIns="0" tIns="0" rIns="0" bIns="0" rtlCol="0" anchor="ctr"/>
          <a:lstStyle/>
          <a:p>
            <a:pPr indent="0" marL="0">
              <a:buNone/>
            </a:pPr>
            <a:r>
              <a:rPr lang="en-US" sz="1000" b="1" dirty="0">
                <a:solidFill>
                  <a:srgbClr val="1E2A30"/>
                </a:solidFill>
                <a:latin typeface="Meiryo" pitchFamily="34" charset="0"/>
                <a:ea typeface="Meiryo" pitchFamily="34" charset="-122"/>
                <a:cs typeface="Meiryo" pitchFamily="34" charset="-120"/>
              </a:rPr>
              <a:t>9月17日（水）14時</a:t>
            </a:r>
            <a:endParaRPr lang="en-US" sz="1000" dirty="0"/>
          </a:p>
        </p:txBody>
      </p:sp>
      <p:sp>
        <p:nvSpPr>
          <p:cNvPr id="30" name="Text 21"/>
          <p:cNvSpPr txBox="1"/>
          <p:nvPr/>
        </p:nvSpPr>
        <p:spPr>
          <a:xfrm>
            <a:off x="5029200" y="2194560"/>
            <a:ext cx="1325880" cy="237744"/>
          </a:xfrm>
          <a:prstGeom prst="rect">
            <a:avLst/>
          </a:prstGeom>
          <a:noFill/>
          <a:ln/>
        </p:spPr>
        <p:txBody>
          <a:bodyPr wrap="square" lIns="0" tIns="0" rIns="0" bIns="0" rtlCol="0" anchor="ctr"/>
          <a:lstStyle/>
          <a:p>
            <a:pPr indent="0" marL="0">
              <a:buNone/>
            </a:pPr>
            <a:r>
              <a:rPr lang="en-US" sz="950" dirty="0">
                <a:solidFill>
                  <a:srgbClr val="5B6870"/>
                </a:solidFill>
                <a:latin typeface="Meiryo" pitchFamily="34" charset="0"/>
                <a:ea typeface="Meiryo" pitchFamily="34" charset="-122"/>
                <a:cs typeface="Meiryo" pitchFamily="34" charset="-120"/>
              </a:rPr>
              <a:t>代表の年齢</a:t>
            </a:r>
            <a:endParaRPr lang="en-US" sz="950" dirty="0"/>
          </a:p>
        </p:txBody>
      </p:sp>
      <p:sp>
        <p:nvSpPr>
          <p:cNvPr id="31" name="Text 22"/>
          <p:cNvSpPr txBox="1"/>
          <p:nvPr/>
        </p:nvSpPr>
        <p:spPr>
          <a:xfrm>
            <a:off x="6355080" y="2194560"/>
            <a:ext cx="2240280" cy="237744"/>
          </a:xfrm>
          <a:prstGeom prst="rect">
            <a:avLst/>
          </a:prstGeom>
          <a:noFill/>
          <a:ln/>
        </p:spPr>
        <p:txBody>
          <a:bodyPr wrap="square" lIns="0" tIns="0" rIns="0" bIns="0" rtlCol="0" anchor="ctr"/>
          <a:lstStyle/>
          <a:p>
            <a:pPr indent="0" marL="0">
              <a:buNone/>
            </a:pPr>
            <a:r>
              <a:rPr lang="en-US" sz="1000" b="1" dirty="0">
                <a:solidFill>
                  <a:srgbClr val="1E2A30"/>
                </a:solidFill>
                <a:latin typeface="Meiryo" pitchFamily="34" charset="0"/>
                <a:ea typeface="Meiryo" pitchFamily="34" charset="-122"/>
                <a:cs typeface="Meiryo" pitchFamily="34" charset="-120"/>
              </a:rPr>
              <a:t>50代</a:t>
            </a:r>
            <a:endParaRPr lang="en-US" sz="1000" dirty="0"/>
          </a:p>
        </p:txBody>
      </p:sp>
      <p:sp>
        <p:nvSpPr>
          <p:cNvPr id="32" name="Text 23"/>
          <p:cNvSpPr txBox="1"/>
          <p:nvPr/>
        </p:nvSpPr>
        <p:spPr>
          <a:xfrm>
            <a:off x="5029200" y="2432304"/>
            <a:ext cx="1325880" cy="237744"/>
          </a:xfrm>
          <a:prstGeom prst="rect">
            <a:avLst/>
          </a:prstGeom>
          <a:noFill/>
          <a:ln/>
        </p:spPr>
        <p:txBody>
          <a:bodyPr wrap="square" lIns="0" tIns="0" rIns="0" bIns="0" rtlCol="0" anchor="ctr"/>
          <a:lstStyle/>
          <a:p>
            <a:pPr indent="0" marL="0">
              <a:buNone/>
            </a:pPr>
            <a:r>
              <a:rPr lang="en-US" sz="950" dirty="0">
                <a:solidFill>
                  <a:srgbClr val="5B6870"/>
                </a:solidFill>
                <a:latin typeface="Meiryo" pitchFamily="34" charset="0"/>
                <a:ea typeface="Meiryo" pitchFamily="34" charset="-122"/>
                <a:cs typeface="Meiryo" pitchFamily="34" charset="-120"/>
              </a:rPr>
              <a:t>役員</a:t>
            </a:r>
            <a:endParaRPr lang="en-US" sz="950" dirty="0"/>
          </a:p>
        </p:txBody>
      </p:sp>
      <p:sp>
        <p:nvSpPr>
          <p:cNvPr id="33" name="Text 24"/>
          <p:cNvSpPr txBox="1"/>
          <p:nvPr/>
        </p:nvSpPr>
        <p:spPr>
          <a:xfrm>
            <a:off x="6355080" y="2432304"/>
            <a:ext cx="2240280" cy="237744"/>
          </a:xfrm>
          <a:prstGeom prst="rect">
            <a:avLst/>
          </a:prstGeom>
          <a:noFill/>
          <a:ln/>
        </p:spPr>
        <p:txBody>
          <a:bodyPr wrap="square" lIns="0" tIns="0" rIns="0" bIns="0" rtlCol="0" anchor="ctr"/>
          <a:lstStyle/>
          <a:p>
            <a:pPr indent="0" marL="0">
              <a:buNone/>
            </a:pPr>
            <a:r>
              <a:rPr lang="en-US" sz="1000" b="1" dirty="0">
                <a:solidFill>
                  <a:srgbClr val="1E2A30"/>
                </a:solidFill>
                <a:latin typeface="Meiryo" pitchFamily="34" charset="0"/>
                <a:ea typeface="Meiryo" pitchFamily="34" charset="-122"/>
                <a:cs typeface="Meiryo" pitchFamily="34" charset="-120"/>
              </a:rPr>
              <a:t>2名</a:t>
            </a:r>
            <a:endParaRPr lang="en-US" sz="1000" dirty="0"/>
          </a:p>
        </p:txBody>
      </p:sp>
      <p:sp>
        <p:nvSpPr>
          <p:cNvPr id="34" name="Text 25"/>
          <p:cNvSpPr txBox="1"/>
          <p:nvPr/>
        </p:nvSpPr>
        <p:spPr>
          <a:xfrm>
            <a:off x="5029200" y="2670048"/>
            <a:ext cx="1325880" cy="237744"/>
          </a:xfrm>
          <a:prstGeom prst="rect">
            <a:avLst/>
          </a:prstGeom>
          <a:noFill/>
          <a:ln/>
        </p:spPr>
        <p:txBody>
          <a:bodyPr wrap="square" lIns="0" tIns="0" rIns="0" bIns="0" rtlCol="0" anchor="ctr"/>
          <a:lstStyle/>
          <a:p>
            <a:pPr indent="0" marL="0">
              <a:buNone/>
            </a:pPr>
            <a:r>
              <a:rPr lang="en-US" sz="950" dirty="0">
                <a:solidFill>
                  <a:srgbClr val="5B6870"/>
                </a:solidFill>
                <a:latin typeface="Meiryo" pitchFamily="34" charset="0"/>
                <a:ea typeface="Meiryo" pitchFamily="34" charset="-122"/>
                <a:cs typeface="Meiryo" pitchFamily="34" charset="-120"/>
              </a:rPr>
              <a:t>社会保険の加入</a:t>
            </a:r>
            <a:endParaRPr lang="en-US" sz="950" dirty="0"/>
          </a:p>
        </p:txBody>
      </p:sp>
      <p:sp>
        <p:nvSpPr>
          <p:cNvPr id="35" name="Text 26"/>
          <p:cNvSpPr txBox="1"/>
          <p:nvPr/>
        </p:nvSpPr>
        <p:spPr>
          <a:xfrm>
            <a:off x="6355080" y="2670048"/>
            <a:ext cx="2240280" cy="237744"/>
          </a:xfrm>
          <a:prstGeom prst="rect">
            <a:avLst/>
          </a:prstGeom>
          <a:noFill/>
          <a:ln/>
        </p:spPr>
        <p:txBody>
          <a:bodyPr wrap="square" lIns="0" tIns="0" rIns="0" bIns="0" rtlCol="0" anchor="ctr"/>
          <a:lstStyle/>
          <a:p>
            <a:pPr indent="0" marL="0">
              <a:buNone/>
            </a:pPr>
            <a:r>
              <a:rPr lang="en-US" sz="1000" b="1" dirty="0">
                <a:solidFill>
                  <a:srgbClr val="1E2A30"/>
                </a:solidFill>
                <a:latin typeface="Meiryo" pitchFamily="34" charset="0"/>
                <a:ea typeface="Meiryo" pitchFamily="34" charset="-122"/>
                <a:cs typeface="Meiryo" pitchFamily="34" charset="-120"/>
              </a:rPr>
              <a:t>18名</a:t>
            </a:r>
            <a:endParaRPr lang="en-US" sz="1000" dirty="0"/>
          </a:p>
        </p:txBody>
      </p:sp>
      <p:sp>
        <p:nvSpPr>
          <p:cNvPr id="36" name="Text 27"/>
          <p:cNvSpPr txBox="1"/>
          <p:nvPr/>
        </p:nvSpPr>
        <p:spPr>
          <a:xfrm>
            <a:off x="5029200" y="2907792"/>
            <a:ext cx="1325880" cy="237744"/>
          </a:xfrm>
          <a:prstGeom prst="rect">
            <a:avLst/>
          </a:prstGeom>
          <a:noFill/>
          <a:ln/>
        </p:spPr>
        <p:txBody>
          <a:bodyPr wrap="square" lIns="0" tIns="0" rIns="0" bIns="0" rtlCol="0" anchor="ctr"/>
          <a:lstStyle/>
          <a:p>
            <a:pPr indent="0" marL="0">
              <a:buNone/>
            </a:pPr>
            <a:r>
              <a:rPr lang="en-US" sz="950" dirty="0">
                <a:solidFill>
                  <a:srgbClr val="5B6870"/>
                </a:solidFill>
                <a:latin typeface="Meiryo" pitchFamily="34" charset="0"/>
                <a:ea typeface="Meiryo" pitchFamily="34" charset="-122"/>
                <a:cs typeface="Meiryo" pitchFamily="34" charset="-120"/>
              </a:rPr>
              <a:t>決算月</a:t>
            </a:r>
            <a:endParaRPr lang="en-US" sz="950" dirty="0"/>
          </a:p>
        </p:txBody>
      </p:sp>
      <p:sp>
        <p:nvSpPr>
          <p:cNvPr id="37" name="Text 28"/>
          <p:cNvSpPr txBox="1"/>
          <p:nvPr/>
        </p:nvSpPr>
        <p:spPr>
          <a:xfrm>
            <a:off x="6355080" y="2907792"/>
            <a:ext cx="2240280" cy="237744"/>
          </a:xfrm>
          <a:prstGeom prst="rect">
            <a:avLst/>
          </a:prstGeom>
          <a:noFill/>
          <a:ln/>
        </p:spPr>
        <p:txBody>
          <a:bodyPr wrap="square" lIns="0" tIns="0" rIns="0" bIns="0" rtlCol="0" anchor="ctr"/>
          <a:lstStyle/>
          <a:p>
            <a:pPr indent="0" marL="0">
              <a:buNone/>
            </a:pPr>
            <a:r>
              <a:rPr lang="en-US" sz="1000" b="1" dirty="0">
                <a:solidFill>
                  <a:srgbClr val="1E2A30"/>
                </a:solidFill>
                <a:latin typeface="Meiryo" pitchFamily="34" charset="0"/>
                <a:ea typeface="Meiryo" pitchFamily="34" charset="-122"/>
                <a:cs typeface="Meiryo" pitchFamily="34" charset="-120"/>
              </a:rPr>
              <a:t>3月</a:t>
            </a:r>
            <a:endParaRPr lang="en-US" sz="1000" dirty="0"/>
          </a:p>
        </p:txBody>
      </p:sp>
      <p:sp>
        <p:nvSpPr>
          <p:cNvPr id="38" name="Text 29"/>
          <p:cNvSpPr txBox="1"/>
          <p:nvPr/>
        </p:nvSpPr>
        <p:spPr>
          <a:xfrm>
            <a:off x="5029200" y="3145536"/>
            <a:ext cx="1325880" cy="237744"/>
          </a:xfrm>
          <a:prstGeom prst="rect">
            <a:avLst/>
          </a:prstGeom>
          <a:noFill/>
          <a:ln/>
        </p:spPr>
        <p:txBody>
          <a:bodyPr wrap="square" lIns="0" tIns="0" rIns="0" bIns="0" rtlCol="0" anchor="ctr"/>
          <a:lstStyle/>
          <a:p>
            <a:pPr indent="0" marL="0">
              <a:buNone/>
            </a:pPr>
            <a:r>
              <a:rPr lang="en-US" sz="950" dirty="0">
                <a:solidFill>
                  <a:srgbClr val="5B6870"/>
                </a:solidFill>
                <a:latin typeface="Meiryo" pitchFamily="34" charset="0"/>
                <a:ea typeface="Meiryo" pitchFamily="34" charset="-122"/>
                <a:cs typeface="Meiryo" pitchFamily="34" charset="-120"/>
              </a:rPr>
              <a:t>退職金制度</a:t>
            </a:r>
            <a:endParaRPr lang="en-US" sz="950" dirty="0"/>
          </a:p>
        </p:txBody>
      </p:sp>
      <p:sp>
        <p:nvSpPr>
          <p:cNvPr id="39" name="Text 30"/>
          <p:cNvSpPr txBox="1"/>
          <p:nvPr/>
        </p:nvSpPr>
        <p:spPr>
          <a:xfrm>
            <a:off x="6355080" y="3145536"/>
            <a:ext cx="2240280" cy="237744"/>
          </a:xfrm>
          <a:prstGeom prst="rect">
            <a:avLst/>
          </a:prstGeom>
          <a:noFill/>
          <a:ln/>
        </p:spPr>
        <p:txBody>
          <a:bodyPr wrap="square" lIns="0" tIns="0" rIns="0" bIns="0" rtlCol="0" anchor="ctr"/>
          <a:lstStyle/>
          <a:p>
            <a:pPr indent="0" marL="0">
              <a:buNone/>
            </a:pPr>
            <a:r>
              <a:rPr lang="en-US" sz="1000" b="1" dirty="0">
                <a:solidFill>
                  <a:srgbClr val="1E2A30"/>
                </a:solidFill>
                <a:latin typeface="Meiryo" pitchFamily="34" charset="0"/>
                <a:ea typeface="Meiryo" pitchFamily="34" charset="-122"/>
                <a:cs typeface="Meiryo" pitchFamily="34" charset="-120"/>
              </a:rPr>
              <a:t>なし</a:t>
            </a:r>
            <a:endParaRPr lang="en-US" sz="1000" dirty="0"/>
          </a:p>
        </p:txBody>
      </p:sp>
      <p:sp>
        <p:nvSpPr>
          <p:cNvPr id="40" name="Text 31"/>
          <p:cNvSpPr txBox="1"/>
          <p:nvPr/>
        </p:nvSpPr>
        <p:spPr>
          <a:xfrm>
            <a:off x="5029200" y="3383280"/>
            <a:ext cx="1325880" cy="237744"/>
          </a:xfrm>
          <a:prstGeom prst="rect">
            <a:avLst/>
          </a:prstGeom>
          <a:noFill/>
          <a:ln/>
        </p:spPr>
        <p:txBody>
          <a:bodyPr wrap="square" lIns="0" tIns="0" rIns="0" bIns="0" rtlCol="0" anchor="ctr"/>
          <a:lstStyle/>
          <a:p>
            <a:pPr indent="0" marL="0">
              <a:buNone/>
            </a:pPr>
            <a:r>
              <a:rPr lang="en-US" sz="950" dirty="0">
                <a:solidFill>
                  <a:srgbClr val="5B6870"/>
                </a:solidFill>
                <a:latin typeface="Meiryo" pitchFamily="34" charset="0"/>
                <a:ea typeface="Meiryo" pitchFamily="34" charset="-122"/>
                <a:cs typeface="Meiryo" pitchFamily="34" charset="-120"/>
              </a:rPr>
              <a:t>iDeCo・投資</a:t>
            </a:r>
            <a:endParaRPr lang="en-US" sz="950" dirty="0"/>
          </a:p>
        </p:txBody>
      </p:sp>
      <p:sp>
        <p:nvSpPr>
          <p:cNvPr id="41" name="Text 32"/>
          <p:cNvSpPr txBox="1"/>
          <p:nvPr/>
        </p:nvSpPr>
        <p:spPr>
          <a:xfrm>
            <a:off x="6355080" y="3383280"/>
            <a:ext cx="2240280" cy="237744"/>
          </a:xfrm>
          <a:prstGeom prst="rect">
            <a:avLst/>
          </a:prstGeom>
          <a:noFill/>
          <a:ln/>
        </p:spPr>
        <p:txBody>
          <a:bodyPr wrap="square" lIns="0" tIns="0" rIns="0" bIns="0" rtlCol="0" anchor="ctr"/>
          <a:lstStyle/>
          <a:p>
            <a:pPr indent="0" marL="0">
              <a:buNone/>
            </a:pPr>
            <a:r>
              <a:rPr lang="en-US" sz="1000" b="1" dirty="0">
                <a:solidFill>
                  <a:srgbClr val="1E2A30"/>
                </a:solidFill>
                <a:latin typeface="Meiryo" pitchFamily="34" charset="0"/>
                <a:ea typeface="Meiryo" pitchFamily="34" charset="-122"/>
                <a:cs typeface="Meiryo" pitchFamily="34" charset="-120"/>
              </a:rPr>
              <a:t>なし</a:t>
            </a:r>
            <a:endParaRPr lang="en-US" sz="1000" dirty="0"/>
          </a:p>
        </p:txBody>
      </p:sp>
      <p:sp>
        <p:nvSpPr>
          <p:cNvPr id="42" name="Text 33"/>
          <p:cNvSpPr txBox="1"/>
          <p:nvPr/>
        </p:nvSpPr>
        <p:spPr>
          <a:xfrm>
            <a:off x="5029200" y="3621024"/>
            <a:ext cx="1325880" cy="237744"/>
          </a:xfrm>
          <a:prstGeom prst="rect">
            <a:avLst/>
          </a:prstGeom>
          <a:noFill/>
          <a:ln/>
        </p:spPr>
        <p:txBody>
          <a:bodyPr wrap="square" lIns="0" tIns="0" rIns="0" bIns="0" rtlCol="0" anchor="ctr"/>
          <a:lstStyle/>
          <a:p>
            <a:pPr indent="0" marL="0">
              <a:buNone/>
            </a:pPr>
            <a:r>
              <a:rPr lang="en-US" sz="950" dirty="0">
                <a:solidFill>
                  <a:srgbClr val="5B6870"/>
                </a:solidFill>
                <a:latin typeface="Meiryo" pitchFamily="34" charset="0"/>
                <a:ea typeface="Meiryo" pitchFamily="34" charset="-122"/>
                <a:cs typeface="Meiryo" pitchFamily="34" charset="-120"/>
              </a:rPr>
              <a:t>決める方</a:t>
            </a:r>
            <a:endParaRPr lang="en-US" sz="950" dirty="0"/>
          </a:p>
        </p:txBody>
      </p:sp>
      <p:sp>
        <p:nvSpPr>
          <p:cNvPr id="43" name="Text 34"/>
          <p:cNvSpPr txBox="1"/>
          <p:nvPr/>
        </p:nvSpPr>
        <p:spPr>
          <a:xfrm>
            <a:off x="6355080" y="3621024"/>
            <a:ext cx="2240280" cy="237744"/>
          </a:xfrm>
          <a:prstGeom prst="rect">
            <a:avLst/>
          </a:prstGeom>
          <a:noFill/>
          <a:ln/>
        </p:spPr>
        <p:txBody>
          <a:bodyPr wrap="square" lIns="0" tIns="0" rIns="0" bIns="0" rtlCol="0" anchor="ctr"/>
          <a:lstStyle/>
          <a:p>
            <a:pPr indent="0" marL="0">
              <a:buNone/>
            </a:pPr>
            <a:r>
              <a:rPr lang="en-US" sz="1000" b="1" dirty="0">
                <a:solidFill>
                  <a:srgbClr val="1E2A30"/>
                </a:solidFill>
                <a:latin typeface="Meiryo" pitchFamily="34" charset="0"/>
                <a:ea typeface="Meiryo" pitchFamily="34" charset="-122"/>
                <a:cs typeface="Meiryo" pitchFamily="34" charset="-120"/>
              </a:rPr>
              <a:t>代表ご本人</a:t>
            </a:r>
            <a:endParaRPr lang="en-US" sz="1000" dirty="0"/>
          </a:p>
        </p:txBody>
      </p:sp>
      <p:sp>
        <p:nvSpPr>
          <p:cNvPr id="44" name="Text 35"/>
          <p:cNvSpPr txBox="1"/>
          <p:nvPr/>
        </p:nvSpPr>
        <p:spPr>
          <a:xfrm>
            <a:off x="5029200" y="3858768"/>
            <a:ext cx="1325880" cy="237744"/>
          </a:xfrm>
          <a:prstGeom prst="rect">
            <a:avLst/>
          </a:prstGeom>
          <a:noFill/>
          <a:ln/>
        </p:spPr>
        <p:txBody>
          <a:bodyPr wrap="square" lIns="0" tIns="0" rIns="0" bIns="0" rtlCol="0" anchor="ctr"/>
          <a:lstStyle/>
          <a:p>
            <a:pPr indent="0" marL="0">
              <a:buNone/>
            </a:pPr>
            <a:r>
              <a:rPr lang="en-US" sz="950" dirty="0">
                <a:solidFill>
                  <a:srgbClr val="5B6870"/>
                </a:solidFill>
                <a:latin typeface="Meiryo" pitchFamily="34" charset="0"/>
                <a:ea typeface="Meiryo" pitchFamily="34" charset="-122"/>
                <a:cs typeface="Meiryo" pitchFamily="34" charset="-120"/>
              </a:rPr>
              <a:t>メール（復唱済）</a:t>
            </a:r>
            <a:endParaRPr lang="en-US" sz="950" dirty="0"/>
          </a:p>
        </p:txBody>
      </p:sp>
      <p:sp>
        <p:nvSpPr>
          <p:cNvPr id="45" name="Text 36"/>
          <p:cNvSpPr txBox="1"/>
          <p:nvPr/>
        </p:nvSpPr>
        <p:spPr>
          <a:xfrm>
            <a:off x="6355080" y="3858768"/>
            <a:ext cx="2240280" cy="237744"/>
          </a:xfrm>
          <a:prstGeom prst="rect">
            <a:avLst/>
          </a:prstGeom>
          <a:noFill/>
          <a:ln/>
        </p:spPr>
        <p:txBody>
          <a:bodyPr wrap="square" lIns="0" tIns="0" rIns="0" bIns="0" rtlCol="0" anchor="ctr"/>
          <a:lstStyle/>
          <a:p>
            <a:pPr indent="0" marL="0">
              <a:buNone/>
            </a:pPr>
            <a:r>
              <a:rPr lang="en-US" sz="1000" b="1" dirty="0">
                <a:solidFill>
                  <a:srgbClr val="1E2A30"/>
                </a:solidFill>
                <a:latin typeface="Meiryo" pitchFamily="34" charset="0"/>
                <a:ea typeface="Meiryo" pitchFamily="34" charset="-122"/>
                <a:cs typeface="Meiryo" pitchFamily="34" charset="-120"/>
              </a:rPr>
              <a:t>nakamura@example.co.jp</a:t>
            </a:r>
            <a:endParaRPr lang="en-US" sz="1000" dirty="0"/>
          </a:p>
        </p:txBody>
      </p:sp>
      <p:sp>
        <p:nvSpPr>
          <p:cNvPr id="46" name="Text 37"/>
          <p:cNvSpPr txBox="1"/>
          <p:nvPr/>
        </p:nvSpPr>
        <p:spPr>
          <a:xfrm>
            <a:off x="5029200" y="4096512"/>
            <a:ext cx="1325880" cy="237744"/>
          </a:xfrm>
          <a:prstGeom prst="rect">
            <a:avLst/>
          </a:prstGeom>
          <a:noFill/>
          <a:ln/>
        </p:spPr>
        <p:txBody>
          <a:bodyPr wrap="square" lIns="0" tIns="0" rIns="0" bIns="0" rtlCol="0" anchor="ctr"/>
          <a:lstStyle/>
          <a:p>
            <a:pPr indent="0" marL="0">
              <a:buNone/>
            </a:pPr>
            <a:r>
              <a:rPr lang="en-US" sz="950" dirty="0">
                <a:solidFill>
                  <a:srgbClr val="5B6870"/>
                </a:solidFill>
                <a:latin typeface="Meiryo" pitchFamily="34" charset="0"/>
                <a:ea typeface="Meiryo" pitchFamily="34" charset="-122"/>
                <a:cs typeface="Meiryo" pitchFamily="34" charset="-120"/>
              </a:rPr>
              <a:t>前日連絡</a:t>
            </a:r>
            <a:endParaRPr lang="en-US" sz="950" dirty="0"/>
          </a:p>
        </p:txBody>
      </p:sp>
      <p:sp>
        <p:nvSpPr>
          <p:cNvPr id="47" name="Text 38"/>
          <p:cNvSpPr txBox="1"/>
          <p:nvPr/>
        </p:nvSpPr>
        <p:spPr>
          <a:xfrm>
            <a:off x="6355080" y="4096512"/>
            <a:ext cx="2240280" cy="237744"/>
          </a:xfrm>
          <a:prstGeom prst="rect">
            <a:avLst/>
          </a:prstGeom>
          <a:noFill/>
          <a:ln/>
        </p:spPr>
        <p:txBody>
          <a:bodyPr wrap="square" lIns="0" tIns="0" rIns="0" bIns="0" rtlCol="0" anchor="ctr"/>
          <a:lstStyle/>
          <a:p>
            <a:pPr indent="0" marL="0">
              <a:buNone/>
            </a:pPr>
            <a:r>
              <a:rPr lang="en-US" sz="1000" b="1" dirty="0">
                <a:solidFill>
                  <a:srgbClr val="1E2A30"/>
                </a:solidFill>
                <a:latin typeface="Meiryo" pitchFamily="34" charset="0"/>
                <a:ea typeface="Meiryo" pitchFamily="34" charset="-122"/>
                <a:cs typeface="Meiryo" pitchFamily="34" charset="-120"/>
              </a:rPr>
              <a:t>090-1234-5678・午前中</a:t>
            </a:r>
            <a:endParaRPr lang="en-US" sz="1000" dirty="0"/>
          </a:p>
        </p:txBody>
      </p:sp>
      <p:sp>
        <p:nvSpPr>
          <p:cNvPr id="48" name="Text 39"/>
          <p:cNvSpPr txBox="1"/>
          <p:nvPr/>
        </p:nvSpPr>
        <p:spPr>
          <a:xfrm>
            <a:off x="5029200" y="4361688"/>
            <a:ext cx="3474720" cy="219456"/>
          </a:xfrm>
          <a:prstGeom prst="rect">
            <a:avLst/>
          </a:prstGeom>
          <a:noFill/>
          <a:ln/>
        </p:spPr>
        <p:txBody>
          <a:bodyPr wrap="square" lIns="0" tIns="0" rIns="0" bIns="0" rtlCol="0" anchor="t"/>
          <a:lstStyle/>
          <a:p>
            <a:pPr indent="0" marL="0">
              <a:buNone/>
            </a:pPr>
            <a:r>
              <a:rPr lang="en-US" sz="900" dirty="0">
                <a:solidFill>
                  <a:srgbClr val="5B6870"/>
                </a:solidFill>
                <a:latin typeface="Meiryo" pitchFamily="34" charset="0"/>
                <a:ea typeface="Meiryo" pitchFamily="34" charset="-122"/>
                <a:cs typeface="Meiryo" pitchFamily="34" charset="-120"/>
              </a:rPr>
              <a:t>※ 架空の会社です。内容は架電履歴に自動保存されます</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685800" cy="256032"/>
          </a:xfrm>
          <a:prstGeom prst="roundRect">
            <a:avLst>
              <a:gd name="adj" fmla="val 50000"/>
            </a:avLst>
          </a:prstGeom>
          <a:solidFill>
            <a:srgbClr val="E3F3F2"/>
          </a:solidFill>
          <a:ln w="9525">
            <a:solidFill>
              <a:srgbClr val="E3F3F2"/>
            </a:solidFill>
            <a:prstDash val="solid"/>
          </a:ln>
        </p:spPr>
      </p:sp>
      <p:sp>
        <p:nvSpPr>
          <p:cNvPr id="3" name="Text 1"/>
          <p:cNvSpPr txBox="1"/>
          <p:nvPr/>
        </p:nvSpPr>
        <p:spPr>
          <a:xfrm>
            <a:off x="457200" y="310896"/>
            <a:ext cx="685800" cy="256032"/>
          </a:xfrm>
          <a:prstGeom prst="rect">
            <a:avLst/>
          </a:prstGeom>
          <a:noFill/>
          <a:ln/>
        </p:spPr>
        <p:txBody>
          <a:bodyPr wrap="square" lIns="0" tIns="0" rIns="0" bIns="0" rtlCol="0" anchor="ctr"/>
          <a:lstStyle/>
          <a:p>
            <a:pPr algn="ctr" indent="0" marL="0">
              <a:buNone/>
            </a:pPr>
            <a:r>
              <a:rPr lang="en-US" sz="1000" b="1" dirty="0">
                <a:solidFill>
                  <a:srgbClr val="0B6E6E"/>
                </a:solidFill>
                <a:latin typeface="Meiryo" pitchFamily="34" charset="0"/>
                <a:ea typeface="Meiryo" pitchFamily="34" charset="-122"/>
                <a:cs typeface="Meiryo" pitchFamily="34" charset="-120"/>
              </a:rPr>
              <a:t>使い方</a:t>
            </a:r>
            <a:endParaRPr lang="en-US" sz="1000" dirty="0"/>
          </a:p>
        </p:txBody>
      </p:sp>
      <p:sp>
        <p:nvSpPr>
          <p:cNvPr id="4" name="Text 2"/>
          <p:cNvSpPr txBox="1"/>
          <p:nvPr/>
        </p:nvSpPr>
        <p:spPr>
          <a:xfrm>
            <a:off x="457200" y="603504"/>
            <a:ext cx="8229600" cy="502920"/>
          </a:xfrm>
          <a:prstGeom prst="rect">
            <a:avLst/>
          </a:prstGeom>
          <a:noFill/>
          <a:ln/>
        </p:spPr>
        <p:txBody>
          <a:bodyPr wrap="square" lIns="0" tIns="0" rIns="0" bIns="0" rtlCol="0" anchor="ctr"/>
          <a:lstStyle/>
          <a:p>
            <a:pPr indent="0" marL="0">
              <a:buNone/>
            </a:pPr>
            <a:r>
              <a:rPr lang="en-US" sz="2400" b="1" dirty="0">
                <a:solidFill>
                  <a:srgbClr val="1E2A30"/>
                </a:solidFill>
                <a:latin typeface="Meiryo" pitchFamily="34" charset="0"/>
                <a:ea typeface="Meiryo" pitchFamily="34" charset="-122"/>
                <a:cs typeface="Meiryo" pitchFamily="34" charset="-120"/>
              </a:rPr>
              <a:t>終わった通話は「架電履歴」で見返せる</a:t>
            </a:r>
            <a:endParaRPr lang="en-US" sz="2400" dirty="0"/>
          </a:p>
        </p:txBody>
      </p:sp>
      <p:sp>
        <p:nvSpPr>
          <p:cNvPr id="5" name="Text 3"/>
          <p:cNvSpPr txBox="1"/>
          <p:nvPr/>
        </p:nvSpPr>
        <p:spPr>
          <a:xfrm>
            <a:off x="7955280" y="4773168"/>
            <a:ext cx="731520" cy="228600"/>
          </a:xfrm>
          <a:prstGeom prst="rect">
            <a:avLst/>
          </a:prstGeom>
          <a:noFill/>
          <a:ln/>
        </p:spPr>
        <p:txBody>
          <a:bodyPr wrap="square" lIns="0" tIns="0" rIns="0" bIns="0" rtlCol="0" anchor="t"/>
          <a:lstStyle/>
          <a:p>
            <a:pPr algn="r" indent="0" marL="0">
              <a:buNone/>
            </a:pPr>
            <a:r>
              <a:rPr lang="en-US" sz="900" dirty="0">
                <a:solidFill>
                  <a:srgbClr val="5B6870"/>
                </a:solidFill>
                <a:latin typeface="Meiryo" pitchFamily="34" charset="0"/>
                <a:ea typeface="Meiryo" pitchFamily="34" charset="-122"/>
                <a:cs typeface="Meiryo" pitchFamily="34" charset="-120"/>
              </a:rPr>
              <a:t>15 / 17</a:t>
            </a:r>
            <a:endParaRPr lang="en-US" sz="900" dirty="0"/>
          </a:p>
        </p:txBody>
      </p:sp>
      <p:pic>
        <p:nvPicPr>
          <p:cNvPr id="6" name="Image 0" descr="preencoded.png">    </p:cNvPr>
          <p:cNvPicPr>
            <a:picLocks noChangeAspect="1"/>
          </p:cNvPicPr>
          <p:nvPr/>
        </p:nvPicPr>
        <p:blipFill>
          <a:blip r:embed="rId1"/>
          <a:stretch>
            <a:fillRect/>
          </a:stretch>
        </p:blipFill>
        <p:spPr>
          <a:xfrm>
            <a:off x="457200" y="1234440"/>
            <a:ext cx="4754880" cy="1568450"/>
          </a:xfrm>
          <a:prstGeom prst="rect">
            <a:avLst/>
          </a:prstGeom>
        </p:spPr>
      </p:pic>
      <p:sp>
        <p:nvSpPr>
          <p:cNvPr id="7" name="Shape 4"/>
          <p:cNvSpPr/>
          <p:nvPr/>
        </p:nvSpPr>
        <p:spPr>
          <a:xfrm>
            <a:off x="457200" y="1234440"/>
            <a:ext cx="4754880" cy="1568450"/>
          </a:xfrm>
          <a:prstGeom prst="rect">
            <a:avLst/>
          </a:prstGeom>
          <a:ln w="9525">
            <a:solidFill>
              <a:srgbClr val="D5DDE0"/>
            </a:solidFill>
            <a:prstDash val="solid"/>
          </a:ln>
        </p:spPr>
      </p:sp>
      <p:sp>
        <p:nvSpPr>
          <p:cNvPr id="8" name="Shape 5"/>
          <p:cNvSpPr/>
          <p:nvPr/>
        </p:nvSpPr>
        <p:spPr>
          <a:xfrm>
            <a:off x="457200" y="2848610"/>
            <a:ext cx="274320" cy="274320"/>
          </a:xfrm>
          <a:prstGeom prst="ellipse">
            <a:avLst/>
          </a:prstGeom>
          <a:solidFill>
            <a:srgbClr val="D98A1E"/>
          </a:solidFill>
          <a:ln w="19050">
            <a:solidFill>
              <a:srgbClr val="FFFFFF"/>
            </a:solidFill>
            <a:prstDash val="solid"/>
          </a:ln>
        </p:spPr>
      </p:sp>
      <p:sp>
        <p:nvSpPr>
          <p:cNvPr id="9" name="Text 6"/>
          <p:cNvSpPr txBox="1"/>
          <p:nvPr/>
        </p:nvSpPr>
        <p:spPr>
          <a:xfrm>
            <a:off x="457200" y="284861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1</a:t>
            </a:r>
            <a:endParaRPr lang="en-US" sz="1100" dirty="0"/>
          </a:p>
        </p:txBody>
      </p:sp>
      <p:sp>
        <p:nvSpPr>
          <p:cNvPr id="10" name="Text 7"/>
          <p:cNvSpPr txBox="1"/>
          <p:nvPr/>
        </p:nvSpPr>
        <p:spPr>
          <a:xfrm>
            <a:off x="822960" y="2848610"/>
            <a:ext cx="4389120" cy="274320"/>
          </a:xfrm>
          <a:prstGeom prst="rect">
            <a:avLst/>
          </a:prstGeom>
          <a:noFill/>
          <a:ln/>
        </p:spPr>
        <p:txBody>
          <a:bodyPr wrap="square" lIns="0" tIns="0" rIns="0" bIns="0" rtlCol="0" anchor="ctr"/>
          <a:lstStyle/>
          <a:p>
            <a:pPr indent="0" marL="0">
              <a:buNone/>
            </a:pPr>
            <a:r>
              <a:rPr lang="en-US" sz="1000" dirty="0">
                <a:solidFill>
                  <a:srgbClr val="1E2A30"/>
                </a:solidFill>
                <a:latin typeface="Meiryo" pitchFamily="34" charset="0"/>
                <a:ea typeface="Meiryo" pitchFamily="34" charset="-122"/>
                <a:cs typeface="Meiryo" pitchFamily="34" charset="-120"/>
              </a:rPr>
              <a:t>通話が終わると一覧に自動で追加（日時・企業名・結果・通話時間）</a:t>
            </a:r>
            <a:endParaRPr lang="en-US" sz="1000" dirty="0"/>
          </a:p>
        </p:txBody>
      </p:sp>
      <p:sp>
        <p:nvSpPr>
          <p:cNvPr id="11" name="Shape 8"/>
          <p:cNvSpPr/>
          <p:nvPr/>
        </p:nvSpPr>
        <p:spPr>
          <a:xfrm>
            <a:off x="457200" y="3260090"/>
            <a:ext cx="4754880" cy="1385062"/>
          </a:xfrm>
          <a:prstGeom prst="roundRect">
            <a:avLst>
              <a:gd name="adj" fmla="val 5281"/>
            </a:avLst>
          </a:prstGeom>
          <a:solidFill>
            <a:srgbClr val="F3F6F7"/>
          </a:solidFill>
          <a:ln w="9525">
            <a:solidFill>
              <a:srgbClr val="F3F6F7"/>
            </a:solidFill>
            <a:prstDash val="solid"/>
          </a:ln>
        </p:spPr>
      </p:sp>
      <p:pic>
        <p:nvPicPr>
          <p:cNvPr id="12" name="Image 1" descr="preencoded.png">    </p:cNvPr>
          <p:cNvPicPr>
            <a:picLocks noChangeAspect="1"/>
          </p:cNvPicPr>
          <p:nvPr/>
        </p:nvPicPr>
        <p:blipFill>
          <a:blip r:embed="rId2"/>
          <a:stretch>
            <a:fillRect/>
          </a:stretch>
        </p:blipFill>
        <p:spPr>
          <a:xfrm>
            <a:off x="640080" y="3369818"/>
            <a:ext cx="237744" cy="237744"/>
          </a:xfrm>
          <a:prstGeom prst="rect">
            <a:avLst/>
          </a:prstGeom>
        </p:spPr>
      </p:pic>
      <p:sp>
        <p:nvSpPr>
          <p:cNvPr id="13" name="Text 9"/>
          <p:cNvSpPr txBox="1"/>
          <p:nvPr/>
        </p:nvSpPr>
        <p:spPr>
          <a:xfrm>
            <a:off x="969264" y="3324098"/>
            <a:ext cx="4114800" cy="329184"/>
          </a:xfrm>
          <a:prstGeom prst="rect">
            <a:avLst/>
          </a:prstGeom>
          <a:noFill/>
          <a:ln/>
        </p:spPr>
        <p:txBody>
          <a:bodyPr wrap="square" lIns="0" tIns="0" rIns="0" bIns="0" rtlCol="0" anchor="ctr"/>
          <a:lstStyle/>
          <a:p>
            <a:pPr indent="0" marL="0">
              <a:buNone/>
            </a:pPr>
            <a:r>
              <a:rPr lang="en-US" sz="1200" b="1" dirty="0">
                <a:solidFill>
                  <a:srgbClr val="1E2A30"/>
                </a:solidFill>
                <a:latin typeface="Meiryo" pitchFamily="34" charset="0"/>
                <a:ea typeface="Meiryo" pitchFamily="34" charset="-122"/>
                <a:cs typeface="Meiryo" pitchFamily="34" charset="-120"/>
              </a:rPr>
              <a:t>保存先は「このパソコンのブラウザの中」</a:t>
            </a:r>
            <a:endParaRPr lang="en-US" sz="1200" dirty="0"/>
          </a:p>
        </p:txBody>
      </p:sp>
      <p:sp>
        <p:nvSpPr>
          <p:cNvPr id="14" name="Text 10"/>
          <p:cNvSpPr txBox="1"/>
          <p:nvPr/>
        </p:nvSpPr>
        <p:spPr>
          <a:xfrm>
            <a:off x="658368" y="3689858"/>
            <a:ext cx="4480560" cy="237744"/>
          </a:xfrm>
          <a:prstGeom prst="rect">
            <a:avLst/>
          </a:prstGeom>
          <a:noFill/>
          <a:ln/>
        </p:spPr>
        <p:txBody>
          <a:bodyPr wrap="square" lIns="0" tIns="0" rIns="0" bIns="0" rtlCol="0" anchor="ctr"/>
          <a:lstStyle/>
          <a:p>
            <a:pPr indent="0" marL="0">
              <a:buNone/>
            </a:pPr>
            <a:r>
              <a:rPr lang="en-US" sz="1000" dirty="0">
                <a:solidFill>
                  <a:srgbClr val="1E2A30"/>
                </a:solidFill>
                <a:latin typeface="Meiryo" pitchFamily="34" charset="0"/>
                <a:ea typeface="Meiryo" pitchFamily="34" charset="-122"/>
                <a:cs typeface="Meiryo" pitchFamily="34" charset="-120"/>
              </a:rPr>
              <a:t>・サーバーには送りません。ページを開き直しても消えません</a:t>
            </a:r>
            <a:endParaRPr lang="en-US" sz="1000" dirty="0"/>
          </a:p>
        </p:txBody>
      </p:sp>
      <p:sp>
        <p:nvSpPr>
          <p:cNvPr id="15" name="Text 11"/>
          <p:cNvSpPr txBox="1"/>
          <p:nvPr/>
        </p:nvSpPr>
        <p:spPr>
          <a:xfrm>
            <a:off x="658368" y="3945890"/>
            <a:ext cx="4480560" cy="237744"/>
          </a:xfrm>
          <a:prstGeom prst="rect">
            <a:avLst/>
          </a:prstGeom>
          <a:noFill/>
          <a:ln/>
        </p:spPr>
        <p:txBody>
          <a:bodyPr wrap="square" lIns="0" tIns="0" rIns="0" bIns="0" rtlCol="0" anchor="ctr"/>
          <a:lstStyle/>
          <a:p>
            <a:pPr indent="0" marL="0">
              <a:buNone/>
            </a:pPr>
            <a:r>
              <a:rPr lang="en-US" sz="1000" dirty="0">
                <a:solidFill>
                  <a:srgbClr val="1E2A30"/>
                </a:solidFill>
                <a:latin typeface="Meiryo" pitchFamily="34" charset="0"/>
                <a:ea typeface="Meiryo" pitchFamily="34" charset="-122"/>
                <a:cs typeface="Meiryo" pitchFamily="34" charset="-120"/>
              </a:rPr>
              <a:t>・別のパソコンやブラウザとは共有されません</a:t>
            </a:r>
            <a:endParaRPr lang="en-US" sz="1000" dirty="0"/>
          </a:p>
        </p:txBody>
      </p:sp>
      <p:sp>
        <p:nvSpPr>
          <p:cNvPr id="16" name="Text 12"/>
          <p:cNvSpPr txBox="1"/>
          <p:nvPr/>
        </p:nvSpPr>
        <p:spPr>
          <a:xfrm>
            <a:off x="658368" y="4201922"/>
            <a:ext cx="4480560" cy="237744"/>
          </a:xfrm>
          <a:prstGeom prst="rect">
            <a:avLst/>
          </a:prstGeom>
          <a:noFill/>
          <a:ln/>
        </p:spPr>
        <p:txBody>
          <a:bodyPr wrap="square" lIns="0" tIns="0" rIns="0" bIns="0" rtlCol="0" anchor="ctr"/>
          <a:lstStyle/>
          <a:p>
            <a:pPr indent="0" marL="0">
              <a:buNone/>
            </a:pPr>
            <a:r>
              <a:rPr lang="en-US" sz="1000" dirty="0">
                <a:solidFill>
                  <a:srgbClr val="1E2A30"/>
                </a:solidFill>
                <a:latin typeface="Meiryo" pitchFamily="34" charset="0"/>
                <a:ea typeface="Meiryo" pitchFamily="34" charset="-122"/>
                <a:cs typeface="Meiryo" pitchFamily="34" charset="-120"/>
              </a:rPr>
              <a:t>・最大200件。途中で「リセット」した通話は記録しません</a:t>
            </a:r>
            <a:endParaRPr lang="en-US" sz="1000" dirty="0"/>
          </a:p>
        </p:txBody>
      </p:sp>
      <p:pic>
        <p:nvPicPr>
          <p:cNvPr id="17" name="Image 2" descr="preencoded.png">    </p:cNvPr>
          <p:cNvPicPr>
            <a:picLocks noChangeAspect="1"/>
          </p:cNvPicPr>
          <p:nvPr/>
        </p:nvPicPr>
        <p:blipFill>
          <a:blip r:embed="rId3"/>
          <a:stretch>
            <a:fillRect/>
          </a:stretch>
        </p:blipFill>
        <p:spPr>
          <a:xfrm>
            <a:off x="5532120" y="1234440"/>
            <a:ext cx="3154680" cy="3050680"/>
          </a:xfrm>
          <a:prstGeom prst="rect">
            <a:avLst/>
          </a:prstGeom>
        </p:spPr>
      </p:pic>
      <p:sp>
        <p:nvSpPr>
          <p:cNvPr id="18" name="Shape 13"/>
          <p:cNvSpPr/>
          <p:nvPr/>
        </p:nvSpPr>
        <p:spPr>
          <a:xfrm>
            <a:off x="5532120" y="1234440"/>
            <a:ext cx="3154680" cy="3050680"/>
          </a:xfrm>
          <a:prstGeom prst="rect">
            <a:avLst/>
          </a:prstGeom>
          <a:ln w="9525">
            <a:solidFill>
              <a:srgbClr val="D5DDE0"/>
            </a:solidFill>
            <a:prstDash val="solid"/>
          </a:ln>
        </p:spPr>
      </p:sp>
      <p:sp>
        <p:nvSpPr>
          <p:cNvPr id="19" name="Shape 14"/>
          <p:cNvSpPr/>
          <p:nvPr/>
        </p:nvSpPr>
        <p:spPr>
          <a:xfrm>
            <a:off x="5532120" y="4330840"/>
            <a:ext cx="274320" cy="274320"/>
          </a:xfrm>
          <a:prstGeom prst="ellipse">
            <a:avLst/>
          </a:prstGeom>
          <a:solidFill>
            <a:srgbClr val="D98A1E"/>
          </a:solidFill>
          <a:ln w="19050">
            <a:solidFill>
              <a:srgbClr val="FFFFFF"/>
            </a:solidFill>
            <a:prstDash val="solid"/>
          </a:ln>
        </p:spPr>
      </p:sp>
      <p:sp>
        <p:nvSpPr>
          <p:cNvPr id="20" name="Text 15"/>
          <p:cNvSpPr txBox="1"/>
          <p:nvPr/>
        </p:nvSpPr>
        <p:spPr>
          <a:xfrm>
            <a:off x="5532120" y="43308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2</a:t>
            </a:r>
            <a:endParaRPr lang="en-US" sz="1100" dirty="0"/>
          </a:p>
        </p:txBody>
      </p:sp>
      <p:sp>
        <p:nvSpPr>
          <p:cNvPr id="21" name="Text 16"/>
          <p:cNvSpPr txBox="1"/>
          <p:nvPr/>
        </p:nvSpPr>
        <p:spPr>
          <a:xfrm>
            <a:off x="5897880" y="4330840"/>
            <a:ext cx="2788920" cy="274320"/>
          </a:xfrm>
          <a:prstGeom prst="rect">
            <a:avLst/>
          </a:prstGeom>
          <a:noFill/>
          <a:ln/>
        </p:spPr>
        <p:txBody>
          <a:bodyPr wrap="square" lIns="0" tIns="0" rIns="0" bIns="0" rtlCol="0" anchor="ctr"/>
          <a:lstStyle/>
          <a:p>
            <a:pPr indent="0" marL="0">
              <a:buNone/>
            </a:pPr>
            <a:r>
              <a:rPr lang="en-US" sz="950" dirty="0">
                <a:solidFill>
                  <a:srgbClr val="1E2A30"/>
                </a:solidFill>
                <a:latin typeface="Meiryo" pitchFamily="34" charset="0"/>
                <a:ea typeface="Meiryo" pitchFamily="34" charset="-122"/>
                <a:cs typeface="Meiryo" pitchFamily="34" charset="-120"/>
              </a:rPr>
              <a:t>行を押すと詳細：判定・聞き取り・全文ログ</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10896"/>
            <a:ext cx="548640" cy="256032"/>
          </a:xfrm>
          <a:prstGeom prst="roundRect">
            <a:avLst>
              <a:gd name="adj" fmla="val 50000"/>
            </a:avLst>
          </a:prstGeom>
          <a:solidFill>
            <a:srgbClr val="E3F3F2"/>
          </a:solidFill>
          <a:ln w="9525">
            <a:solidFill>
              <a:srgbClr val="E3F3F2"/>
            </a:solidFill>
            <a:prstDash val="solid"/>
          </a:ln>
        </p:spPr>
      </p:sp>
      <p:sp>
        <p:nvSpPr>
          <p:cNvPr id="3" name="Text 1"/>
          <p:cNvSpPr txBox="1"/>
          <p:nvPr/>
        </p:nvSpPr>
        <p:spPr>
          <a:xfrm>
            <a:off x="457200" y="310896"/>
            <a:ext cx="548640" cy="256032"/>
          </a:xfrm>
          <a:prstGeom prst="rect">
            <a:avLst/>
          </a:prstGeom>
          <a:noFill/>
          <a:ln/>
        </p:spPr>
        <p:txBody>
          <a:bodyPr wrap="square" lIns="0" tIns="0" rIns="0" bIns="0" rtlCol="0" anchor="ctr"/>
          <a:lstStyle/>
          <a:p>
            <a:pPr algn="ctr" indent="0" marL="0">
              <a:buNone/>
            </a:pPr>
            <a:r>
              <a:rPr lang="en-US" sz="1000" b="1" dirty="0">
                <a:solidFill>
                  <a:srgbClr val="0B6E6E"/>
                </a:solidFill>
                <a:latin typeface="Meiryo" pitchFamily="34" charset="0"/>
                <a:ea typeface="Meiryo" pitchFamily="34" charset="-122"/>
                <a:cs typeface="Meiryo" pitchFamily="34" charset="-120"/>
              </a:rPr>
              <a:t>現状</a:t>
            </a:r>
            <a:endParaRPr lang="en-US" sz="1000" dirty="0"/>
          </a:p>
        </p:txBody>
      </p:sp>
      <p:sp>
        <p:nvSpPr>
          <p:cNvPr id="4" name="Text 2"/>
          <p:cNvSpPr txBox="1"/>
          <p:nvPr/>
        </p:nvSpPr>
        <p:spPr>
          <a:xfrm>
            <a:off x="457200" y="603504"/>
            <a:ext cx="8229600" cy="502920"/>
          </a:xfrm>
          <a:prstGeom prst="rect">
            <a:avLst/>
          </a:prstGeom>
          <a:noFill/>
          <a:ln/>
        </p:spPr>
        <p:txBody>
          <a:bodyPr wrap="square" lIns="0" tIns="0" rIns="0" bIns="0" rtlCol="0" anchor="ctr"/>
          <a:lstStyle/>
          <a:p>
            <a:pPr indent="0" marL="0">
              <a:buNone/>
            </a:pPr>
            <a:r>
              <a:rPr lang="en-US" sz="2400" b="1" dirty="0">
                <a:solidFill>
                  <a:srgbClr val="1E2A30"/>
                </a:solidFill>
                <a:latin typeface="Meiryo" pitchFamily="34" charset="0"/>
                <a:ea typeface="Meiryo" pitchFamily="34" charset="-122"/>
                <a:cs typeface="Meiryo" pitchFamily="34" charset="-120"/>
              </a:rPr>
              <a:t>現在の到達点と、これから</a:t>
            </a:r>
            <a:endParaRPr lang="en-US" sz="2400" dirty="0"/>
          </a:p>
        </p:txBody>
      </p:sp>
      <p:sp>
        <p:nvSpPr>
          <p:cNvPr id="5" name="Text 3"/>
          <p:cNvSpPr txBox="1"/>
          <p:nvPr/>
        </p:nvSpPr>
        <p:spPr>
          <a:xfrm>
            <a:off x="7955280" y="4773168"/>
            <a:ext cx="731520" cy="228600"/>
          </a:xfrm>
          <a:prstGeom prst="rect">
            <a:avLst/>
          </a:prstGeom>
          <a:noFill/>
          <a:ln/>
        </p:spPr>
        <p:txBody>
          <a:bodyPr wrap="square" lIns="0" tIns="0" rIns="0" bIns="0" rtlCol="0" anchor="t"/>
          <a:lstStyle/>
          <a:p>
            <a:pPr algn="r" indent="0" marL="0">
              <a:buNone/>
            </a:pPr>
            <a:r>
              <a:rPr lang="en-US" sz="900" dirty="0">
                <a:solidFill>
                  <a:srgbClr val="5B6870"/>
                </a:solidFill>
                <a:latin typeface="Meiryo" pitchFamily="34" charset="0"/>
                <a:ea typeface="Meiryo" pitchFamily="34" charset="-122"/>
                <a:cs typeface="Meiryo" pitchFamily="34" charset="-120"/>
              </a:rPr>
              <a:t>16 / 17</a:t>
            </a:r>
            <a:endParaRPr lang="en-US" sz="900" dirty="0"/>
          </a:p>
        </p:txBody>
      </p:sp>
      <p:sp>
        <p:nvSpPr>
          <p:cNvPr id="6" name="Shape 4"/>
          <p:cNvSpPr/>
          <p:nvPr/>
        </p:nvSpPr>
        <p:spPr>
          <a:xfrm>
            <a:off x="457200" y="1234440"/>
            <a:ext cx="2834640" cy="548640"/>
          </a:xfrm>
          <a:prstGeom prst="chevron">
            <a:avLst/>
          </a:prstGeom>
          <a:solidFill>
            <a:srgbClr val="0B6E6E"/>
          </a:solidFill>
          <a:ln w="12700">
            <a:solidFill>
              <a:srgbClr val="0B6E6E"/>
            </a:solidFill>
            <a:prstDash val="solid"/>
          </a:ln>
        </p:spPr>
      </p:sp>
      <p:sp>
        <p:nvSpPr>
          <p:cNvPr id="7" name="Text 5"/>
          <p:cNvSpPr txBox="1"/>
          <p:nvPr/>
        </p:nvSpPr>
        <p:spPr>
          <a:xfrm>
            <a:off x="777240" y="1234440"/>
            <a:ext cx="224028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いま：画面上のデモで体験</a:t>
            </a:r>
            <a:endParaRPr lang="en-US" sz="1100" dirty="0"/>
          </a:p>
        </p:txBody>
      </p:sp>
      <p:sp>
        <p:nvSpPr>
          <p:cNvPr id="8" name="Shape 6"/>
          <p:cNvSpPr/>
          <p:nvPr/>
        </p:nvSpPr>
        <p:spPr>
          <a:xfrm>
            <a:off x="3200400" y="1234440"/>
            <a:ext cx="2834640" cy="548640"/>
          </a:xfrm>
          <a:prstGeom prst="chevron">
            <a:avLst/>
          </a:prstGeom>
          <a:solidFill>
            <a:srgbClr val="E3F3F2"/>
          </a:solidFill>
          <a:ln w="12700">
            <a:solidFill>
              <a:srgbClr val="E3F3F2"/>
            </a:solidFill>
            <a:prstDash val="solid"/>
          </a:ln>
        </p:spPr>
      </p:sp>
      <p:sp>
        <p:nvSpPr>
          <p:cNvPr id="9" name="Text 7"/>
          <p:cNvSpPr txBox="1"/>
          <p:nvPr/>
        </p:nvSpPr>
        <p:spPr>
          <a:xfrm>
            <a:off x="3520440" y="1234440"/>
            <a:ext cx="2240280" cy="548640"/>
          </a:xfrm>
          <a:prstGeom prst="rect">
            <a:avLst/>
          </a:prstGeom>
          <a:noFill/>
          <a:ln/>
        </p:spPr>
        <p:txBody>
          <a:bodyPr wrap="square" lIns="0" tIns="0" rIns="0" bIns="0" rtlCol="0" anchor="ctr"/>
          <a:lstStyle/>
          <a:p>
            <a:pPr algn="ctr" indent="0" marL="0">
              <a:buNone/>
            </a:pPr>
            <a:r>
              <a:rPr lang="en-US" sz="1100" b="1" dirty="0">
                <a:solidFill>
                  <a:srgbClr val="0B5563"/>
                </a:solidFill>
                <a:latin typeface="Meiryo" pitchFamily="34" charset="0"/>
                <a:ea typeface="Meiryo" pitchFamily="34" charset="-122"/>
                <a:cs typeface="Meiryo" pitchFamily="34" charset="-120"/>
              </a:rPr>
              <a:t>次：実際の電話回線につなぐ</a:t>
            </a:r>
            <a:endParaRPr lang="en-US" sz="1100" dirty="0"/>
          </a:p>
        </p:txBody>
      </p:sp>
      <p:sp>
        <p:nvSpPr>
          <p:cNvPr id="10" name="Shape 8"/>
          <p:cNvSpPr/>
          <p:nvPr/>
        </p:nvSpPr>
        <p:spPr>
          <a:xfrm>
            <a:off x="5943600" y="1234440"/>
            <a:ext cx="2834640" cy="548640"/>
          </a:xfrm>
          <a:prstGeom prst="chevron">
            <a:avLst/>
          </a:prstGeom>
          <a:solidFill>
            <a:srgbClr val="E3F3F2"/>
          </a:solidFill>
          <a:ln w="12700">
            <a:solidFill>
              <a:srgbClr val="E3F3F2"/>
            </a:solidFill>
            <a:prstDash val="solid"/>
          </a:ln>
        </p:spPr>
      </p:sp>
      <p:sp>
        <p:nvSpPr>
          <p:cNvPr id="11" name="Text 9"/>
          <p:cNvSpPr txBox="1"/>
          <p:nvPr/>
        </p:nvSpPr>
        <p:spPr>
          <a:xfrm>
            <a:off x="6263640" y="1234440"/>
            <a:ext cx="2240280" cy="548640"/>
          </a:xfrm>
          <a:prstGeom prst="rect">
            <a:avLst/>
          </a:prstGeom>
          <a:noFill/>
          <a:ln/>
        </p:spPr>
        <p:txBody>
          <a:bodyPr wrap="square" lIns="0" tIns="0" rIns="0" bIns="0" rtlCol="0" anchor="ctr"/>
          <a:lstStyle/>
          <a:p>
            <a:pPr algn="ctr" indent="0" marL="0">
              <a:buNone/>
            </a:pPr>
            <a:r>
              <a:rPr lang="en-US" sz="1100" b="1" dirty="0">
                <a:solidFill>
                  <a:srgbClr val="0B5563"/>
                </a:solidFill>
                <a:latin typeface="Meiryo" pitchFamily="34" charset="0"/>
                <a:ea typeface="Meiryo" pitchFamily="34" charset="-122"/>
                <a:cs typeface="Meiryo" pitchFamily="34" charset="-120"/>
              </a:rPr>
              <a:t>その先：対応できる会話を広げる</a:t>
            </a:r>
            <a:endParaRPr lang="en-US" sz="1100" dirty="0"/>
          </a:p>
        </p:txBody>
      </p:sp>
      <p:sp>
        <p:nvSpPr>
          <p:cNvPr id="12" name="Shape 10"/>
          <p:cNvSpPr/>
          <p:nvPr/>
        </p:nvSpPr>
        <p:spPr>
          <a:xfrm>
            <a:off x="457200" y="1965960"/>
            <a:ext cx="4023360" cy="2697480"/>
          </a:xfrm>
          <a:prstGeom prst="roundRect">
            <a:avLst>
              <a:gd name="adj" fmla="val 2712"/>
            </a:avLst>
          </a:prstGeom>
          <a:solidFill>
            <a:srgbClr val="F3F6F7"/>
          </a:solidFill>
          <a:ln w="9525">
            <a:solidFill>
              <a:srgbClr val="F3F6F7"/>
            </a:solidFill>
            <a:prstDash val="solid"/>
          </a:ln>
        </p:spPr>
      </p:sp>
      <p:sp>
        <p:nvSpPr>
          <p:cNvPr id="13" name="Text 11"/>
          <p:cNvSpPr txBox="1"/>
          <p:nvPr/>
        </p:nvSpPr>
        <p:spPr>
          <a:xfrm>
            <a:off x="640080" y="2057400"/>
            <a:ext cx="3657600" cy="320040"/>
          </a:xfrm>
          <a:prstGeom prst="rect">
            <a:avLst/>
          </a:prstGeom>
          <a:noFill/>
          <a:ln/>
        </p:spPr>
        <p:txBody>
          <a:bodyPr wrap="square" lIns="0" tIns="0" rIns="0" bIns="0" rtlCol="0" anchor="t"/>
          <a:lstStyle/>
          <a:p>
            <a:pPr indent="0" marL="0">
              <a:buNone/>
            </a:pPr>
            <a:r>
              <a:rPr lang="en-US" sz="1300" b="1" dirty="0">
                <a:solidFill>
                  <a:srgbClr val="0B6E6E"/>
                </a:solidFill>
                <a:latin typeface="Meiryo" pitchFamily="34" charset="0"/>
                <a:ea typeface="Meiryo" pitchFamily="34" charset="-122"/>
                <a:cs typeface="Meiryo" pitchFamily="34" charset="-120"/>
              </a:rPr>
              <a:t>いまできること（デモ版）</a:t>
            </a:r>
            <a:endParaRPr lang="en-US" sz="1300" dirty="0"/>
          </a:p>
        </p:txBody>
      </p:sp>
      <p:pic>
        <p:nvPicPr>
          <p:cNvPr id="14" name="Image 0" descr="preencoded.png">    </p:cNvPr>
          <p:cNvPicPr>
            <a:picLocks noChangeAspect="1"/>
          </p:cNvPicPr>
          <p:nvPr/>
        </p:nvPicPr>
        <p:blipFill>
          <a:blip r:embed="rId1"/>
          <a:stretch>
            <a:fillRect/>
          </a:stretch>
        </p:blipFill>
        <p:spPr>
          <a:xfrm>
            <a:off x="640080" y="2523744"/>
            <a:ext cx="201168" cy="201168"/>
          </a:xfrm>
          <a:prstGeom prst="rect">
            <a:avLst/>
          </a:prstGeom>
        </p:spPr>
      </p:pic>
      <p:sp>
        <p:nvSpPr>
          <p:cNvPr id="15" name="Text 12"/>
          <p:cNvSpPr txBox="1"/>
          <p:nvPr/>
        </p:nvSpPr>
        <p:spPr>
          <a:xfrm>
            <a:off x="960120" y="2468880"/>
            <a:ext cx="3383280" cy="502920"/>
          </a:xfrm>
          <a:prstGeom prst="rect">
            <a:avLst/>
          </a:prstGeom>
          <a:noFill/>
          <a:ln/>
        </p:spPr>
        <p:txBody>
          <a:bodyPr wrap="square" lIns="0" tIns="0" rIns="0" bIns="0" rtlCol="0" anchor="t"/>
          <a:lstStyle/>
          <a:p>
            <a:pPr indent="0" marL="0">
              <a:buNone/>
            </a:pPr>
            <a:r>
              <a:rPr lang="en-US" sz="1050" dirty="0">
                <a:solidFill>
                  <a:srgbClr val="1E2A30"/>
                </a:solidFill>
                <a:latin typeface="Meiryo" pitchFamily="34" charset="0"/>
                <a:ea typeface="Meiryo" pitchFamily="34" charset="-122"/>
                <a:cs typeface="Meiryo" pitchFamily="34" charset="-120"/>
              </a:rPr>
              <a:t>パソコンの画面で、マイクに話しかけて AI と会話できる</a:t>
            </a:r>
            <a:endParaRPr lang="en-US" sz="1050" dirty="0"/>
          </a:p>
        </p:txBody>
      </p:sp>
      <p:pic>
        <p:nvPicPr>
          <p:cNvPr id="16" name="Image 1" descr="preencoded.png">    </p:cNvPr>
          <p:cNvPicPr>
            <a:picLocks noChangeAspect="1"/>
          </p:cNvPicPr>
          <p:nvPr/>
        </p:nvPicPr>
        <p:blipFill>
          <a:blip r:embed="rId2"/>
          <a:stretch>
            <a:fillRect/>
          </a:stretch>
        </p:blipFill>
        <p:spPr>
          <a:xfrm>
            <a:off x="640080" y="3054096"/>
            <a:ext cx="201168" cy="201168"/>
          </a:xfrm>
          <a:prstGeom prst="rect">
            <a:avLst/>
          </a:prstGeom>
        </p:spPr>
      </p:pic>
      <p:sp>
        <p:nvSpPr>
          <p:cNvPr id="17" name="Text 13"/>
          <p:cNvSpPr txBox="1"/>
          <p:nvPr/>
        </p:nvSpPr>
        <p:spPr>
          <a:xfrm>
            <a:off x="960120" y="2999232"/>
            <a:ext cx="3383280" cy="502920"/>
          </a:xfrm>
          <a:prstGeom prst="rect">
            <a:avLst/>
          </a:prstGeom>
          <a:noFill/>
          <a:ln/>
        </p:spPr>
        <p:txBody>
          <a:bodyPr wrap="square" lIns="0" tIns="0" rIns="0" bIns="0" rtlCol="0" anchor="t"/>
          <a:lstStyle/>
          <a:p>
            <a:pPr indent="0" marL="0">
              <a:buNone/>
            </a:pPr>
            <a:r>
              <a:rPr lang="en-US" sz="1050" dirty="0">
                <a:solidFill>
                  <a:srgbClr val="1E2A30"/>
                </a:solidFill>
                <a:latin typeface="Meiryo" pitchFamily="34" charset="0"/>
                <a:ea typeface="Meiryo" pitchFamily="34" charset="-122"/>
                <a:cs typeface="Meiryo" pitchFamily="34" charset="-120"/>
              </a:rPr>
              <a:t>台本と判断ルールにそって、用意した音声で毎回同じ品質で応答する</a:t>
            </a:r>
            <a:endParaRPr lang="en-US" sz="1050" dirty="0"/>
          </a:p>
        </p:txBody>
      </p:sp>
      <p:pic>
        <p:nvPicPr>
          <p:cNvPr id="18" name="Image 2" descr="preencoded.png">    </p:cNvPr>
          <p:cNvPicPr>
            <a:picLocks noChangeAspect="1"/>
          </p:cNvPicPr>
          <p:nvPr/>
        </p:nvPicPr>
        <p:blipFill>
          <a:blip r:embed="rId3"/>
          <a:stretch>
            <a:fillRect/>
          </a:stretch>
        </p:blipFill>
        <p:spPr>
          <a:xfrm>
            <a:off x="640080" y="3584448"/>
            <a:ext cx="201168" cy="201168"/>
          </a:xfrm>
          <a:prstGeom prst="rect">
            <a:avLst/>
          </a:prstGeom>
        </p:spPr>
      </p:pic>
      <p:sp>
        <p:nvSpPr>
          <p:cNvPr id="19" name="Text 14"/>
          <p:cNvSpPr txBox="1"/>
          <p:nvPr/>
        </p:nvSpPr>
        <p:spPr>
          <a:xfrm>
            <a:off x="960120" y="3529584"/>
            <a:ext cx="3383280" cy="502920"/>
          </a:xfrm>
          <a:prstGeom prst="rect">
            <a:avLst/>
          </a:prstGeom>
          <a:noFill/>
          <a:ln/>
        </p:spPr>
        <p:txBody>
          <a:bodyPr wrap="square" lIns="0" tIns="0" rIns="0" bIns="0" rtlCol="0" anchor="t"/>
          <a:lstStyle/>
          <a:p>
            <a:pPr indent="0" marL="0">
              <a:buNone/>
            </a:pPr>
            <a:r>
              <a:rPr lang="en-US" sz="1050" dirty="0">
                <a:solidFill>
                  <a:srgbClr val="1E2A30"/>
                </a:solidFill>
                <a:latin typeface="Meiryo" pitchFamily="34" charset="0"/>
                <a:ea typeface="Meiryo" pitchFamily="34" charset="-122"/>
                <a:cs typeface="Meiryo" pitchFamily="34" charset="-120"/>
              </a:rPr>
              <a:t>判断の理由と聞き取り状況が、その場で画面に見える</a:t>
            </a:r>
            <a:endParaRPr lang="en-US" sz="1050" dirty="0"/>
          </a:p>
        </p:txBody>
      </p:sp>
      <p:pic>
        <p:nvPicPr>
          <p:cNvPr id="20" name="Image 3" descr="preencoded.png">    </p:cNvPr>
          <p:cNvPicPr>
            <a:picLocks noChangeAspect="1"/>
          </p:cNvPicPr>
          <p:nvPr/>
        </p:nvPicPr>
        <p:blipFill>
          <a:blip r:embed="rId4"/>
          <a:stretch>
            <a:fillRect/>
          </a:stretch>
        </p:blipFill>
        <p:spPr>
          <a:xfrm>
            <a:off x="640080" y="4114800"/>
            <a:ext cx="201168" cy="201168"/>
          </a:xfrm>
          <a:prstGeom prst="rect">
            <a:avLst/>
          </a:prstGeom>
        </p:spPr>
      </p:pic>
      <p:sp>
        <p:nvSpPr>
          <p:cNvPr id="21" name="Text 15"/>
          <p:cNvSpPr txBox="1"/>
          <p:nvPr/>
        </p:nvSpPr>
        <p:spPr>
          <a:xfrm>
            <a:off x="960120" y="4059936"/>
            <a:ext cx="3383280" cy="502920"/>
          </a:xfrm>
          <a:prstGeom prst="rect">
            <a:avLst/>
          </a:prstGeom>
          <a:noFill/>
          <a:ln/>
        </p:spPr>
        <p:txBody>
          <a:bodyPr wrap="square" lIns="0" tIns="0" rIns="0" bIns="0" rtlCol="0" anchor="t"/>
          <a:lstStyle/>
          <a:p>
            <a:pPr indent="0" marL="0">
              <a:buNone/>
            </a:pPr>
            <a:r>
              <a:rPr lang="en-US" sz="1050" dirty="0">
                <a:solidFill>
                  <a:srgbClr val="1E2A30"/>
                </a:solidFill>
                <a:latin typeface="Meiryo" pitchFamily="34" charset="0"/>
                <a:ea typeface="Meiryo" pitchFamily="34" charset="-122"/>
                <a:cs typeface="Meiryo" pitchFamily="34" charset="-120"/>
              </a:rPr>
              <a:t>終わった通話は架電履歴に自動で保存し、あとから見返せる</a:t>
            </a:r>
            <a:endParaRPr lang="en-US" sz="1050" dirty="0"/>
          </a:p>
        </p:txBody>
      </p:sp>
      <p:sp>
        <p:nvSpPr>
          <p:cNvPr id="22" name="Shape 16"/>
          <p:cNvSpPr/>
          <p:nvPr/>
        </p:nvSpPr>
        <p:spPr>
          <a:xfrm>
            <a:off x="4663440" y="1965960"/>
            <a:ext cx="4023360" cy="2697480"/>
          </a:xfrm>
          <a:prstGeom prst="roundRect">
            <a:avLst>
              <a:gd name="adj" fmla="val 2712"/>
            </a:avLst>
          </a:prstGeom>
          <a:solidFill>
            <a:srgbClr val="FDF1DC"/>
          </a:solidFill>
          <a:ln w="9525">
            <a:solidFill>
              <a:srgbClr val="FDF1DC"/>
            </a:solidFill>
            <a:prstDash val="solid"/>
          </a:ln>
        </p:spPr>
      </p:sp>
      <p:sp>
        <p:nvSpPr>
          <p:cNvPr id="23" name="Text 17"/>
          <p:cNvSpPr txBox="1"/>
          <p:nvPr/>
        </p:nvSpPr>
        <p:spPr>
          <a:xfrm>
            <a:off x="4846320" y="2057400"/>
            <a:ext cx="3657600" cy="320040"/>
          </a:xfrm>
          <a:prstGeom prst="rect">
            <a:avLst/>
          </a:prstGeom>
          <a:noFill/>
          <a:ln/>
        </p:spPr>
        <p:txBody>
          <a:bodyPr wrap="square" lIns="0" tIns="0" rIns="0" bIns="0" rtlCol="0" anchor="t"/>
          <a:lstStyle/>
          <a:p>
            <a:pPr indent="0" marL="0">
              <a:buNone/>
            </a:pPr>
            <a:r>
              <a:rPr lang="en-US" sz="1300" b="1" dirty="0">
                <a:solidFill>
                  <a:srgbClr val="8A5A00"/>
                </a:solidFill>
                <a:latin typeface="Meiryo" pitchFamily="34" charset="0"/>
                <a:ea typeface="Meiryo" pitchFamily="34" charset="-122"/>
                <a:cs typeface="Meiryo" pitchFamily="34" charset="-120"/>
              </a:rPr>
              <a:t>これから取り組むこと</a:t>
            </a:r>
            <a:endParaRPr lang="en-US" sz="1300" dirty="0"/>
          </a:p>
        </p:txBody>
      </p:sp>
      <p:pic>
        <p:nvPicPr>
          <p:cNvPr id="24" name="Image 4" descr="preencoded.png">    </p:cNvPr>
          <p:cNvPicPr>
            <a:picLocks noChangeAspect="1"/>
          </p:cNvPicPr>
          <p:nvPr/>
        </p:nvPicPr>
        <p:blipFill>
          <a:blip r:embed="rId5"/>
          <a:stretch>
            <a:fillRect/>
          </a:stretch>
        </p:blipFill>
        <p:spPr>
          <a:xfrm>
            <a:off x="4846320" y="2523744"/>
            <a:ext cx="201168" cy="201168"/>
          </a:xfrm>
          <a:prstGeom prst="rect">
            <a:avLst/>
          </a:prstGeom>
        </p:spPr>
      </p:pic>
      <p:sp>
        <p:nvSpPr>
          <p:cNvPr id="25" name="Text 18"/>
          <p:cNvSpPr txBox="1"/>
          <p:nvPr/>
        </p:nvSpPr>
        <p:spPr>
          <a:xfrm>
            <a:off x="5166360" y="2468880"/>
            <a:ext cx="3383280" cy="502920"/>
          </a:xfrm>
          <a:prstGeom prst="rect">
            <a:avLst/>
          </a:prstGeom>
          <a:noFill/>
          <a:ln/>
        </p:spPr>
        <p:txBody>
          <a:bodyPr wrap="square" lIns="0" tIns="0" rIns="0" bIns="0" rtlCol="0" anchor="t"/>
          <a:lstStyle/>
          <a:p>
            <a:pPr indent="0" marL="0">
              <a:buNone/>
            </a:pPr>
            <a:r>
              <a:rPr lang="en-US" sz="1050" dirty="0">
                <a:solidFill>
                  <a:srgbClr val="1E2A30"/>
                </a:solidFill>
                <a:latin typeface="Meiryo" pitchFamily="34" charset="0"/>
                <a:ea typeface="Meiryo" pitchFamily="34" charset="-122"/>
                <a:cs typeface="Meiryo" pitchFamily="34" charset="-120"/>
              </a:rPr>
              <a:t>実際の電話回線とつないで、本物の電話で試す</a:t>
            </a:r>
            <a:endParaRPr lang="en-US" sz="1050" dirty="0"/>
          </a:p>
        </p:txBody>
      </p:sp>
      <p:pic>
        <p:nvPicPr>
          <p:cNvPr id="26" name="Image 5" descr="preencoded.png">    </p:cNvPr>
          <p:cNvPicPr>
            <a:picLocks noChangeAspect="1"/>
          </p:cNvPicPr>
          <p:nvPr/>
        </p:nvPicPr>
        <p:blipFill>
          <a:blip r:embed="rId6"/>
          <a:stretch>
            <a:fillRect/>
          </a:stretch>
        </p:blipFill>
        <p:spPr>
          <a:xfrm>
            <a:off x="4846320" y="3054096"/>
            <a:ext cx="201168" cy="201168"/>
          </a:xfrm>
          <a:prstGeom prst="rect">
            <a:avLst/>
          </a:prstGeom>
        </p:spPr>
      </p:pic>
      <p:sp>
        <p:nvSpPr>
          <p:cNvPr id="27" name="Text 19"/>
          <p:cNvSpPr txBox="1"/>
          <p:nvPr/>
        </p:nvSpPr>
        <p:spPr>
          <a:xfrm>
            <a:off x="5166360" y="2999232"/>
            <a:ext cx="3383280" cy="502920"/>
          </a:xfrm>
          <a:prstGeom prst="rect">
            <a:avLst/>
          </a:prstGeom>
          <a:noFill/>
          <a:ln/>
        </p:spPr>
        <p:txBody>
          <a:bodyPr wrap="square" lIns="0" tIns="0" rIns="0" bIns="0" rtlCol="0" anchor="t"/>
          <a:lstStyle/>
          <a:p>
            <a:pPr indent="0" marL="0">
              <a:buNone/>
            </a:pPr>
            <a:r>
              <a:rPr lang="en-US" sz="1050" dirty="0">
                <a:solidFill>
                  <a:srgbClr val="1E2A30"/>
                </a:solidFill>
                <a:latin typeface="Meiryo" pitchFamily="34" charset="0"/>
                <a:ea typeface="Meiryo" pitchFamily="34" charset="-122"/>
                <a:cs typeface="Meiryo" pitchFamily="34" charset="-120"/>
              </a:rPr>
              <a:t>想定外の言い回しへの対応を強化（生成AIを組み込む準備は済み、品質の確認はこれから）</a:t>
            </a:r>
            <a:endParaRPr lang="en-US" sz="1050" dirty="0"/>
          </a:p>
        </p:txBody>
      </p:sp>
      <p:pic>
        <p:nvPicPr>
          <p:cNvPr id="28" name="Image 6" descr="preencoded.png">    </p:cNvPr>
          <p:cNvPicPr>
            <a:picLocks noChangeAspect="1"/>
          </p:cNvPicPr>
          <p:nvPr/>
        </p:nvPicPr>
        <p:blipFill>
          <a:blip r:embed="rId7"/>
          <a:stretch>
            <a:fillRect/>
          </a:stretch>
        </p:blipFill>
        <p:spPr>
          <a:xfrm>
            <a:off x="4846320" y="3584448"/>
            <a:ext cx="201168" cy="201168"/>
          </a:xfrm>
          <a:prstGeom prst="rect">
            <a:avLst/>
          </a:prstGeom>
        </p:spPr>
      </p:pic>
      <p:sp>
        <p:nvSpPr>
          <p:cNvPr id="29" name="Text 20"/>
          <p:cNvSpPr txBox="1"/>
          <p:nvPr/>
        </p:nvSpPr>
        <p:spPr>
          <a:xfrm>
            <a:off x="5166360" y="3529584"/>
            <a:ext cx="3383280" cy="502920"/>
          </a:xfrm>
          <a:prstGeom prst="rect">
            <a:avLst/>
          </a:prstGeom>
          <a:noFill/>
          <a:ln/>
        </p:spPr>
        <p:txBody>
          <a:bodyPr wrap="square" lIns="0" tIns="0" rIns="0" bIns="0" rtlCol="0" anchor="t"/>
          <a:lstStyle/>
          <a:p>
            <a:pPr indent="0" marL="0">
              <a:buNone/>
            </a:pPr>
            <a:r>
              <a:rPr lang="en-US" sz="1050" dirty="0">
                <a:solidFill>
                  <a:srgbClr val="1E2A30"/>
                </a:solidFill>
                <a:latin typeface="Meiryo" pitchFamily="34" charset="0"/>
                <a:ea typeface="Meiryo" pitchFamily="34" charset="-122"/>
                <a:cs typeface="Meiryo" pitchFamily="34" charset="-120"/>
              </a:rPr>
              <a:t>通話の記録を顧客管理の仕組みへ送る（いまはブラウザの中だけに保存）</a:t>
            </a:r>
            <a:endParaRPr lang="en-US" sz="1050" dirty="0"/>
          </a:p>
        </p:txBody>
      </p:sp>
      <p:pic>
        <p:nvPicPr>
          <p:cNvPr id="30" name="Image 7" descr="preencoded.png">    </p:cNvPr>
          <p:cNvPicPr>
            <a:picLocks noChangeAspect="1"/>
          </p:cNvPicPr>
          <p:nvPr/>
        </p:nvPicPr>
        <p:blipFill>
          <a:blip r:embed="rId8"/>
          <a:stretch>
            <a:fillRect/>
          </a:stretch>
        </p:blipFill>
        <p:spPr>
          <a:xfrm>
            <a:off x="4846320" y="4114800"/>
            <a:ext cx="201168" cy="201168"/>
          </a:xfrm>
          <a:prstGeom prst="rect">
            <a:avLst/>
          </a:prstGeom>
        </p:spPr>
      </p:pic>
      <p:sp>
        <p:nvSpPr>
          <p:cNvPr id="31" name="Text 21"/>
          <p:cNvSpPr txBox="1"/>
          <p:nvPr/>
        </p:nvSpPr>
        <p:spPr>
          <a:xfrm>
            <a:off x="5166360" y="4059936"/>
            <a:ext cx="3383280" cy="502920"/>
          </a:xfrm>
          <a:prstGeom prst="rect">
            <a:avLst/>
          </a:prstGeom>
          <a:noFill/>
          <a:ln/>
        </p:spPr>
        <p:txBody>
          <a:bodyPr wrap="square" lIns="0" tIns="0" rIns="0" bIns="0" rtlCol="0" anchor="t"/>
          <a:lstStyle/>
          <a:p>
            <a:pPr indent="0" marL="0">
              <a:buNone/>
            </a:pPr>
            <a:r>
              <a:rPr lang="en-US" sz="1050" dirty="0">
                <a:solidFill>
                  <a:srgbClr val="1E2A30"/>
                </a:solidFill>
                <a:latin typeface="Meiryo" pitchFamily="34" charset="0"/>
                <a:ea typeface="Meiryo" pitchFamily="34" charset="-122"/>
                <a:cs typeface="Meiryo" pitchFamily="34" charset="-120"/>
              </a:rPr>
              <a:t>かけ直し・日程変更の電話、資料送付後のフォロー</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2F36"/>
        </a:solidFill>
      </p:bgPr>
    </p:bg>
    <p:spTree>
      <p:nvGrpSpPr>
        <p:cNvPr id="1" name=""/>
        <p:cNvGrpSpPr/>
        <p:nvPr/>
      </p:nvGrpSpPr>
      <p:grpSpPr>
        <a:xfrm>
          <a:off x="0" y="0"/>
          <a:ext cx="0" cy="0"/>
          <a:chOff x="0" y="0"/>
          <a:chExt cx="0" cy="0"/>
        </a:xfrm>
      </p:grpSpPr>
      <p:sp>
        <p:nvSpPr>
          <p:cNvPr id="2" name="Text 0"/>
          <p:cNvSpPr txBox="1"/>
          <p:nvPr/>
        </p:nvSpPr>
        <p:spPr>
          <a:xfrm>
            <a:off x="731520" y="548640"/>
            <a:ext cx="7315200" cy="548640"/>
          </a:xfrm>
          <a:prstGeom prst="rect">
            <a:avLst/>
          </a:prstGeom>
          <a:noFill/>
          <a:ln/>
        </p:spPr>
        <p:txBody>
          <a:bodyPr wrap="square" lIns="0" tIns="0" rIns="0" bIns="0" rtlCol="0" anchor="t"/>
          <a:lstStyle/>
          <a:p>
            <a:pPr indent="0" marL="0">
              <a:buNone/>
            </a:pPr>
            <a:r>
              <a:rPr lang="en-US" sz="2800" b="1" dirty="0">
                <a:solidFill>
                  <a:srgbClr val="FFFFFF"/>
                </a:solidFill>
                <a:latin typeface="Meiryo" pitchFamily="34" charset="0"/>
                <a:ea typeface="Meiryo" pitchFamily="34" charset="-122"/>
                <a:cs typeface="Meiryo" pitchFamily="34" charset="-120"/>
              </a:rPr>
              <a:t>まとめ</a:t>
            </a:r>
            <a:endParaRPr lang="en-US" sz="2800" dirty="0"/>
          </a:p>
        </p:txBody>
      </p:sp>
      <p:sp>
        <p:nvSpPr>
          <p:cNvPr id="3" name="Shape 1"/>
          <p:cNvSpPr/>
          <p:nvPr/>
        </p:nvSpPr>
        <p:spPr>
          <a:xfrm>
            <a:off x="731520" y="1490472"/>
            <a:ext cx="530352" cy="530352"/>
          </a:xfrm>
          <a:prstGeom prst="ellipse">
            <a:avLst/>
          </a:prstGeom>
          <a:solidFill>
            <a:srgbClr val="D98A1E"/>
          </a:solidFill>
          <a:ln w="19050">
            <a:solidFill>
              <a:srgbClr val="FFFFFF"/>
            </a:solidFill>
            <a:prstDash val="solid"/>
          </a:ln>
        </p:spPr>
      </p:sp>
      <p:sp>
        <p:nvSpPr>
          <p:cNvPr id="4" name="Text 2"/>
          <p:cNvSpPr txBox="1"/>
          <p:nvPr/>
        </p:nvSpPr>
        <p:spPr>
          <a:xfrm>
            <a:off x="731520" y="1490472"/>
            <a:ext cx="53035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1</a:t>
            </a:r>
            <a:endParaRPr lang="en-US" sz="1800" dirty="0"/>
          </a:p>
        </p:txBody>
      </p:sp>
      <p:sp>
        <p:nvSpPr>
          <p:cNvPr id="5" name="Text 3"/>
          <p:cNvSpPr txBox="1"/>
          <p:nvPr/>
        </p:nvSpPr>
        <p:spPr>
          <a:xfrm>
            <a:off x="1508760" y="1417320"/>
            <a:ext cx="7132320" cy="685800"/>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AI が、最初の電話から商談の予約までを担当します</a:t>
            </a:r>
            <a:endParaRPr lang="en-US" sz="1800" dirty="0"/>
          </a:p>
        </p:txBody>
      </p:sp>
      <p:sp>
        <p:nvSpPr>
          <p:cNvPr id="6" name="Shape 4"/>
          <p:cNvSpPr/>
          <p:nvPr/>
        </p:nvSpPr>
        <p:spPr>
          <a:xfrm>
            <a:off x="731520" y="2359152"/>
            <a:ext cx="530352" cy="530352"/>
          </a:xfrm>
          <a:prstGeom prst="ellipse">
            <a:avLst/>
          </a:prstGeom>
          <a:solidFill>
            <a:srgbClr val="D98A1E"/>
          </a:solidFill>
          <a:ln w="19050">
            <a:solidFill>
              <a:srgbClr val="FFFFFF"/>
            </a:solidFill>
            <a:prstDash val="solid"/>
          </a:ln>
        </p:spPr>
      </p:sp>
      <p:sp>
        <p:nvSpPr>
          <p:cNvPr id="7" name="Text 5"/>
          <p:cNvSpPr txBox="1"/>
          <p:nvPr/>
        </p:nvSpPr>
        <p:spPr>
          <a:xfrm>
            <a:off x="731520" y="2359152"/>
            <a:ext cx="53035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2</a:t>
            </a:r>
            <a:endParaRPr lang="en-US" sz="1800" dirty="0"/>
          </a:p>
        </p:txBody>
      </p:sp>
      <p:sp>
        <p:nvSpPr>
          <p:cNvPr id="8" name="Text 6"/>
          <p:cNvSpPr txBox="1"/>
          <p:nvPr/>
        </p:nvSpPr>
        <p:spPr>
          <a:xfrm>
            <a:off x="1508760" y="2286000"/>
            <a:ext cx="7132320" cy="685800"/>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断られても切り返し、7つの質問をかならず聞き切ります</a:t>
            </a:r>
            <a:endParaRPr lang="en-US" sz="1800" dirty="0"/>
          </a:p>
        </p:txBody>
      </p:sp>
      <p:sp>
        <p:nvSpPr>
          <p:cNvPr id="9" name="Shape 7"/>
          <p:cNvSpPr/>
          <p:nvPr/>
        </p:nvSpPr>
        <p:spPr>
          <a:xfrm>
            <a:off x="731520" y="3227832"/>
            <a:ext cx="530352" cy="530352"/>
          </a:xfrm>
          <a:prstGeom prst="ellipse">
            <a:avLst/>
          </a:prstGeom>
          <a:solidFill>
            <a:srgbClr val="D98A1E"/>
          </a:solidFill>
          <a:ln w="19050">
            <a:solidFill>
              <a:srgbClr val="FFFFFF"/>
            </a:solidFill>
            <a:prstDash val="solid"/>
          </a:ln>
        </p:spPr>
      </p:sp>
      <p:sp>
        <p:nvSpPr>
          <p:cNvPr id="10" name="Text 8"/>
          <p:cNvSpPr txBox="1"/>
          <p:nvPr/>
        </p:nvSpPr>
        <p:spPr>
          <a:xfrm>
            <a:off x="731520" y="3227832"/>
            <a:ext cx="53035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3</a:t>
            </a:r>
            <a:endParaRPr lang="en-US" sz="1800" dirty="0"/>
          </a:p>
        </p:txBody>
      </p:sp>
      <p:sp>
        <p:nvSpPr>
          <p:cNvPr id="11" name="Text 9"/>
          <p:cNvSpPr txBox="1"/>
          <p:nvPr/>
        </p:nvSpPr>
        <p:spPr>
          <a:xfrm>
            <a:off x="1508760" y="3154680"/>
            <a:ext cx="7132320" cy="685800"/>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言ってはいけない表現は、相手に届く前に止めます</a:t>
            </a:r>
            <a:endParaRPr lang="en-US" sz="1800" dirty="0"/>
          </a:p>
        </p:txBody>
      </p:sp>
      <p:sp>
        <p:nvSpPr>
          <p:cNvPr id="12" name="Text 10"/>
          <p:cNvSpPr txBox="1"/>
          <p:nvPr/>
        </p:nvSpPr>
        <p:spPr>
          <a:xfrm>
            <a:off x="731520" y="4114800"/>
            <a:ext cx="7772400" cy="411480"/>
          </a:xfrm>
          <a:prstGeom prst="rect">
            <a:avLst/>
          </a:prstGeom>
          <a:noFill/>
          <a:ln/>
        </p:spPr>
        <p:txBody>
          <a:bodyPr wrap="square" lIns="0" tIns="0" rIns="0" bIns="0" rtlCol="0" anchor="t"/>
          <a:lstStyle/>
          <a:p>
            <a:pPr indent="0" marL="0">
              <a:buNone/>
            </a:pPr>
            <a:r>
              <a:rPr lang="en-US" sz="1500" dirty="0">
                <a:solidFill>
                  <a:srgbClr val="8CC9C4"/>
                </a:solidFill>
                <a:latin typeface="Meiryo" pitchFamily="34" charset="0"/>
                <a:ea typeface="Meiryo" pitchFamily="34" charset="-122"/>
                <a:cs typeface="Meiryo" pitchFamily="34" charset="-120"/>
              </a:rPr>
              <a:t>人は、商談という一番大切な場面に集中できます。</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電話でアポを取る AI のしくみ</dc:title>
  <dc:subject>PptxGenJS Presentation</dc:subject>
  <dc:creator>PptxGenJS</dc:creator>
  <cp:lastModifiedBy>PptxGenJS</cp:lastModifiedBy>
  <cp:revision>1</cp:revision>
  <dcterms:created xsi:type="dcterms:W3CDTF">2026-09-11T10:04:31Z</dcterms:created>
  <dcterms:modified xsi:type="dcterms:W3CDTF">2026-09-11T10:04:31Z</dcterms:modified>
</cp:coreProperties>
</file>